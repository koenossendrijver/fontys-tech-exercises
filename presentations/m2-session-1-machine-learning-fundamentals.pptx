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what they already know: in M1 they answered 'what happened' with charts a person reads. Machine learning answers a new question - 'what will happen to a NEW case' - and the answer is something a program can act on. Same data, different question. Ask the class: the app that predicts when your bus arrives - which of the two rows is it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them: this module is one rung up, not a new ladder. They already climbed the first two rungs in M1, and those skills stay in daily use. Point at each rung and say its question out loud - what happened, why, what will happen, what should we do. Ask the class: where on this ladder does a weather forecast sit?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ways to get rules into a computer: write them yourself, or show labeled examples and let the algorithm find the rules. Spam is the perfect story - a hand-written rule list never ends, spammers adapt faster than you type. Ask the class: what would YOUR three spam rules be, and how would a spammer dodge each one within a week?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families differ only in what the data hands you: the right answers (supervised), no answers (unsupervised), or only consequences after acting (reinforcement). Everything in this module is supervised - our passengers come with the answer attached: survived or not. Ask the class: grouping customers into types nobody named in advance - which family is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physical: X is every column that describes a passenger, y is the one column we want to predict. Category out means classification, number out means regression - that is the whole distinction. Ask the class: same table, but now predict the Fare a passenger paid - classification or regression?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concrete: class, sex and age really did shape survival - that is the pattern, and it is learnable. Two identical passengers could still meet different fates in the chaos - that is the luck, and nothing predicts a coin flip. Only then give the symbols: Y = f(X) + epsilon. Walk the bar: full height is all the error; blue shrinks with better features or models, the grey floor never moves. Ask the class: why would a model claiming 100% accuracy on survival be suspicious?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dog photos: after ten photos of dogs you recognize an eleventh you have never seen - that is all learning is. It works only because tomorrow resembles yesterday; that assumption is the bridge, not a proof. Ask the class: give me a case where tomorrow does NOT resemble yesterday - would a model trained on the past still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one-liner: you decide the shape of the answer - a line or a curve - and training only finds the best rule of that shape. Point at the faint lines: those are the candidates the family allows; the bold one is what the search returns. Ask the class: if the true pattern is a curve and you only allow straight lines, can training ever fix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reusable slide of the module: every learner they will ever meet is a menu of candidate rules, a scorecard for wrongness, and a search for the best-scoring rule. Walk the worked filling underneath: logistic regression is just one way to fill the three slots. Ask the class: which slot did the previous slide - the hypothesis class - cover?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picture before the idea: each dot is a passenger, the blue line is one candidate rule, and every thin vertical line is one miss. J is just the average miss - one number per rule: bad rule big J, decent rule smaller, best rule smallest. Then panel four: training hunts the smallest J by walking downhill in fog - feel the slope, step where it drops fastest, repeat; each dot is one step. Ask the class: what goes wrong if your downhill steps are huge?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dataset feel small and human: 891 rows, one per passenger, 12 columns. The chart just counts the answer column - each bar is one outcome, longer bar = more people: 549 died, 342 survived. Flag the gaps now (Age 177, Cabin 687) - Session 2 fixes them. Ask the class: is 62/38 unbalanced enough to worry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boxes left to right - prepare, train, evaluate, improve - then stop on the long arrow underneath: evaluation usually sends you BACK to preparation, not forward. The only exit is up, to ship, when the honest score is good enough. Map each box to a session so the module feels like one walk around this loop. Ask the class: why does the arrow back go to preparation and not to training?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module's exam metaphor - use it every session: the test set is the final exam, and you sit it exactly once. Leakage is any way the exam answers sneak into the study notes - even an average computed over all rows counts. Tell the KDD story slowly: the patient ID gave away the hospital, and the hospital gave away the diagnosis. Ask the class: why does a suspiciously good feature deserve suspicion first?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model that ignores everything and always answers 'died' is right 61.7% of the time, simply because most passengers died. That is the floor: any real model must clearly beat it, or it has learned nothing. Ask the class: why is 62% accuracy on this dataset nothing to celebrate?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From Analytics to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On the night of 14-15 April 1912 the Titanic went down; 549 of the 891 passengers on our manifest died. One question for four sessions: could the data have told us who lives? First the ideas, then the manifest.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what learning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Ideas before code: what a machine actually does when it learns, and why the leap to unseen cases can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Descriptive analytics reads the past - machine learning answers about the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572" y="1874519"/>
            <a:ext cx="895037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How to read it: each row runs left to right - question, input, output, Titanic example. Top row = M1 (describing). Bottom row = M2 (predicting). M1's own closing line: describing is not predicting.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ANALYTICS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Prediction is the next rung on a ladder you are already halfway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Rungs 1-2 are M1: what happened, and why - your groupbys and crosstabs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 3 is this module: what will happen to a NEW, unseen case?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 4, prescriptive: what should we do? It needs a trusted model first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M1 skills stay in daily use: 80% of the work is still cleaning and describing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climb here: S1 ideas and honest splits; S2 features; S3 the model tournament; S4 tune and ship</a:t>
            </a:r>
          </a:p>
        </p:txBody>
      </p:sp>
      <p:pic>
        <p:nvPicPr>
          <p:cNvPr id="8" name="Picture 7" descr="ladde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795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Statistics asks 'does the model explain?' - ML asks 'does the prediction hold up?' (MIT 6.390, Intro chapter). Ng, Harvard CS109A and MIT 6.390 all climb this same ladder.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WHAT ML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ML learns the rules from examples instead of being told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Classic programming: a human writes the rules by hand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spam rule list - block 'winner', block ALL CAPS, block unknown senders - never ends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Spammers adapt faster than you can type new rules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Machine learning: you show labeled examples - the algorithm finds the rules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Arthur Samuel: the "field of study that gives computers the ability to learn without being explicitly programmed"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His 1950s checkers program beat its own programmer after tens of thousands of self-played games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It is already in your day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Recommendations predict your next pick; map arrival times predict a trip nobody has driven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Our data, same move: 891 passengers with known outcomes in - a pattern that predicts new ones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A model = a function with adjustable knobs (its parameters)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Training = turning the knobs until predictions match the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Samuel's phrase, quoted by Ng - Machine Learning Specialization C1W1.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TYPES OF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Machines learn in three ways - this module lives in the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Supervised learning: the examples include the right answer (the label)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spam filter learns from mail already marked spam or not spam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Ours: 891 passengers, each labeled Survived - 1 or 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Unsupervised learning: no labels - find the structure yourself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Grouping shoppers into segments nobody named in advance: there is no right answer in the data to copy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Reinforcement learning: no examples at all - act, get rewarded or penalized, improve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Samuel's checkers program improving through wins and losses in self-play is the classic seed of the idea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families differ in what the data gives you: answers, no answers, or only consequences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This module is supervised classification end to end - the other two families are a later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Supervised learning comes first because it covers most ML used in industry today - Ng, Machine Learning Specialization C1W1.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supervised problem is a table: features X in, target y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Features X =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columns that describe each passenger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Age, Sex, Pclass (ticket class), Fare, SibSp (siblings + spouse aboard), Parch (parents + children aboard), Embarked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code: X = everything except the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Books also say predictors or covariates - different words, same idea: the input columns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Target y = the answer to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column: Survived, 1 or 0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category -&gt; classification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number -&gt; regression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Survived is a category, so this module is a classification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Same table, different y: predicting the Fare a passenger paid would make this a regression problem instead. Vocabulary: Harvard CS109A / ISLR ch.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HIDDEN RULE AND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outcome is a hidden rule plus noise - only the rule part is learnable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 the Titanic: class, sex and age shaped survival - that is the pattern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identical passengers could still meet different fates - that is the luck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symbols, Y = f(X) + ε: outcome = pattern (f) plus luck (ε, epsilon)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the bar: its full height is all the error a model makes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blue part (reducible) shrinks: better features, models or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grey floor (irreducible noise) never shrinks - why 100% accuracy is never the goal</a:t>
            </a:r>
          </a:p>
        </p:txBody>
      </p:sp>
      <p:pic>
        <p:nvPicPr>
          <p:cNvPr id="8" name="Picture 7" descr="s1_error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545" y="1874519"/>
            <a:ext cx="5726429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 illustration - no course numbers on this chart.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INDUCTION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Learning is a leap from a few examples to cases never seen - one assumption makes it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After 10 dog photos you recognize an 11th dog you never saw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leap is called induction - every learner makes it: few examples in, unseen cases answered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Nothing guarantees the future resembles the past - the leap rests on one assumption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assumption (called i.i.d.): new data looks like old - no assumption, no leap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 splits the job in two: estimation - see through the noise; generalization - answer for inputs never seen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2 builds this exact leap: 712 passengers teach a rule; 179 unseen ones judge it</a:t>
            </a:r>
          </a:p>
        </p:txBody>
      </p:sp>
      <p:pic>
        <p:nvPicPr>
          <p:cNvPr id="8" name="Picture 7" descr="s1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674" y="1874519"/>
            <a:ext cx="627017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 ('the problem of induction').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HYPOTHESIS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choose the space of candidate rules - the algorithm only finds its best member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 pick the shape of the answer first: a line? a curve? - before touching any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menu of shapes is the hypothesis class; one hypothesis = one rule, numbers filled in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Learning is a search: the algorithm scans the family and returns the member that fits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design call is yours; only the search inside it is the algorithm's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roomier family (curves) hugs the pattern better - and hugs the noise too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split: choosing the class is your job; fitting the member is training's job</a:t>
            </a:r>
          </a:p>
        </p:txBody>
      </p:sp>
      <p:pic>
        <p:nvPicPr>
          <p:cNvPr id="8" name="Picture 7" descr="s1_hypo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551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THREE-SLOT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learner you will meet is the same recipe: candidate rules + a score + a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top row = the three slots; bottom lane = one worked filling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1, the model: the hypothesis class you just met - your call, made before any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2, the loss: how bad is each wrong answer? Simplest scorecard: just count mistakes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3, the optimizer: the search that finds the family member with the best score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ML method = a different filling of the same slots; Session 3 refills slot 1 six times</a:t>
            </a:r>
          </a:p>
        </p:txBody>
      </p:sp>
      <p:pic>
        <p:nvPicPr>
          <p:cNvPr id="8" name="Picture 7" descr="s1_recipe_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28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recipe, every method in this module. MIT 6.390, Intro chapter &amp; Appendix C 'Supervised learning in a nutshell'.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HOW TRAINING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is nothing mystical: make one number - the average miss -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dots = passengers, blue line = a candidate rule, thin verticals = its misses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cost J = the average miss over all 891 examples - one number per rule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= the search for the rule with the smallest J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search walks downhill in fog: nudge each knob the way that lowers J fastest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size matters: too small crawls, too large overshoots the valley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same downhill walk trains Session 3's scorecard - no magic anywhere in this module</a:t>
            </a:r>
          </a:p>
        </p:txBody>
      </p:sp>
      <p:pic>
        <p:nvPicPr>
          <p:cNvPr id="8" name="Picture 7" descr="s1_cost_downh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30" y="1874519"/>
            <a:ext cx="558306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data; illustrative J values, not course results. Method: Ng, Machine Learning Specialization C1 / Stanford CS229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the Titanic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ideas land on 891 real passengers: one dataset, one honest split, and a floor every model must beat.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dataset carries every concept: 891 passengers, 38.4% survived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891 rows x 12 columns - small enough to read, real enough to be messy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549 died, 342 survived: imbalanced (far from 50/50), but not extremely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Missing values are real: Age 177, Cabin 687, Embarked 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worked example carrying every new concept is Andrew Ng's teaching pattern - we reuse the Titanic the same way</a:t>
            </a:r>
          </a:p>
        </p:txBody>
      </p:sp>
      <p:pic>
        <p:nvPicPr>
          <p:cNvPr id="8" name="Picture 7" descr="fig1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792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Survived column of the full dataset, before any split. Source: Module 2, notebook 01, section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real rows put faces on the data - they return every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5763"/>
                <a:gridCol w="753138"/>
                <a:gridCol w="684671"/>
                <a:gridCol w="1437809"/>
                <a:gridCol w="1027006"/>
                <a:gridCol w="1369342"/>
                <a:gridCol w="11639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 (as listed)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Family aboard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Boarded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Braund, Mr. Owen Harris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Cumings, Mrs. John Bradley (Florence Briggs Thayer)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71.2833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Cherbourg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Goldsmith, Master. Frank John William "Frankie"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 (Parch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PassengerId 1, 2 and 166 of the dataset, fields verbatim. Owen, Florence and Frankie carry the whole module: their gaps in Session 2, their odds in Sessions 3-4.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Not every column becomes a feature - identifiers and free text sit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297"/>
                <a:gridCol w="1718428"/>
                <a:gridCol w="56239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Column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Pclass, Sex, Fare, SibSp, Parch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or clean categories, nearly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177 missing (19.9%) - we will impute, not 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Only 2 missing (0.2%)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Cabin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687 missing (77.1%) - mostly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Drop,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Free text - Session 2 mines a Title feature from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Ticket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Arbitrary codes with no consistent meaning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PassengerId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An identifier - a row number predicts nothing about survival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identifiers out, mostly-missing columns out, free text out until you can engineer something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ML workflow is a loop, not a line - you will walk it all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Prepare: split, clean, encode, scale (Sessions 1-2) - you start it today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Train: fit models on the training set only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Evaluate: score on data the model has never seen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Improve, then ship: tune, engineer, deploy (Session 4)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long arrow back is the point: evaluation sends you to preparation more often than forward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Harvard's version has five stages - ask, get, explore, model, communicate; modeling is one box of five</a:t>
            </a:r>
          </a:p>
        </p:txBody>
      </p:sp>
      <p:pic>
        <p:nvPicPr>
          <p:cNvPr id="8" name="Picture 7" descr="s1_workflow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09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Harvard CS109A teaches the same shape: one workflow revisited all semester on messy real data. Source: Harvard CS109A, Lecture 1 (the data science process).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GOLDEN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Split before you prepare - even an innocent average can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80/20 split first: 712 training rows, 179 test rows (seed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 set is the final exam - you sit it exactly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Data leakage = exam answers sneaking into your study notes; the score then proves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Even 'fill missing ages with the average' leaks, if that average was computed over all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stratify=y - in plain words: keep the survivor share equal in both halves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Leakage bites pros: KDD Cup 2008 - 'Patient ID' predicted cancer because the ID encoded the hospital, not the tumor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feature that works suspiciously well deserves suspicion, not celebration</a:t>
            </a:r>
          </a:p>
        </p:txBody>
      </p:sp>
      <p:pic>
        <p:nvPicPr>
          <p:cNvPr id="8" name="Picture 7" descr="s1_split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0866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split and the preserved survivor share. Source: Module 2, notebook 01, section 3. Leakage story: Kaufman, Rosset &amp; Perlich, 'Leakage in Data Mining', KDD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HONEST EVALUATION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this module, 'good' means a number - and the floor is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Accuracy of a model that always predicts 'died' - the baseline floor every real model must beat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Dummy classifier, scored honestly by 5-fold cross-validation on the training set (Session 3 explains this referee). Source: Module 2, notebook 02. Beating the floor is the entry ticket, not the goal. Accuracy is 0-1 loss in disguise - the recipe's simplest loss slot (MIT 6.390, Intro chapter).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You now predict, not describe - and every claim gets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ideas: ML learns rules from labeled examples, then leaps to unseen cases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One assumption allows the leap: new data looks like old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You choose the hypothesis class; every learner = model + loss + optimizer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Training = making one number, the cost J, small; and Y = f(X) + ε - we never beat the noise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manifest: 891 passengers, split first - 712 train / 179 test, stratified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test set is the exam you take once; every claim gets a number, and the floor is 0.617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now, zero setup: notebook 01 in Colab (badge click), Runtime &gt; Run all, sections 1-3 - try the exercises before the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1 - Machine Learning Fundamentals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