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400" b="1">
                <a:solidFill>
                  <a:srgbClr val="1E5EF3"/>
                </a:solidFill>
                <a:latin typeface="Arial"/>
              </a:rPr>
              <a:t>SESSION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4400" b="1">
                <a:solidFill>
                  <a:srgbClr val="0A2540"/>
                </a:solidFill>
                <a:latin typeface="Arial"/>
              </a:rPr>
              <a:t>From Analytics to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800" b="0">
                <a:solidFill>
                  <a:srgbClr val="5B6774"/>
                </a:solidFill>
                <a:latin typeface="Arial"/>
              </a:rPr>
              <a:t>On the night of 14-15 April 1912 the Titanic went down; 549 of the 891 passengers on our manifest died. One question for four sessions: could the data have told us who lives?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5B6774"/>
                </a:solidFill>
                <a:latin typeface="Arial"/>
              </a:rPr>
              <a:t>Machine Learning - Module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BRIDGE FROM 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Descriptive analytics reads the past - machine learning answers about the future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ero_da_vs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572" y="1874519"/>
            <a:ext cx="8950375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54480" y="6062471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M1 drew the line itself: describing is not predicting - 'we stop here.' M2 starts exactly there, on the same 891 passengers.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ANALYTICS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Prediction is the next rung on a ladder you are already halfway up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Descriptive and diagnostic: M1. You told what happened and dug into why - groupbys, crosstabs, correlations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Predictive: M2, this module. What will happen to a new, unseen case?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Prescriptive sits on top: what should we do - decisions built on predictions you can trust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Your M1 skills stay load-bearing: 80% of the daily job is still cleaning and describing data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climb, session by session: S1 what ML is and honest splits; S2 features; S3 the model tournament; S4 tune and ship</a:t>
            </a:r>
          </a:p>
        </p:txBody>
      </p:sp>
      <p:pic>
        <p:nvPicPr>
          <p:cNvPr id="8" name="Picture 7" descr="ladder_analy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4795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MIT draws the same line by goal, not tools: statistics asks 'does the model explain?' - ML asks 'does the prediction hold up?' (MIT 6.390, Intro chapter). Reference points: Ng, Harvard CS109A and MIT 6.390 climb this ladder.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WHAT ML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ML learns the rules from examples instead of being told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Classic programming: a human writes the rules by hand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 hand-written spam rule list - block 'winner', block ALL CAPS, block unknown senders - never ends, and spammers adapt faster than you can type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Machine learning: you show labeled examples, the algorithm finds the rules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Arthur Samuel called it the "field of study that gives computers the ability to learn without being explicitly programmed" - his 1950s checkers program beat its own programmer after tens of thousands of self-played games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It is already in your day</a:t>
            </a:r>
          </a:p>
          <a:p>
            <a:pPr algn="l" lvl="1" indent="-228600" marL="514350">
              <a:spcAft>
                <a:spcPts val="600"/>
              </a:spcAft>
              <a:buClr>
                <a:srgbClr val="1E5EF3"/>
              </a:buClr>
              <a:buChar char="·"/>
            </a:pPr>
            <a:r>
              <a:rPr sz="1350" b="0">
                <a:solidFill>
                  <a:srgbClr val="5B6774"/>
                </a:solidFill>
                <a:latin typeface="Arial"/>
              </a:rPr>
              <a:t>Recommendations predict what you will want next; map arrival times predict a trip nobody has driven in exactly these conditions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The same move on our data: 891 passengers with known outcomes go in; a pattern that predicts new passengers comes out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Supervised learning = learning from examples that include the right answer (the label) - ours: Survived, 1 or 0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202B38"/>
                </a:solidFill>
                <a:latin typeface="Arial"/>
              </a:rPr>
              <a:t>A model is a function with adjustable knobs (parameters); training turns the knobs until predictions match the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Beyond supervised: unsupervised finds structure without labels, reinforcement learns from rewards - this module is supervised classification end to end. Samuel's phrase, quoted by Ng - Machine Learning Specialization C1W1.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supervised problem is a table: features X in, target y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Features X = the 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The columns that describe each passenger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Age, Sex, Pclass, Fare, SibSp, Parch, Embarked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In code: X = everything except the answer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Also called predictors or covariates - the whole table is n observations x p predictors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874519"/>
            <a:ext cx="5394960" cy="3977639"/>
          </a:xfrm>
          <a:prstGeom prst="rect">
            <a:avLst/>
          </a:prstGeom>
          <a:solidFill>
            <a:srgbClr val="EE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039111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500" b="1">
                <a:solidFill>
                  <a:srgbClr val="0A2540"/>
                </a:solidFill>
                <a:latin typeface="Arial"/>
              </a:rPr>
              <a:t>Target y = the answer to 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441447"/>
            <a:ext cx="4937760" cy="3246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One column: Survived, 1 or 0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category -&gt; classification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Predicting a number -&gt; regression</a:t>
            </a:r>
          </a:p>
          <a:p>
            <a:pPr algn="l" indent="-228600" marL="228600">
              <a:spcAft>
                <a:spcPts val="600"/>
              </a:spcAft>
              <a:buClr>
                <a:srgbClr val="1E5EF3"/>
              </a:buClr>
              <a:buChar char="—"/>
            </a:pPr>
            <a:r>
              <a:rPr sz="1300" b="0">
                <a:solidFill>
                  <a:srgbClr val="202B38"/>
                </a:solidFill>
                <a:latin typeface="Arial"/>
              </a:rPr>
              <a:t>Survived is a category, so this module is a classification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Same table, different y: predicting the Fare a passenger paid would make this a regression problem instead. Vocabulary: Harvard CS109A / ISLR ch. 2.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HIDDEN RULE AND THE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outcome is a hidden rule plus noise - only the rule part is learnable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outcome is a hidden rule plus noise: Y = f(X) + ε. Learning estimates the rule; nothing can predict the noise. Error you can shrink is reducible; the noise floor is irreducible.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 the Titanic: survival = some true, unknown rule of class, sex, age... plus randomness no manifest records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model is an estimate f-hat of the hidden rule - learning = estimating f from noisy samples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Better features, models, or data shrink reducible error; ε - chaos on a sinking ship - yields to no model, however perfect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This is why 100% accuracy is not the goal and never will be - Session 3 pays this off</a:t>
            </a:r>
          </a:p>
        </p:txBody>
      </p:sp>
      <p:pic>
        <p:nvPicPr>
          <p:cNvPr id="8" name="Picture 7" descr="s1_error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545" y="1874519"/>
            <a:ext cx="5726429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Schematic illustration - no course numbers on this chart. Harvard CS109A / ISLR ch.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THREE-SLOT RECIPE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Every learner you will meet is the same recipe: candidate rules + a score + a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supervised learner is the same three-slot recipe: a set of candidate rules (the model), a score for how wrong a prediction is (the loss), and a search that finds the best-scoring rule (the optimizer).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Choosing the family of candidate rules is YOUR call, made before any data is touched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Different ML methods = different fillings of the same three slots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Session 3 refills slot 1 six times; Session 4 tunes the knobs around the recipe</a:t>
            </a:r>
          </a:p>
        </p:txBody>
      </p:sp>
      <p:pic>
        <p:nvPicPr>
          <p:cNvPr id="8" name="Picture 7" descr="s1_recipe_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2928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One recipe, every method in this module. MIT 6.390, Intro chapter &amp; Appendix C 'Supervised learning in a nutshell'.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HOW TRAINING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Training is nothing mystical: make one number - the average miss -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Every candidate rule makes errors on the 891 labeled examples; average them into one number J - the cost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J scores how badly a rule fits ALL the data at once - training = searching for the rule with the smallest J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search walks downhill: from any starting guess, nudge the knobs in the direction that lowers J fastest - a hillside descent in fog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Step size matters: too small crawls, too large overshoots the valley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The same downhill walk trains Session 3's scorecard - no magic anywhere in this module</a:t>
            </a:r>
          </a:p>
        </p:txBody>
      </p:sp>
      <p:pic>
        <p:nvPicPr>
          <p:cNvPr id="8" name="Picture 7" descr="s1_cost_downh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230" y="1874519"/>
            <a:ext cx="558306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Illustration - synthetic data; illustrative J values, not course results. Method: Ng, Machine Learning Specialization C1 / Stanford CS229 notes.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One dataset carries every concept: 891 passengers, 38.4% survived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891 rows x 12 columns - small enough to read, real enough to be messy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549 died, 342 survived: imbalanced, but not extremely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Missing values are real: Age 177, Cabin 687, Embarked 2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One worked example carrying every new concept is Andrew Ng's teaching pattern - we reuse the Titanic the same way</a:t>
            </a:r>
          </a:p>
        </p:txBody>
      </p:sp>
      <p:pic>
        <p:nvPicPr>
          <p:cNvPr id="8" name="Picture 7" descr="fig1_target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792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Class balance in the full dataset. Source: Module 2, notebook 01, section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MANIFEST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Three real rows put faces on the data - they return every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6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55763"/>
                <a:gridCol w="753138"/>
                <a:gridCol w="684671"/>
                <a:gridCol w="1437809"/>
                <a:gridCol w="1027006"/>
                <a:gridCol w="1369342"/>
                <a:gridCol w="116394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Passenger (as listed)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Family aboard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Fare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Boarded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Braund, Mr. Owen Harris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Cumings, Mrs. John Bradley (Florence Briggs Thayer)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1st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 (SibSp 1)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71.2833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Cherbourg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Goldsmith, Master. Frank John William "Frankie"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3rd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 (Parch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20.525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Southampton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Survived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PassengerId 1, 2 and 166 of the dataset, fields verbatim. Owen, Florence and Frankie carry the whole module: their gaps in Session 2, their odds in Sessions 3-4.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FEATURE VERDICT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Not every column becomes a feature - identifiers and free text sit 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74519"/>
          <a:ext cx="11091671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297"/>
                <a:gridCol w="1718428"/>
                <a:gridCol w="5623946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Column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Verdict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Pclass, Sex, Fare, SibSp, Parch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Numbers or clean categories, nearly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Age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177 missing (19.9%) - we will impute, not 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Embarked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Feature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Only 2 missing (0.2%)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Cabin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687 missing (77.1%) - mostly gaps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Drop, for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Free text - Session 2 mines a Title feature from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Ticket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Arbitrary codes with no consistent meaning</a:t>
                      </a:r>
                    </a:p>
                  </a:txBody>
                  <a:tcPr>
                    <a:solidFill>
                      <a:srgbClr val="EEF3F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PassengerId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sz="1250" b="0">
                          <a:solidFill>
                            <a:srgbClr val="202B38"/>
                          </a:solidFill>
                          <a:latin typeface="Arial"/>
                        </a:rPr>
                        <a:t>An identifier - a row number predicts nothing about survival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1E5EF3"/>
                </a:solidFill>
                <a:latin typeface="Arial"/>
              </a:rPr>
              <a:t>Rule of thumb: identifiers out, mostly-missing columns out, free text out until you can engineer something from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The ML workflow is a loop, not a line - you will walk it all module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Prepare: split, clean, encode, scale (Sessions 1-2)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Train: fit models on the training set only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Evaluate: score on data the model has never seen (Session 3)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Improve, then ship: tune, engineer, deploy (Session 4)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Evaluation sends you back to preparation more often than forward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Harvard teaches it as a five-stage loop - ask, get, explore, model, communicate: modeling is one box of five, and answers routinely send you back a stage</a:t>
            </a:r>
          </a:p>
        </p:txBody>
      </p:sp>
      <p:pic>
        <p:nvPicPr>
          <p:cNvPr id="8" name="Picture 7" descr="s1_workflow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7091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Harvard CS109A teaches the same shape: one workflow revisited all semester on messy real data. Source: Harvard CS109A, Lecture 1 (the data science process).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THE GOLDEN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Split before you prepare - even an innocent average can leak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80/20 split first: 712 training rows, 179 test rows (seed 42)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Data leakage = test-set information sneaking into training - even 'fill missing ages with the average' leaks if that average used all rows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Analogy: the test set is the final exam - seeing the questions while studying inflates your score and proves nothing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stratify=y keeps the survivor share equal in both halves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Leakage bites professionals: KDD Cup 2008 teams found 'Patient ID' predicted breast cancer - the ID encoded which hospital, not the tumor</a:t>
            </a:r>
          </a:p>
          <a:p>
            <a:pPr algn="l" indent="-228600" marL="228600">
              <a:spcAft>
                <a:spcPts val="800"/>
              </a:spcAft>
              <a:buClr>
                <a:srgbClr val="1E5EF3"/>
              </a:buClr>
              <a:buChar char="—"/>
            </a:pPr>
            <a:r>
              <a:rPr sz="1450" b="0">
                <a:solidFill>
                  <a:srgbClr val="202B38"/>
                </a:solidFill>
                <a:latin typeface="Arial"/>
              </a:rPr>
              <a:t>A feature that works suspiciously well deserves suspicion, not celebration</a:t>
            </a:r>
          </a:p>
        </p:txBody>
      </p:sp>
      <p:pic>
        <p:nvPicPr>
          <p:cNvPr id="8" name="Picture 7" descr="s1_split_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874519"/>
            <a:ext cx="6492240" cy="30866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6062471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100" b="0">
                <a:solidFill>
                  <a:srgbClr val="5B6774"/>
                </a:solidFill>
                <a:latin typeface="Arial"/>
              </a:rPr>
              <a:t>The split and the preserved survivor share. Source: Module 2, notebook 01, section 3. Leakage story: Kaufman, Rosset &amp; Perlich, 'Leakage in Data Mining', KDD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457200" cy="54864"/>
          </a:xfrm>
          <a:prstGeom prst="rect">
            <a:avLst/>
          </a:prstGeom>
          <a:solidFill>
            <a:srgbClr val="1E5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100" b="1">
                <a:solidFill>
                  <a:srgbClr val="1E5EF3"/>
                </a:solidFill>
                <a:latin typeface="Arial"/>
              </a:rPr>
              <a:t>HONEST EVALUATION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sz="2600" b="1">
                <a:solidFill>
                  <a:srgbClr val="0A2540"/>
                </a:solidFill>
                <a:latin typeface="Arial"/>
              </a:rPr>
              <a:t>In this module, 'good' means a number - and the floor is 0.617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64208"/>
            <a:ext cx="11091672" cy="12801"/>
          </a:xfrm>
          <a:prstGeom prst="rect">
            <a:avLst/>
          </a:prstGeom>
          <a:solidFill>
            <a:srgbClr val="B9D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86000"/>
            <a:ext cx="9418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9600" b="1">
                <a:solidFill>
                  <a:srgbClr val="1E5EF3"/>
                </a:solidFill>
                <a:latin typeface="Arial"/>
              </a:rPr>
              <a:t>0.617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800" b="0">
                <a:solidFill>
                  <a:srgbClr val="0A2540"/>
                </a:solidFill>
                <a:latin typeface="Arial"/>
              </a:rPr>
              <a:t>Accuracy of a model that always predicts 'died' - the baseline floor every real model must beat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sz="1250" b="0">
                <a:solidFill>
                  <a:srgbClr val="5B6774"/>
                </a:solidFill>
                <a:latin typeface="Arial"/>
              </a:rPr>
              <a:t>Dummy classifier, 5-fold cross-validation on the training set. Source: Module 2, notebook 02. Beating the floor is the entry ticket, not the goal. Accuracy is 0-1 loss in disguise - the simplest filling of the recipe's loss slot (MIT 6.390, Intro chapter).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5B677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3400" b="1">
                <a:solidFill>
                  <a:srgbClr val="FFFFFF"/>
                </a:solidFill>
                <a:latin typeface="Arial"/>
              </a:rPr>
              <a:t>You now predict, not describe - and every claim gets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ML learns rules from labeled examples - features X in, target y out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Y = f(X) + ε: we estimate the hidden rule, we never beat the noise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Every learner = model + loss + optimizer; training = making one number (the cost J) small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Split first: 712 train / 179 test, stratified - the test set is the exam you take once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Every claim gets a number, and the floor is 0.617</a:t>
            </a:r>
          </a:p>
          <a:p>
            <a:pPr algn="l" indent="-228600" marL="228600">
              <a:spcAft>
                <a:spcPts val="1000"/>
              </a:spcAft>
              <a:buClr>
                <a:srgbClr val="1E5EF3"/>
              </a:buClr>
              <a:buChar char="—"/>
            </a:pPr>
            <a:r>
              <a:rPr sz="1600" b="0">
                <a:solidFill>
                  <a:srgbClr val="B9D0FA"/>
                </a:solidFill>
                <a:latin typeface="Arial"/>
              </a:rPr>
              <a:t>Practice now, zero setup: open notebook 01 in Colab (badge click), Runtime &gt; Run all, work sections 1-3 - exercises at the end, solutions included, attempt them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1200" b="0">
                <a:solidFill>
                  <a:srgbClr val="B9D0FA"/>
                </a:solidFill>
                <a:latin typeface="Arial"/>
              </a:rPr>
              <a:t>Machine Learning - Module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M2 Session 1 - Machine Learning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73952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  <a:buNone/>
            </a:pPr>
            <a:r>
              <a:rPr sz="900" b="0">
                <a:solidFill>
                  <a:srgbClr val="B9D0F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Session 1 - Machine Learning Fundamentals</dc:title>
  <dc:subject/>
  <dc:creator>M2 Machine Learning course</dc:creator>
  <cp:keywords/>
  <dc:description/>
  <cp:lastModifiedBy>M2 Machine Learning course</cp:lastModifiedBy>
  <cp:revision>1</cp:revision>
  <dcterms:created xsi:type="dcterms:W3CDTF">2013-01-27T09:14:16Z</dcterms:created>
  <dcterms:modified xsi:type="dcterms:W3CDTF">2013-01-27T09:15:58Z</dcterms:modified>
  <cp:category/>
</cp:coreProperties>
</file>