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400" b="1">
                <a:solidFill>
                  <a:srgbClr val="1E5EF3"/>
                </a:solidFill>
                <a:latin typeface="Arial"/>
              </a:rPr>
              <a:t>SESSION 1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4400" b="1">
                <a:solidFill>
                  <a:srgbClr val="0A2540"/>
                </a:solidFill>
                <a:latin typeface="Arial"/>
              </a:rPr>
              <a:t>From Analytics to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800" b="0">
                <a:solidFill>
                  <a:srgbClr val="5B6774"/>
                </a:solidFill>
                <a:latin typeface="Arial"/>
              </a:rPr>
              <a:t>On the night of 14-15 April 1912 the Titanic went down; 549 of the 891 passengers on our manifest died. One question for four sessions: could the data have told us who lives?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5B6774"/>
                </a:solidFill>
                <a:latin typeface="Arial"/>
              </a:rPr>
              <a:t>Machine Learning -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BRIDGE FROM M1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Descriptive analytics reads the past - machine learning answers about the future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ero_da_vs_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572" y="1874519"/>
            <a:ext cx="8950375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54480" y="6062471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M1 drew the line itself: describing is not predicting - 'we stop here.' M2 starts exactly there, on the same 891 passengers.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ANALYTICS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Prediction is the next rung on a ladder you are already halfway up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Descriptive and diagnostic: M1. You told what happened and dug into why - groupbys, crosstabs, correlations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Predictive: M2, this module. What will happen to a new, unseen case?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Prescriptive sits on top: what should we do - decisions built on predictions you can trust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Your M1 skills stay load-bearing: 80% of the daily job is still cleaning and describing data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climb, session by session: S1 what ML is and honest splits; S2 features; S3 the model tournament; S4 tune and ship</a:t>
            </a:r>
          </a:p>
        </p:txBody>
      </p:sp>
      <p:pic>
        <p:nvPicPr>
          <p:cNvPr id="8" name="Picture 7" descr="ladder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4795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Reference points: Andrew Ng's specialization, Harvard CS109A and MIT 6.390 climb the same way - one worked example, honest validation early, features first-class.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WHAT ML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ML learns the rules from examples instead of being told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Classic programming: a human writes the rules by hand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A hand-written spam rule list - block 'winner', block ALL CAPS, block unknown senders - never ends, and spammers adapt faster than you can type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Machine learning: you show labeled examples, the algorithm finds the rules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Thousands of emails already flagged spam or not-spam go in; a filter that judges brand-new email comes out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The same move on our data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891 passengers with known outcomes go in; a pattern that predicts new passengers comes out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Supervised learning = learning from examples that include the right answer (the label)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Our label: Survived, 1 or 0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A model is a function with adjustable knobs (parameters); training turns the knobs until predictions match the examples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Spam filtering has been Andrew Ng's canonical everyday example since his original 2012 ML course; his specialization also opens with supervised learning taught through worked examples.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TYPES OF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Machines learn in three ways - this module is supervised classification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524"/>
                <a:gridCol w="3900368"/>
                <a:gridCol w="3900368"/>
                <a:gridCol w="1706411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How it learns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Everyday example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In this module?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From labeled examples: inputs plus the right answer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 spam filter trained on mail users already flagged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Yes - all of M2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Unsupervised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Finds structure in unlabeled data - no right answer is given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Grouping a shop's customers by what they tend to buy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Reinforcement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By trial and error: actions earn rewards or penalties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Game-playing agents and robots improving with practice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M2 end to end: supervised classification - the label is Survived (1 or 0), a category. Predicting a number instead (say, Fare) would be supervised regression.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ML IN YOUR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You already used machine learning today - probably before breakfast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Spam filter: classifies every new email as spam or not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learned from millions of messages users already flagged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Music and film recommendations: predict what you will want next from what you (and people like you) played before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Map arrival times: predict the duration of a trip nobody has driven in exactly these conditions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Phone face unlock: predicts whether the face in a brand-new camera frame is the owner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Translation apps: predict the most likely sentence in the other language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The common thread: each one answers a question about a NEW case, and software acts on the answer - the machine-learning lane of this session's opening contrast.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Every supervised problem is a table: features X in, target y 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Features X = the inputs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The columns that describe each passenger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Age, Sex, Pclass, Fare, SibSp, Parch, Embarked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In code: X = everything except the answer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Also called predictors or inputs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Target y = the answer to learn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One column: Survived, 1 or 0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Predicting a category -&gt; classification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Predicting a number -&gt; regression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Survived is a category, so this module is a classification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Same table, different y: predicting the Fare a passenger paid would make this a regression problem instead.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One dataset carries every concept: 891 passengers, 38.4% survived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891 rows x 12 columns - small enough to read, real enough to be messy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549 died, 342 survived: imbalanced, but not extremely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Missing values are real: Age 177, Cabin 687, Embarked 2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One worked example carrying every new concept is Andrew Ng's teaching pattern - we reuse the Titanic the same way</a:t>
            </a:r>
          </a:p>
        </p:txBody>
      </p:sp>
      <p:pic>
        <p:nvPicPr>
          <p:cNvPr id="8" name="Picture 7" descr="fig1_target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7792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Class balance in the full dataset. Source: Module 2, notebook 01, section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MANIFEST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Three real rows put faces on the data - they return every session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6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55763"/>
                <a:gridCol w="753138"/>
                <a:gridCol w="684671"/>
                <a:gridCol w="1437809"/>
                <a:gridCol w="1027006"/>
                <a:gridCol w="1369342"/>
                <a:gridCol w="1163940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Passenger (as listed)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Age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Family aboard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Fare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Boarded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Braund, Mr. Owen Harris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 (SibSp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7.25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Southampton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Cumings, Mrs. John Bradley (Florence Briggs Thayer)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 (SibSp 1)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71.2833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Cherbourg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Survived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Goldsmith, Master. Frank John William "Frankie"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2 (Parch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20.525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Southampton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Survived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PassengerId 1, 2 and 166 of the dataset, fields verbatim. Owen, Florence and Frankie carry the whole module: their gaps in Session 2, their odds in Sessions 3-4.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VERDICT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Not every column becomes a feature - identifiers and free text sit 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71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297"/>
                <a:gridCol w="1718428"/>
                <a:gridCol w="5623946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Column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Pclass, Sex, Fare, SibSp, Parch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Feature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Numbers or clean categories, nearly 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Age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Feature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177 missing (19.9%) - we will impute, not drop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Embarked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Feature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Only 2 missing (0.2%)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Cabin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Drop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687 missing (77.1%) - mostly gaps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Drop, for 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Free text - Session 2 mines a Title feature from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Ticket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Drop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Arbitrary codes with no consistent meaning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PassengerId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Drop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An identifier - a row number predicts nothing about survival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Rule of thumb: identifiers out, mostly-missing columns out, free text out until you can engineer something from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ML workflow is a loop, not a line - you will walk it all module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Prepare: split, clean, encode, scale (Sessions 1-2)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Train: fit models on the training set only (Session 3)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Evaluate: score on data the model has never seen (Session 3)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Improve, then ship: tune, engineer, deploy (Session 4)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Evaluation sends you back to preparation more often than forward</a:t>
            </a:r>
          </a:p>
        </p:txBody>
      </p:sp>
      <p:pic>
        <p:nvPicPr>
          <p:cNvPr id="8" name="Picture 7" descr="s1_workflow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7091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Harvard CS109A teaches the same shape: one workflow revisited all semester on messy real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GOLDEN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Split before you prepare - even an innocent average can leak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80/20 split first: 712 training rows, 179 test rows (seed 42)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Data leakage = test-set information sneaking into training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Analogy: the test set is the final exam - seeing the questions while studying inflates your score and proves nothing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'Fill missing ages with the average' already leaks if that average was computed over all rows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stratify=y keeps the survivor share equal in both halves</a:t>
            </a:r>
          </a:p>
        </p:txBody>
      </p:sp>
      <p:pic>
        <p:nvPicPr>
          <p:cNvPr id="8" name="Picture 7" descr="s1_split_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0866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The split and the preserved survivor share. Source: Module 2, notebook 01, section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REAL-WORLD LEAKAGE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Leakage happens to professionals: a patient ID predicted cancer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KDD Cup 2008: teams competed to predict breast cancer from medical images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A serious research competition with experienced teams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The 'Patient ID' column turned out to be hugely predictive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IDs were assigned per source institution - and some sources treated far more cancer-heavy cases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The ID leaked where the data came from, not anything about the tumor itself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Lesson 1: a feature that works suspiciously well deserves suspicion, not celebration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Lesson 2: this is exactly why identifiers left our feature list two slides ago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Source: Kaufman, Rosset &amp; Perlich, 'Leakage in Data Mining', KDD 2011.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HONEST EVALUATION PREVIEW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In this module, 'good' means a number - and the floor is 0.617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86000"/>
            <a:ext cx="9418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9600" b="1">
                <a:solidFill>
                  <a:srgbClr val="1E5EF3"/>
                </a:solidFill>
                <a:latin typeface="Arial"/>
              </a:rPr>
              <a:t>0.617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4348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800" b="0">
                <a:solidFill>
                  <a:srgbClr val="0A2540"/>
                </a:solidFill>
                <a:latin typeface="Arial"/>
              </a:rPr>
              <a:t>Accuracy of a model that always predicts 'died' - the baseline floor every real model must beat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25780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250" b="0">
                <a:solidFill>
                  <a:srgbClr val="5B6774"/>
                </a:solidFill>
                <a:latin typeface="Arial"/>
              </a:rPr>
              <a:t>Dummy classifier, 5-fold cross-validation on the training set. Source: Module 2, notebook 02. Beating the floor is the entry ticket, not the goal.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From describing to predicting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ML learns patterns from labeled examples; supervised learning needs features X and a target y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The Titanic is our spine: 891 passengers - Owen, Florence, Frankie and 888 more - 38.4% survived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Split first: 712 train / 179 test, stratified - the test set is the exam you take once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Leakage fools professionals; identifiers and peeking are how it starts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Every claim gets a number, and the floor is 0.617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Practice now, zero setup: open notebook 01 in Colab (badge click), Runtime &gt; Run all, work sections 1-3 - exercises at the end, solutions included, attempt them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B9D0FA"/>
                </a:solidFill>
                <a:latin typeface="Arial"/>
              </a:rPr>
              <a:t>Machine Learning - Module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Session 1 - Machine Learning Fundamentals</dc:title>
  <dc:subject/>
  <dc:creator>M2 Machine Learning course</dc:creator>
  <cp:keywords/>
  <dc:description/>
  <cp:lastModifiedBy>M2 Machine Learning course</cp:lastModifiedBy>
  <cp:revision>1</cp:revision>
  <dcterms:created xsi:type="dcterms:W3CDTF">2013-01-27T09:14:16Z</dcterms:created>
  <dcterms:modified xsi:type="dcterms:W3CDTF">2013-01-27T09:15:58Z</dcterms:modified>
  <cp:category/>
</cp:coreProperties>
</file>