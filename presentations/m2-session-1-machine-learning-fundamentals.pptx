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1E5EF3"/>
                </a:solidFill>
                <a:latin typeface="Arial"/>
              </a:rPr>
              <a:t>SESSION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400" b="1">
                <a:solidFill>
                  <a:srgbClr val="0A2540"/>
                </a:solidFill>
                <a:latin typeface="Arial"/>
              </a:rPr>
              <a:t>From Analytics to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5B6774"/>
                </a:solidFill>
                <a:latin typeface="Arial"/>
              </a:rPr>
              <a:t>On the night of 14-15 April 1912 the Titanic went down; 549 of the 891 passengers on our manifest died. One question for four sessions: could the data have told us who lives? First the ideas, then the manifest.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5B6774"/>
                </a:solidFill>
                <a:latin typeface="Arial"/>
              </a:rPr>
              <a:t>Machine Learning -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Part 1 - The theory: what learning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Ideas before code: what a machine actually does when it learns, and why the leap to unseen cases can work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BRIDGE FROM 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Descriptive analytics reads the past - machine learning answers about the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da_vs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572" y="1874519"/>
            <a:ext cx="8950375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6062471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Same past data - a different question, and an output a program can use. M1 drew the line itself: describing is not predicting. M2 starts exactly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ANALYTICS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Prediction is the next rung on a ladder you are already halfway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Descriptive and diagnostic: M1. You told what happened and dug into why - groupbys, crosstabs, correlations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Predictive: M2, this module. What will happen to a new, unseen case?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Prescriptive sits on top: what should we do - decisions built on predictions you can trust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Your M1 skills stay load-bearing: 80% of the daily job is still cleaning and describing data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climb, session by session: S1 what ML is and honest splits; S2 features; S3 the model tournament; S4 tune and ship</a:t>
            </a:r>
          </a:p>
        </p:txBody>
      </p:sp>
      <p:pic>
        <p:nvPicPr>
          <p:cNvPr id="8" name="Picture 7" descr="ladde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4795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MIT draws the same line by goal, not tools: statistics asks 'does the model explain?' - ML asks 'does the prediction hold up?' (MIT 6.390, Intro chapter). Ng, Harvard CS109A and MIT 6.390 all climb this same ladder.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WHAT ML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ML learns the rules from examples instead of being told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Classic programming: a human writes the rules by hand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A hand-written spam rule list - block 'winner', block ALL CAPS, block unknown senders - never ends, and spammers adapt faster than you can type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Machine learning: you show labeled examples, the algorithm finds the rules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Arthur Samuel called it the "field of study that gives computers the ability to learn without being explicitly programmed" - his 1950s checkers program beat its own programmer after tens of thousands of self-played games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It is already in your day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Recommendations predict what you will want next; map arrival times predict a trip nobody has driven in exactly these conditions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The same move on our data: 891 passengers with known outcomes go in; a pattern that predicts new passengers comes out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A model is a function with adjustable knobs (parameters); training turns the knobs until predictions match the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Samuel's phrase, quoted by Ng - Machine Learning Specialization C1W1.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TYPES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Machines learn in three ways - this module lives in the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Supervised learning: the examples include the right answer (the label)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A spam filter learns from mail already marked spam or not spam - ours: 891 passengers, each labeled Survived, 1 or 0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Unsupervised learning: no labels - find the structure yourself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Grouping shoppers into segments nobody named in advance: there is no right answer in the data to copy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Reinforcement learning: no examples at all - act, get rewarded or penalized, improve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Samuel's checkers program improving through wins and losses in self-play is the classic seed of the idea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The families differ in what the data gives you: answers, no answers, or only consequences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This module is supervised classification end to end - the other two families are a later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Supervised learning comes first because it covers most ML used in industry today - Ng, Machine Learning Specialization C1W1.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Every supervised problem is a table: features X in, target y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Features X = the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The columns that describe each passenger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Age, Sex, Pclass, Fare, SibSp, Parch, Embarked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In code: X = everything except the answer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Also called predictors or covariates - the whole table is n observations x p predictors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Target y = the answer to 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One column: Survived, 1 or 0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Predicting a category -&gt; classification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Predicting a number -&gt; regression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Survived is a category, so this module is a classification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Same table, different y: predicting the Fare a passenger paid would make this a regression problem instead. Vocabulary: Harvard CS109A / ISLR ch.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HIDDEN RULE AND THE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Every outcome is a hidden rule plus noise - only the rule part is learnable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outcome is a hidden rule plus noise: Y = f(X) + ε. Learning estimates the rule; nothing can predict the noise. Error you can shrink is reducible; the noise floor is irreducible.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On the Titanic: survival = some true, unknown rule of class, sex, age... plus randomness no manifest records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 model is an estimate f-hat of the hidden rule - learning = estimating f from noisy samples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Better features, models, or data shrink reducible error; ε - chaos on a sinking ship - yields to no model, however perfect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This is why 100% accuracy is not the goal and never will be - Session 3 pays this off</a:t>
            </a:r>
          </a:p>
        </p:txBody>
      </p:sp>
      <p:pic>
        <p:nvPicPr>
          <p:cNvPr id="8" name="Picture 7" descr="s1_error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545" y="1874519"/>
            <a:ext cx="5726429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Schematic illustration - no course numbers on this chart. Harvard CS109A / ISLR ch.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INDUCTION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Learning is a leap from a few examples to cases never seen - one assumption makes it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Every learner makes the same leap: finitely many examples in, a rule that must answer for cases nobody has seen yet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Philosophers call it the problem of induction: nothing logically guarantees the future resembles the past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MIT splits the difficulty in two: estimation - see through the noise in the data you have - and generalization - say something about inputs you never saw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bridge is an assumption, not a proof: new data is drawn from the same world as the old (i.i.d.) - no assumption, no generalization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Part 2 builds exactly this leap: 712 passengers teach a rule that 179 unseen ones will judge</a:t>
            </a:r>
          </a:p>
        </p:txBody>
      </p:sp>
      <p:pic>
        <p:nvPicPr>
          <p:cNvPr id="8" name="Picture 7" descr="s1_in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74" y="1874519"/>
            <a:ext cx="6270172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synthetic data. MIT 6.390, Intro chapter ('the problem of induction').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HYPOTHESIS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You choose the space of candidate rules - the algorithm only finds its best 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 hypothesis is one concrete rule with its numbers filled in; the hypothesis class is the whole family of rules of that shape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Learning is a SEARCH: the algorithm scans the family and returns the member that fits the examples best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Which family to search is YOUR design decision, made before any data is touched: straight lines, or flexible curves?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Flexibility cuts both ways: a roomier family can follow the pattern more closely - and can follow the noise too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MIT separates model selection (choose the class) from model fitting (find the member) - Session 3 turns exactly this dial</a:t>
            </a:r>
          </a:p>
        </p:txBody>
      </p:sp>
      <p:pic>
        <p:nvPicPr>
          <p:cNvPr id="8" name="Picture 7" descr="s1_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551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synthetic data. MIT 6.390, Intro chapter.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THREE-SLOT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Every learner you will meet is the same recipe: candidate rules + a score + a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Every supervised learner is the same three-slot recipe: a set of candidate rules (the model), a score for how wrong a prediction is (the loss), and a search that finds the best-scoring rule (the optimizer).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Slot 1 is the hypothesis class you just met - choosing it stays YOUR call, made before any data is touched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Different ML methods = different fillings of the same three slots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Session 3 refills slot 1 six times; Session 4 tunes the knobs around the recipe</a:t>
            </a:r>
          </a:p>
        </p:txBody>
      </p:sp>
      <p:pic>
        <p:nvPicPr>
          <p:cNvPr id="8" name="Picture 7" descr="s1_recipe_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2928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One recipe, every method in this module. MIT 6.390, Intro chapter &amp; Appendix C 'Supervised learning in a nutshell'.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HOW TRAINING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Training is nothing mystical: make one number - the average miss -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Every candidate rule makes errors on the 891 labeled examples; average them into one number J - the cost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J scores how badly a rule fits ALL the data at once - training = searching for the rule with the smallest J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search walks downhill: from any starting guess, nudge the knobs in the direction that lowers J fastest - a hillside descent in fog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Step size matters: too small crawls, too large overshoots the valley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same downhill walk trains Session 3's scorecard - no magic anywhere in this module</a:t>
            </a:r>
          </a:p>
        </p:txBody>
      </p:sp>
      <p:pic>
        <p:nvPicPr>
          <p:cNvPr id="8" name="Picture 7" descr="s1_cost_down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30" y="1874519"/>
            <a:ext cx="558306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synthetic data; illustrative J values, not course results. Method: Ng, Machine Learning Specialization C1 / Stanford CS229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Part 2 - Practice: the Titanic manifest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The ideas land on 891 real passengers: one dataset, one honest split, and a floor every model must beat.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One dataset carries every concept: 891 passengers, 38.4% survived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891 rows x 12 columns - small enough to read, real enough to be messy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549 died, 342 survived: imbalanced, but not extremely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Missing values are real: Age 177, Cabin 687, Embarked 2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One worked example carrying every new concept is Andrew Ng's teaching pattern - we reuse the Titanic the same way</a:t>
            </a:r>
          </a:p>
        </p:txBody>
      </p:sp>
      <p:pic>
        <p:nvPicPr>
          <p:cNvPr id="8" name="Picture 7" descr="fig1_targe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7792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Class balance in the full dataset. Source: Module 2, notebook 01, section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MANIFEST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Three real rows put faces on the data - they return every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6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763"/>
                <a:gridCol w="753138"/>
                <a:gridCol w="684671"/>
                <a:gridCol w="1437809"/>
                <a:gridCol w="1027006"/>
                <a:gridCol w="1369342"/>
                <a:gridCol w="116394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Passenger (as listed)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Age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Family aboard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Fare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Boarded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Braund, Mr. Owen Harris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 (SibSp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Southampton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Cumings, Mrs. John Bradley (Florence Briggs Thayer)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 (SibSp 1)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71.2833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Cherbourg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Survived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Goldsmith, Master. Frank John William "Frankie"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2 (Parch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20.525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Southampton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Survived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PassengerId 1, 2 and 166 of the dataset, fields verbatim. Owen, Florence and Frankie carry the whole module: their gaps in Session 2, their odds in Sessions 3-4.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Not every column becomes a feature - identifiers and free text sit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297"/>
                <a:gridCol w="1718428"/>
                <a:gridCol w="562394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Column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Pclass, Sex, Fare, SibSp, Parch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Numbers or clean categories, nearly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Age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177 missing (19.9%) - we will impute, not drop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Embarked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Only 2 missing (0.2%)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Cabin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Drop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687 missing (77.1%) - mostly gaps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Drop, for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Free text - Session 2 mines a Title feature from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Ticket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Drop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Arbitrary codes with no consistent meaning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PassengerId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An identifier - a row number predicts nothing about survival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Rule of thumb: identifiers out, mostly-missing columns out, free text out until you can engineer something from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ML workflow is a loop, not a line - you will walk it all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Prepare: split, clean, encode, scale (Sessions 1-2) - today you started it on the 891-row manifest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Train: fit models on the training set only (Session 3)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Evaluate: score on data the model has never seen (Session 3)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Improve, then ship: tune, engineer, deploy (Session 4)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Evaluation sends you back to preparation more often than forward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Harvard teaches it as a five-stage loop - ask, get, explore, model, communicate: modeling is one box of five, and answers routinely send you back a stage</a:t>
            </a:r>
          </a:p>
        </p:txBody>
      </p:sp>
      <p:pic>
        <p:nvPicPr>
          <p:cNvPr id="8" name="Picture 7" descr="s1_workflow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709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Harvard CS109A teaches the same shape: one workflow revisited all semester on messy real data. Source: Harvard CS109A, Lecture 1 (the data science process).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GOLDEN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Split before you prepare - even an innocent average can leak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80/20 split first: 712 training rows, 179 test rows (seed 42)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Data leakage = test-set information sneaking into training - even 'fill missing ages with the average' leaks if that average used all rows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Analogy: the test set is the final exam - seeing the questions while studying inflates your score and proves nothing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stratify=y keeps the survivor share equal in both halves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Leakage bites professionals: KDD Cup 2008 teams found 'Patient ID' predicted breast cancer - the ID encoded which hospital, not the tumor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 feature that works suspiciously well deserves suspicion, not celebration</a:t>
            </a:r>
          </a:p>
        </p:txBody>
      </p:sp>
      <p:pic>
        <p:nvPicPr>
          <p:cNvPr id="8" name="Picture 7" descr="s1_split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0866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The split and the preserved survivor share. Source: Module 2, notebook 01, section 3. Leakage story: Kaufman, Rosset &amp; Perlich, 'Leakage in Data Mining', KDD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HONEST EVALUATION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In this module, 'good' means a number - and the floor is 0.617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9600" b="1">
                <a:solidFill>
                  <a:srgbClr val="1E5EF3"/>
                </a:solidFill>
                <a:latin typeface="Arial"/>
              </a:rPr>
              <a:t>0.617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800" b="0">
                <a:solidFill>
                  <a:srgbClr val="0A2540"/>
                </a:solidFill>
                <a:latin typeface="Arial"/>
              </a:rPr>
              <a:t>Accuracy of a model that always predicts 'died' - the baseline floor every real model must beat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250" b="0">
                <a:solidFill>
                  <a:srgbClr val="5B6774"/>
                </a:solidFill>
                <a:latin typeface="Arial"/>
              </a:rPr>
              <a:t>Dummy classifier, 5-fold cross-validation on the training set. Source: Module 2, notebook 02. Beating the floor is the entry ticket, not the goal. Accuracy is 0-1 loss in disguise - the simplest filling of the recipe's loss slot (MIT 6.390, Intro chapter).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You now predict, not describe - and every claim gets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Part 1, the ideas: ML learns rules from labeled examples - a leap from seen cases to unseen ones, licensed by one assumption (new data looks like old)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You choose the hypothesis class; every learner = model + loss + optimizer, and training = making one number (the cost J) small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Y = f(X) + ε: we estimate the hidden rule, we never beat the noise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Part 2, the manifest: 891 passengers, split first - 712 train / 179 test, stratified; the test set is the exam you take once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Every claim gets a number, and the floor is 0.617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Practice now, zero setup: open notebook 01 in Colab (badge click), Runtime &gt; Run all, work sections 1-3 - exercises at the end, solutions included, attempt them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B9D0FA"/>
                </a:solidFill>
                <a:latin typeface="Arial"/>
              </a:rPr>
              <a:t>Machine Learning - 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1 - Machine Learning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Session 1 - Machine Learning Fundamentals</dc:title>
  <dc:subject/>
  <dc:creator>M2 Machine Learning course</dc:creator>
  <cp:keywords/>
  <dc:description/>
  <cp:lastModifiedBy>M2 Machine Learning course</cp:lastModifiedBy>
  <cp:revision>1</cp:revision>
  <dcterms:created xsi:type="dcterms:W3CDTF">2013-01-27T09:14:16Z</dcterms:created>
  <dcterms:modified xsi:type="dcterms:W3CDTF">2013-01-27T09:15:58Z</dcterms:modified>
  <cp:category/>
</cp:coreProperties>
</file>