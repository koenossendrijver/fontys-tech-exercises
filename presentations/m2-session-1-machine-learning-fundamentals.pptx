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what they already know: in M1 they answered 'what happened' with charts a person reads. Machine learning answers a new question - 'what will happen to a NEW case' - and the answer is something a program can act on. Same data, different question. Ask the class: the app that predicts when your bus arrives - which of the two rows is it 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Reassure them: this module is one rung up, not a new ladder. They already climbed the first two rungs in M1, and those skills stay in daily use. Point at each rung and say its question out loud - what happened, why, what will happen, what should we do. Ask the class: where on this ladder does a weather forecast sit?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words the students hear every week, sorted once: AI is the whole circle - any machine doing something we would call thinking, including a chess program whose every rule a person typed. Machine learning is the part that learns its rules from examples - this module lives here. Deep learning is one way of doing ML, with many-layered neural networks; it is a later course. Ask the class: a thermostat that switches on below 18 degrees - which circle is it in, if any?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picture first: the top lane is every program ever written - a person writes the rules, data goes in, answers come out. The bottom lane swaps the last two pieces: data and answers go in, and the RULES come out. Spam is the perfect story - a hand-written rule list never ends. Face detection is the historical one: decades of hand-coding 'two eyes and a nose' barely worked; learning from labeled photos did. Ask the class: what would YOUR three spam rules be, and how would a spammer dodge each one within a week?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 and let the years sink in: the question is from 1950, the first learning program from 1955, the first learning neuron from 1957. Point at the colors - gray dots are hand-written rules (Deep Blue searched millions of positions but learned nothing), blue and navy dots learn from data. Then the bracket: the 2010s did not bring new ideas, they brought enough labeled data and enough computing power to make the old ideas work. Ask the class: why did Samuel's program have to wait 60 years for its ideas to run on your phone?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three panels: left, dots already carry their answer (blue died, navy survived) and we learn the line between them. Middle, gray dots with no answer - the algorithm draws the groups itself; the stars are the group centers k-means found. Right, no data table at all: the learner acts on a world and gets a reward or a penalty - Samuel's checkers program improving through wins and losses. Everything in this module is the left panel. Ask the class: grouping customers into types nobody named in advance - which panel is that?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physical: X is every column that describes a passenger, y is the one column we want to predict. Category out means classification, number out means regression - that is the whole distinction. Ask the class: same table, but now predict the Fare a passenger paid - classification or regression?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 terms: the label is the answer key, and somebody has to write it. For the Titanic, history did it - the survivor lists of 1912 became our Survived column. For spam, you do it every time you click 'report spam'. Then the puzzle: the original reCAPTCHA had millions of people transcribe words scanners could not read, digitizing whole newspaper archives; the picture version is widely reported to label street images for vision models. Run the debate: are we training self-driving cars for free - and is that a fair trade for a free login check?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concrete: class, sex and age really did shape survival - that is the pattern, and it is learnable. Two identical passengers could still meet different fates in the chaos - that is the luck, and nothing predicts a coin flip. Only then give the symbols: Y = f(X) + epsilon. Walk the bar: full height is all the error; blue shrinks with better features or models, the grey floor never moves. Ask the class: why would a model claiming 100% accuracy on survival be suspicious?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dog photos: after ten photos of dogs you recognize an eleventh you have never seen - that is all learning is. MIT's two jobs, on a thermometer: estimation is guessing the room's true temperature from a handful of noisy readings (63, 74, 51...); generalization is predicting tomorrow's temperature from a year of readings. It works only because tomorrow resembles yesterday; that assumption is the bridge, not a proof. Ask the class: give me a case where tomorrow does NOT resemble yesterday - would a model trained on the past still work?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Reassure them again: they made this exact leap in M1. There it was called inference - measure a sample, conclude about the population. Read the two bars: 1,317 passengers sailed and 38.0% survived; our file holds 891 of them and says 38.4%. The sample estimated the truth well because it looks like the whole. ML makes the same leap sideways: rules learned on the rows you have, judged on rows you never saw. Same leap, same assumption, new name. Ask the class: our file has no crew and skips 426 passengers - when would that break the leap?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one-liner: you decide the shape of the answer - a line or a curve - and training only finds the best rule of that shape. Point at the faint lines: those are the candidates the family allows; the bold one is what the search returns. Ask the class: if the true pattern is a curve and you only allow straight lines, can training ever fix that?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reusable slide of the module: every learner they will ever meet is a menu of candidate rules, a scorecard for wrongness, and a search for the best-scoring rule. Walk the worked filling underneath: logistic regression is just one way to fill the three slots. Ask the class: which slot did the previous slide - the hypothesis class - cover?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picture before the idea: each dot is a passenger, the blue line is one candidate rule, and every thin vertical line is one miss. J is just the average miss - one number per rule: bad rule big J, decent rule smaller, best rule smallest. Then panel four: training hunts the smallest J by walking downhill in fog - feel the slope, step where it drops fastest, repeat; each dot is one step. Ask the class: what goes wrong if your downhill steps are huge?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dataset feel small and human: 891 rows, one per passenger, 12 columns. The chart just counts the answer column - each bar is one outcome, longer bar = more people: 549 died, 342 survived. Flag the gaps now (Age 177, Cabin 687) - Session 2 fixes them. Ask the class: is 62/38 unbalanced enough to worry about?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boxes left to right - prepare, train, evaluate, improve - then stop on the long arrow underneath: evaluation usually sends you BACK to preparation, not forward. The only exit is up, to ship, when the honest score is good enough. Map each box to a session so the module feels like one walk around this loop. Ask the class: why does the arrow back go to preparation and not to training?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module's exam metaphor - use it every session: the test set is the final exam, and you sit it exactly once. Leakage is any way the exam answers sneak into the study notes - even an average computed over all rows counts. Tell the KDD story slowly: the patient ID gave away the hospital, and the hospital gave away the diagnosis. Ask the class: why does a suspiciously good feature deserve suspicion first?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model that ignores everything and always answers 'died' is right 61.7% of the time, simply because most passengers died. That is the floor: any real model must clearly beat it, or it has learned nothing. Ask the class: why is 62% accuracy on this dataset nothing to celebrate?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From Analytics to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On the night of 14-15 April 1912 the Titanic went down; 549 of the 891 passengers on our manifest died. One question for four sessions: could the data have told us who lives? First the ideas, then the manifest.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Machine Learning -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1 - The theory: what learning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Ideas before code: what a machine actually does when it learns, and why the leap to unseen cases can work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BRIDGE FROM M1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Descriptive analytics reads the past - machine learning answers about the future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ro_da_vs_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572" y="1874519"/>
            <a:ext cx="8950375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54480" y="6062471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How to read it: each row runs left to right - question, input, output, Titanic example. Top row = M1 (describing). Bottom row = M2 (predicting). M1's own closing line: describing is not predicting.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ANALYTICS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Prediction is the next rung on a ladder you are already halfway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Rungs 1-2 are M1: what happened, and why - your groupbys and crosstabs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Rung 3 is this module: what will happen to a NEW, unseen case?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Rung 4, prescriptive: what should we do? It needs a trusted model first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M1 skills stay in daily use: loading and cleaning data still eat about 45% of a data scientist's time (Anaconda 2020 survey)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climb here: S1 ideas and honest splits; S2 features; S3 the model tournament; S4 tune and ship</a:t>
            </a:r>
          </a:p>
        </p:txBody>
      </p:sp>
      <p:pic>
        <p:nvPicPr>
          <p:cNvPr id="8" name="Picture 7" descr="ladder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4795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Statistics asks 'does the model explain?' - ML asks 'does the prediction hold up?' (MIT 6.390, Intro chapter). Ng, Harvard CS109A and MIT 6.390 all climb this same ladder.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WHERE ML 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Machine learning is one circle inside AI - and deep learning one circle inside that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_ai_circ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874519"/>
            <a:ext cx="9052560" cy="40646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54480" y="6062471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How to read it: each circle contains the next; the dot on each circle's edge leads to its plain-words definition. Illustration. Nesting: Goodfellow, Bengio &amp; Courville, Deep Learning (2016), Fig. 1.4.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WHAT ML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ML learns the rules from examples instead of being told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 it: top lane, a person writes the rules; bottom lane, the rules come out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Spam by hand: block 'winner', block ALL CAPS - the list never ends, spammers adapt faster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Faces by hand failed for decades: 'find two eyes and a nose' barely worked; learning from labeled photos did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Arthur Samuel: computers that learn 'without being explicitly programmed'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Our move: 891 passengers with known outcomes in - a rule that predicts new ones out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model = a function with adjustable knobs; training = turning them until predictions match the examples</a:t>
            </a:r>
          </a:p>
        </p:txBody>
      </p:sp>
      <p:pic>
        <p:nvPicPr>
          <p:cNvPr id="8" name="Picture 7" descr="s1_rules_f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927" y="1874519"/>
            <a:ext cx="6433666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flip: rules + data give answers; data + answers give rules. Chollet, Deep Learning with Python (2017), Fig. 1.2. Samuel's phrase as quoted by Ng, C1W1.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AI IS NOT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ideas are 70 years old - what changed in the 2010s was data and computing power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874519"/>
            <a:ext cx="9052560" cy="371549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54480" y="6062471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Evenly spaced, not to scale. Gray = hand-written rules, blue = machine learning, navy = deep learning. Dates from the original papers and match records (Turing 1950; Samuel 1959; Rosenblatt 1958; Rumelhart, Hinton &amp; Williams 1986; Krizhevsky et al. 2012; Silver et al. 2016).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TYPES OF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Machines learn in three ways - this module lives in the 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 it: one panel per family; what differs is what the data hands you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Supervised: every example carries its answer - our 891 passengers each labeled Survived, 1 or 0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Unsupervised: no answers - the algorithm finds groups nobody named, like shopper segments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Reinforcement: no examples at all - act, get rewarded or penalized, improve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In plain words: answers given, answers absent, or only consequences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This module is supervised classification end to end - the other two are a later course</a:t>
            </a:r>
          </a:p>
        </p:txBody>
      </p:sp>
      <p:pic>
        <p:nvPicPr>
          <p:cNvPr id="8" name="Picture 7" descr="s1_three_famil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8988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synthetic points. Supervised learning comes first because it covers most ML used in industry today: Ng, Machine Learning Specialization C1W1.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Every supervised problem is a table: features X in, target y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Features X = the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The columns that describe each passenger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Age, Sex, Pclass (ticket class), Fare, SibSp (siblings + spouse aboard), Parch (parents + children aboard), Embarked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In code: X = everything except the answer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Books also say predictors or covariates - different words, same idea: the input columns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Target y = the answer to learn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One column: Survived, 1 or 0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Predicting a category -&gt; classification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Predicting a number -&gt; regression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Survived is a category, so this module is a classification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Same table, different y: predicting the Fare a passenger paid would make this a regression problem instead. Vocabulary: Harvard CS109A / ISLR ch. 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WHERE Y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Labels are the expensive half - someone, somewhere, wrote every answer down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 it: left, a puzzle you have solved a hundred times; right, the table your clicks quietly build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Our labels: the Survived column came from the 1912 survivor lists - history did the labeling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Spam labels: every 'report spam' click you ever made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puzzles: reCAPTCHA began by making millions of people transcribe words from scanned books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Its picture puzzles are widely reported to double as labeled images for vision models - debate: are we training self-driving cars for free?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No labels, no supervised learning - which is why labeled data is worth so much</a:t>
            </a:r>
          </a:p>
        </p:txBody>
      </p:sp>
      <p:pic>
        <p:nvPicPr>
          <p:cNvPr id="8" name="Picture 7" descr="s1_labels_captc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927" y="1874519"/>
            <a:ext cx="6433666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Schematic, not a real puzzle. Book transcription: von Ahn et al., 'reCAPTCHA: Human-Based Character Recognition via Web Security Measures', Science, 2008.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HIDDEN RULE AND THE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Every outcome is a hidden rule plus noise - only the rule part is learnable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 the Titanic: class, sex and age shaped survival - that is the pattern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Two identical passengers could still meet different fates - that is the luck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In symbols, Y = f(X) + ε: outcome = pattern (f) plus luck (ε, epsilon)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 the bar: its full height is all the error a model makes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blue part (reducible) shrinks: better features, models or data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grey floor (irreducible noise) never shrinks - why 100% accuracy is never the goal</a:t>
            </a:r>
          </a:p>
        </p:txBody>
      </p:sp>
      <p:pic>
        <p:nvPicPr>
          <p:cNvPr id="8" name="Picture 7" descr="s1_error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545" y="1874519"/>
            <a:ext cx="5726429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Schematic illustration - no course numbers on this chart. Harvard CS109A / ISLR ch.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INDUCTION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Learning is a leap from a few examples to cases never seen - one assumption makes it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After 10 dog photos you recognize an 11th dog you never saw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That leap is called induction - every learner makes it: few examples in, unseen cases answered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Nothing guarantees the future resembles the past - the leap rests on one assumption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assumption (called i.i.d.): new data looks like old - no assumption, no leap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MIT splits the job in two: estimation - the room's true temperature from noisy readings; generalization - tomorrow's temperature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Part 2 builds this exact leap: 712 passengers teach a rule; 179 unseen ones judge it</a:t>
            </a:r>
          </a:p>
        </p:txBody>
      </p:sp>
      <p:pic>
        <p:nvPicPr>
          <p:cNvPr id="8" name="Picture 7" descr="s1_in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674" y="1874519"/>
            <a:ext cx="6270172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synthetic data. MIT 6.390, Intro chapter ('the problem of induction').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BRIDGE FROM INFERENTIAL STATISTICS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You made this leap in M1 already - from a sample to the population; ML calls it generalization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 it: top bar, everyone who sailed; bottom bar, the 891 rows in our file; blue = survived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In plain words: the population is everyone you care about; the sample is the part you actually hold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1,317 passengers sailed; 500 survived - 38.0%. Our file holds 891 of them; 342 survived - 38.4%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M1's inference: measure the sample, conclude about the population - the sample's 38.4% estimates the true 38.0%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ML's generalization: learn on the rows you have, judge on rows you never saw - same leap, new name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Both need the same assumption: the part you hold looks like the whole (i.i.d. again)</a:t>
            </a:r>
          </a:p>
        </p:txBody>
      </p:sp>
      <p:pic>
        <p:nvPicPr>
          <p:cNvPr id="8" name="Picture 7" descr="s1_sample_pop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927" y="1874519"/>
            <a:ext cx="6433666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Population counts: Encyclopedia Titanica, 'The Statistics of the Disaster'. Sample: Module 2, notebook 01. Kaggle keeps 418 more rows as its own sealed test 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HYPOTHESIS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You choose the space of candidate rules - the algorithm only finds its best member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You pick the shape of the answer first: a line? a curve? - before touching any data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That menu of shapes is the hypothesis class; one hypothesis = one rule, numbers filled in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Learning is a search: the algorithm scans the family and returns the member that fits best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design call is yours; only the search inside it is the algorithm's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roomier family (curves) hugs the pattern better - and hugs the noise too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MIT's split: choosing the class is your job; fitting the member is training's job</a:t>
            </a:r>
          </a:p>
        </p:txBody>
      </p:sp>
      <p:pic>
        <p:nvPicPr>
          <p:cNvPr id="8" name="Picture 7" descr="s1_hypothe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551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synthetic data. MIT 6.390, Intro chapter.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THREE-SLOT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Every learner you will meet is the same recipe: candidate rules + a score + a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 it: top row = the three slots; bottom lane = one worked filling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Slot 1, the model: the hypothesis class you just met - your call, made before any data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Slot 2, the loss: how bad is each wrong answer? Simplest scorecard: just count mistakes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Slot 3, the optimizer: the search that finds the family member with the best score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Every ML method = a different filling of the same slots; Session 3 refills slot 1 six times</a:t>
            </a:r>
          </a:p>
        </p:txBody>
      </p:sp>
      <p:pic>
        <p:nvPicPr>
          <p:cNvPr id="8" name="Picture 7" descr="s1_recipe_s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2928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One recipe, every method in this module. MIT 6.390, Intro chapter &amp; Appendix C 'Supervised learning in a nutshell'.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HOW TRAINING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Training is nothing mystical: make one number - the average miss - small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 it: dots = passengers, blue line = a candidate rule, thin verticals = its misses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cost J = the average miss over all 891 examples - one number per rule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Training = the search for the rule with the smallest J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search walks downhill in fog: nudge each knob the way that lowers J fastest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Step size matters: too small crawls, too large overshoots the valley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same downhill walk trains Session 3's scorecard - no magic anywhere in this module</a:t>
            </a:r>
          </a:p>
        </p:txBody>
      </p:sp>
      <p:pic>
        <p:nvPicPr>
          <p:cNvPr id="8" name="Picture 7" descr="s1_cost_downh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230" y="1874519"/>
            <a:ext cx="558306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synthetic data; illustrative J values, not course results. Method: Ng, Machine Learning Specialization C1 / Stanford CS229 notes.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2 - Practice: the Titanic manifest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The ideas land on 891 real passengers: one dataset, one honest split, and a floor every model must beat.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 dataset carries every concept: 891 passengers, 38.4% survived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891 rows x 12 columns - small enough to read, real enough to be messy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549 died, 342 survived: imbalanced (far from 50/50), but not extremely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Missing values are real: Age 177, Cabin 687, Embarked 2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One worked example carrying every new concept is Andrew Ng's teaching pattern - we reuse the Titanic the same way</a:t>
            </a:r>
          </a:p>
        </p:txBody>
      </p:sp>
      <p:pic>
        <p:nvPicPr>
          <p:cNvPr id="8" name="Picture 7" descr="fig1_target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7792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Survived column of the full dataset, before any split. Source: Module 2, notebook 01, section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MANIFEST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Three real rows put faces on the data - they return every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6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55763"/>
                <a:gridCol w="753138"/>
                <a:gridCol w="684671"/>
                <a:gridCol w="1437809"/>
                <a:gridCol w="1027006"/>
                <a:gridCol w="1369342"/>
                <a:gridCol w="116394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Passenger (as listed)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Age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Family aboard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Fare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Boarded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Braund, Mr. Owen Harris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 (SibSp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7.25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Southampton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Cumings, Mrs. John Bradley (Florence Briggs Thayer)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 (SibSp 1)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71.2833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Cherbourg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Survived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Goldsmith, Master. Frank John William "Frankie"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 (Parch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20.525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Southampton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Survived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PassengerId 1, 2 and 166 of the dataset, fields verbatim. Owen, Florence and Frankie carry the whole module: their gaps in Session 2, their odds in Sessions 3-4.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Not every column becomes a feature - identifiers and free text sit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1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297"/>
                <a:gridCol w="1718428"/>
                <a:gridCol w="5623946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Column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Pclass, Sex, Fare, SibSp, Parch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Numbers or clean categories, nearly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Age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177 missing (19.9%) - we will impute, not drop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Embarked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Only 2 missing (0.2%)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Cabin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687 missing (77.1%) - mostly gaps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Drop, for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Free text - Session 2 mines a Title feature from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Ticket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Arbitrary codes with no consistent meaning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PassengerId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An identifier - a row number predicts nothing about survival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Rule of thumb: identifiers out, mostly-missing columns out, free text out until you can engineer something from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ML workflow is a loop, not a line - you will walk it all module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Prepare: split, clean, encode, scale (Sessions 1-2) - you start it today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Train: fit models on the training set only (Session 3)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Evaluate: score on data the model has never seen (Session 3)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Improve, then ship: tune, engineer, deploy (Session 4)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long arrow back is the point: evaluation sends you to preparation more often than forward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Harvard's version has five stages - ask, get, explore, model, communicate; modeling is one box of five</a:t>
            </a:r>
          </a:p>
        </p:txBody>
      </p:sp>
      <p:pic>
        <p:nvPicPr>
          <p:cNvPr id="8" name="Picture 7" descr="s1_workflow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7091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Harvard CS109A teaches the same shape (Lecture 1, the data science process); so does the business-analytics cycle - state the metric, find the data, prepare, analyze, present.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GOLDEN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Split before you prepare - even an innocent average can leak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80/20 split first: 712 training rows, 179 test rows (seed 42)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test set is the final exam - you sit it exactly once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Data leakage = exam answers sneaking into your study notes; the score then proves nothing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Even 'fill missing ages with the average' leaks, if that average was computed over all rows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stratify=y - in plain words: keep the survivor share equal in both halves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Leakage bites pros: KDD Cup 2008 - 'Patient ID' predicted cancer because the ID encoded the hospital, not the tumor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feature that works suspiciously well deserves suspicion, not celebration</a:t>
            </a:r>
          </a:p>
        </p:txBody>
      </p:sp>
      <p:pic>
        <p:nvPicPr>
          <p:cNvPr id="8" name="Picture 7" descr="s1_split_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0866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split and the preserved survivor share. Source: Module 2, notebook 01, section 3. Leakage story: Kaufman, Rosset &amp; Perlich, 'Leakage in Data Mining', KDD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HONEST EVALUATION PREVIEW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In this module, 'good' means a number - and the floor is 0.617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9418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9600" b="1">
                <a:solidFill>
                  <a:srgbClr val="1E5EF3"/>
                </a:solidFill>
                <a:latin typeface="Arial"/>
              </a:rPr>
              <a:t>0.617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34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800" b="0">
                <a:solidFill>
                  <a:srgbClr val="0A2540"/>
                </a:solidFill>
                <a:latin typeface="Arial"/>
              </a:rPr>
              <a:t>Accuracy of a model that always predicts 'died' - the baseline floor every real model must beat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578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250" b="0">
                <a:solidFill>
                  <a:srgbClr val="5B6774"/>
                </a:solidFill>
                <a:latin typeface="Arial"/>
              </a:rPr>
              <a:t>Dummy classifier, scored honestly by 5-fold cross-validation on the training set (Session 3 explains this referee). Source: Module 2, notebook 02. Beating the floor is the entry ticket, not the goal. Accuracy is 0-1 loss in disguise - the recipe's simplest loss slot (MIT 6.390, Intro chapter).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You now predict, not describe - and every claim gets a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1, the ideas: ML is the learning circle inside AI - it learns rules from labeled examples, then leaps to unseen cases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One assumption allows the leap: new data looks like old - M1's sample-to-population leap, renamed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You choose the hypothesis class; every learner = model + loss + optimizer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Training = making one number, the cost J, small; and Y = f(X) + ε - we never beat the noise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2, the manifest: 891 passengers, split first - 712 train / 179 test, stratified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The test set is the exam you take once; every claim gets a number, and the floor is 0.617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Practice now, zero setup: notebook 01 in Colab (badge click), Runtime &gt; Run all, sections 1-3 - try the exercises before the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Machine Learning - Module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Session 1 - Machine Learning Fundamentals</dc:title>
  <dc:subject/>
  <dc:creator>M2 Machine Learning course</dc:creator>
  <cp:keywords/>
  <dc:description/>
  <cp:lastModifiedBy>M2 Machine Learning course</cp:lastModifiedBy>
  <cp:revision>1</cp:revision>
  <dcterms:created xsi:type="dcterms:W3CDTF">2013-01-27T09:14:16Z</dcterms:created>
  <dcterms:modified xsi:type="dcterms:W3CDTF">2013-01-27T09:15:58Z</dcterms:modified>
  <cp:category/>
</cp:coreProperties>
</file>