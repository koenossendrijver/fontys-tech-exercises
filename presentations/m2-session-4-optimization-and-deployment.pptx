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400" b="1">
                <a:solidFill>
                  <a:srgbClr val="1E5EF3"/>
                </a:solidFill>
                <a:latin typeface="Arial"/>
              </a:rPr>
              <a:t>SESSION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4400" b="1">
                <a:solidFill>
                  <a:srgbClr val="0A2540"/>
                </a:solidFill>
                <a:latin typeface="Arial"/>
              </a:rPr>
              <a:t>Tuning and Shipping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5B6774"/>
                </a:solidFill>
                <a:latin typeface="Arial"/>
              </a:rPr>
              <a:t>The forest gets tuned, the test set gets its one look, and the model leaves the notebook: a public app anyone can ask about a passenger like Owen or Florence.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5B6774"/>
                </a:solidFill>
                <a:latin typeface="Arial"/>
              </a:rPr>
              <a:t>Machine Learning - Module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WHERE WE ARE - NG'S ORTHOGONALIZATION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Tune one knob per problem: four bars, each with its own dials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Where we are: leak-proof pipeline (712/179, 18 features); LogReg champion CV 0.819 / test 0.838, no knobs left; Random Forest 0.797 has the most knobs - today's candidate.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Ng's tuning philosophy: clear four bars in order - fit the training set, generalize to validation, hold up on test, work in the real world - and each bar has its OWN knobs.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Failing training: bigger/better model. Failing validation: regularize (= penalize complexity) or add data. Failing test: your validation was over-tuned. Failing the world: your data or metric misses reality.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Diagnose WHICH bar you are failing (Session 3's two numbers) before touching any knob - turning random knobs at once is an untunable radio.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Today: the validation bar's knobs, then the world bar.</a:t>
            </a:r>
          </a:p>
        </p:txBody>
      </p:sp>
      <p:pic>
        <p:nvPicPr>
          <p:cNvPr id="8" name="Picture 7" descr="orthogonalization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025" y="1874519"/>
            <a:ext cx="615147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Ng's orthogonalization ladder: one job per knob. Ng, Deep Learning Specialization C3 "Structuring ML Projects".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0" b="1">
                <a:solidFill>
                  <a:srgbClr val="1E5EF3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>Squeeze more from the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0">
                <a:solidFill>
                  <a:srgbClr val="B9D0FA"/>
                </a:solidFill>
                <a:latin typeface="Arial"/>
              </a:rPr>
              <a:t>Search the settings honestly - the referee stays 5-fold cross-validation, and the test set stays sealed.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TUNING - TWO KINDS OF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The model learns its parameters - you set the hyperparameters before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3977639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391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0A2540"/>
                </a:solidFill>
                <a:latin typeface="Arial"/>
              </a:rPr>
              <a:t>Parameters: the model learns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7"/>
            <a:ext cx="4937760" cy="324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Learned from the data during training - fit() finds them.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Example: the split rules inside every tree of the forest.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There are thousands; you never set one by hand.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74519"/>
            <a:ext cx="5394960" cy="3977639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391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0A2540"/>
                </a:solidFill>
                <a:latin typeface="Arial"/>
              </a:rPr>
              <a:t>Hyperparameters: you choose them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441447"/>
            <a:ext cx="4937760" cy="3246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Chosen by you before training starts.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Examples: n_estimators (how many trees), max_depth (how deep).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Tuning = try different knob positions, keep the best result.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MIT's sharper cut: hyperparameters are settings of the ALGORITHM itself - knobs OUTSIDE Session 1's three slots (model + loss + optimizer); they define the game the learner plays.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The same algorithm with two settings is best thought of as two different algorithms. MIT 6.390, Appendix 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Baking analogy: the oven temperature is a hyperparameter you set; how the ingredients turn into cake is the parameters.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TUNING - GRID AND RANDOM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Tuning is Session 3's tournament again - every setting is a contestant, CV is the referee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Grid search = CV plus nested for-loops, no magic: 2x3x3 = 18 combos x 5 folds = 90 trainings. Best (max_depth 4, min_samples_leaf 5, 100 trees): CV 0.8259, +0.0322 over the 0.7937 default.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Grids explode: 5 knobs x 6 values = 7,776 combos - nearly 39,000 trainings. 15 random draws instead test up to 15 distinct values of every knob: CV 0.8274, beating the grid with fewer tries.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MIT's reframe: picking a hyperparameter value IS comparing learning algorithms - same referee, same rules; the contestants are settings instead of model families.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Read the winning knobs: capped depth and bigger leaves are complexity BRAKES - regularization by another name: a little bias buys a big drop in variance. Session 3's U-curve, found automatically.</a:t>
            </a:r>
          </a:p>
        </p:txBody>
      </p:sp>
      <p:pic>
        <p:nvPicPr>
          <p:cNvPr id="8" name="Picture 7" descr="tuning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8924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Random Forest 5-fold CV accuracy at each tuning stage. Module 2, notebook 3. MIT 6.390, Appendix 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TUNING - 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Before turning more knobs, read the mistakes - an hour of counting beats a week of guessing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Pull the misclassified validation examples and look at them by hand - about 100 when you have them.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Tally them into categories in a spreadsheet; add new categories as they emerge.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bottom row of percentages IS your priority list: a category worth 5% of errors caps its payoff at almost nothing; one worth 50% is where the month goes.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Guard: split a large validation set into an "Eyeball" part you inspect and a "Blackbox" part you never look at - you will overfit whatever you stare at.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Exercise: pull our champion's misclassified test-set passengers in the notebook and tally your own categories (family size? fare band? title?) - no fixing allowed before the counting.</a:t>
            </a:r>
          </a:p>
        </p:txBody>
      </p:sp>
      <p:pic>
        <p:nvPicPr>
          <p:cNvPr id="8" name="Picture 7" descr="error_analysis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40267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The method, on Ng's classic image-classifier example - illustration, not our data. Ng, Machine Learning Yearning chs. 14-19.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HONEST FINAL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The test set is used exactly once - tune against it and it becomes training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Final exam: 179 passengers the model has never seen, scored one time: accuracy 0.8268, F1 0.7597.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Test is close to CV (0.8274): the tuning did not fool itself.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Peeking at test scores while tuning silently turns the test set into training data.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Honest expectation: tuning buys a percentage point or two, not miracles.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bar closes: we FIT on 712 rows, CHOSE by CV inside them - the REPORT band opens now, exactly once, and its score (0.8268) is the only forecast of real-world performance we own.</a:t>
            </a:r>
          </a:p>
        </p:txBody>
      </p:sp>
      <p:pic>
        <p:nvPicPr>
          <p:cNvPr id="8" name="Picture 7" descr="cv_vs_tes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532" y="1874519"/>
            <a:ext cx="6092456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Tuned forest: CV score vs the single test-set look. Module 2, notebook 3. Harvard CS109A / ISLR ch. 5 (model selection vs model assessment).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THE LAST STEP BEFORE SHIPPING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You don't ship the CV copy: after choosing, retrain the winning recipe on all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MIT's five steps: compare variants by CV, pick the winner, RETRAIN the winning recipe on all available data, ship, and be judged on data nobody at the table has seen.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Step 3 surprises beginners: the fold models were scaffolding; more data = a better final model, so refit everything.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sklearn already does the training-set version: refit=True retrains the best settings on all 712 rows automatically - that is the model we saved.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Once the single test look is spent, the recipe - not the score - is what you trust: retraining it on all 891 rows before shipping is legitimate; re-scoring it is not, because no honest data remains.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Two contamination arrows are forever forbidden: test data into training, and validation scores reused as the final report card.</a:t>
            </a:r>
          </a:p>
        </p:txBody>
      </p:sp>
      <p:pic>
        <p:nvPicPr>
          <p:cNvPr id="8" name="Picture 7" descr="retrai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3194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MIT's end-to-end evaluation pipeline - the two red arrows are never allowed. MIT 6.390, Appendix 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0" b="1">
                <a:solidFill>
                  <a:srgbClr val="1E5EF3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>Ship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600" b="0">
                <a:solidFill>
                  <a:srgbClr val="B9D0FA"/>
                </a:solidFill>
                <a:latin typeface="Arial"/>
              </a:rPr>
              <a:t>A model in a notebook helps nobody - ship it where anyone can ask about a passenger like Owen or Florence.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FROM NOTEBOOK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Production is a loop, not a finish line - the model runs where real users can reach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Save the WHOLE pipeline: titanic_model_v1.joblib, 2,599 KB - raw data in, prediction out; re-coding the prep by hand invites silently wrong predictions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Load in a fresh process: no retraining, no notebook required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Version the file name (v1) so you always know what is running - and can roll back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Ng's rollout ladder for steps 4-5: SHADOW mode (model runs beside the human, predictions logged but unused), then CANARY (~5% of real traffic, watch, ramp), then full swap with a rollback path - deployment is a dial, not a switch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Monitoring closes the loop: drift detected means retrain and reship</a:t>
            </a:r>
          </a:p>
        </p:txBody>
      </p:sp>
      <p:pic>
        <p:nvPicPr>
          <p:cNvPr id="8" name="Picture 7" descr="s4_production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39319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The production loop: save, load, wrap, host, monitor, retrain. Module 2, notebook 3. Ng, Machine Learning Engineering for Production C1.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SANITY CHECK ON TWO PASSENGERS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The loaded pipeline answers a real question - a survival gap of 100% vs 3%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Loaded from disk, no retraining: raw passenger details in, verdict out.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An invented first-class woman, 30 (Fare 80, Cherbourg) - a passenger like Florence: survives, 100%.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An invented third-class man, 28 (Fare 7.9, Southampton) - a passenger like Owen: does not survive, 3%.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A probability is confidence, not a guarantee about one individual.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450" b="0">
                <a:solidFill>
                  <a:srgbClr val="202B38"/>
                </a:solidFill>
                <a:latin typeface="Arial"/>
              </a:rPr>
              <a:t>The gap reflects the Titanic's reality: class and sex decided lifeboat seats.</a:t>
            </a:r>
          </a:p>
        </p:txBody>
      </p:sp>
      <p:pic>
        <p:nvPicPr>
          <p:cNvPr id="8" name="Picture 7" descr="two_passen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74519"/>
            <a:ext cx="6492240" cy="29380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6062471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sz="1100" b="0">
                <a:solidFill>
                  <a:srgbClr val="5B6774"/>
                </a:solidFill>
                <a:latin typeface="Arial"/>
              </a:rPr>
              <a:t>Two invented sanity-check passengers, scored by the saved pipeline. Module 2, notebook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FROM MODEL TO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A few lines of Gradio turn the pipeline into a web app anyone can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94960" cy="4297680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391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0A2540"/>
                </a:solidFill>
                <a:latin typeface="Arial"/>
              </a:rPr>
              <a:t>Gradio: a function becomes a web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41447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Write a normal Python function: inputs in, answer out.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Gradio renders it as sliders, dropdowns and a text box.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Title is derived by rule (boys under 13 Master, men Mr).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On Colab, launch() gives a shareable temporary link.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74519"/>
            <a:ext cx="5394960" cy="4297680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039111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500" b="1">
                <a:solidFill>
                  <a:srgbClr val="0A2540"/>
                </a:solidFill>
                <a:latin typeface="Arial"/>
              </a:rPr>
              <a:t>Hugging Face Spaces: free hosting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441447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Four files: app.py, the model, requirements.txt, README.md.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Pin the scikit-learn version in requirements.txt.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Upload the files in the browser - that is the whole deploy.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No tokens or keys in code, ever - uploads stay in the browser.</a:t>
            </a:r>
          </a:p>
          <a:p>
            <a:pPr algn="l" indent="-228600" marL="228600">
              <a:spcAft>
                <a:spcPts val="600"/>
              </a:spcAft>
              <a:buClr>
                <a:srgbClr val="1E5EF3"/>
              </a:buClr>
              <a:buChar char="—"/>
            </a:pPr>
            <a:r>
              <a:rPr sz="1300" b="0">
                <a:solidFill>
                  <a:srgbClr val="202B38"/>
                </a:solidFill>
                <a:latin typeface="Arial"/>
              </a:rPr>
              <a:t>Result: a public URL anyone can open.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AFTER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After launch, reality bites: models go stale and accuracy alone does not 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The $1M Netflix Prize ensemble (about 800 models, a 10% RMSE gain) was never put into production.</a:t>
            </a:r>
          </a:p>
          <a:p>
            <a:pPr algn="l" lvl="1" indent="-228600" marL="514350">
              <a:spcAft>
                <a:spcPts val="600"/>
              </a:spcAft>
              <a:buClr>
                <a:srgbClr val="1E5EF3"/>
              </a:buClr>
              <a:buChar char="·"/>
            </a:pPr>
            <a:r>
              <a:rPr sz="1350" b="0">
                <a:solidFill>
                  <a:srgbClr val="5B6774"/>
                </a:solidFill>
                <a:latin typeface="Arial"/>
              </a:rPr>
              <a:t>Engineering cost outweighed the accuracy gain, and the business had moved to streaming. Netflix tech blog, 2012.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Two kinds of drift: DATA drift - the inputs change (different passengers start arriving); CONCEPT drift - the hidden rule f itself moves.</a:t>
            </a:r>
          </a:p>
          <a:p>
            <a:pPr algn="l" lvl="1" indent="-228600" marL="514350">
              <a:spcAft>
                <a:spcPts val="600"/>
              </a:spcAft>
              <a:buClr>
                <a:srgbClr val="1E5EF3"/>
              </a:buClr>
              <a:buChar char="·"/>
            </a:pPr>
            <a:r>
              <a:rPr sz="1350" b="0">
                <a:solidFill>
                  <a:srgbClr val="5B6774"/>
                </a:solidFill>
                <a:latin typeface="Arial"/>
              </a:rPr>
              <a:t>Same inputs, new outcomes: Session 1's Y = f(X) + ε, with f no longer standing still. Monitor inputs and outputs separately.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Google Flu Trends overestimated flu by more than 50% in 2011-13.</a:t>
            </a:r>
          </a:p>
          <a:p>
            <a:pPr algn="l" lvl="1" indent="-228600" marL="514350">
              <a:spcAft>
                <a:spcPts val="600"/>
              </a:spcAft>
              <a:buClr>
                <a:srgbClr val="1E5EF3"/>
              </a:buClr>
              <a:buChar char="·"/>
            </a:pPr>
            <a:r>
              <a:rPr sz="1350" b="0">
                <a:solidFill>
                  <a:srgbClr val="5B6774"/>
                </a:solidFill>
                <a:latin typeface="Arial"/>
              </a:rPr>
              <a:t>It once claimed about 11% of the US had flu; CDC data said about 6%.</a:t>
            </a:r>
          </a:p>
          <a:p>
            <a:pPr algn="l" lvl="1" indent="-228600" marL="514350">
              <a:spcAft>
                <a:spcPts val="600"/>
              </a:spcAft>
              <a:buClr>
                <a:srgbClr val="1E5EF3"/>
              </a:buClr>
              <a:buChar char="·"/>
            </a:pPr>
            <a:r>
              <a:rPr sz="1350" b="0">
                <a:solidFill>
                  <a:srgbClr val="5B6774"/>
                </a:solidFill>
                <a:latin typeface="Arial"/>
              </a:rPr>
              <a:t>It was essentially never retrained after 2009. Lazer et al., Science, 2014.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Version every saved model (model_v1, model_2026_09_06) so you can always roll back.</a:t>
            </a:r>
          </a:p>
          <a:p>
            <a:pPr algn="l" indent="-228600" marL="228600">
              <a:spcAft>
                <a:spcPts val="8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202B38"/>
                </a:solidFill>
                <a:latin typeface="Arial"/>
              </a:rPr>
              <a:t>Retrain on a schedule and re-score; monitoring is step 5 of the loop, not an afterthought.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457200" cy="54864"/>
          </a:xfrm>
          <a:prstGeom prst="rect">
            <a:avLst/>
          </a:prstGeom>
          <a:solidFill>
            <a:srgbClr val="1E5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100" b="1">
                <a:solidFill>
                  <a:srgbClr val="1E5EF3"/>
                </a:solidFill>
                <a:latin typeface="Arial"/>
              </a:rPr>
              <a:t>MODULE 2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>
                <a:solidFill>
                  <a:srgbClr val="0A2540"/>
                </a:solidFill>
                <a:latin typeface="Arial"/>
              </a:rPr>
              <a:t>M1 dashboards inform people - M2 models act inside products: the whole module in one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64208"/>
            <a:ext cx="11091672" cy="12801"/>
          </a:xfrm>
          <a:prstGeom prst="rect">
            <a:avLst/>
          </a:prstGeom>
          <a:solidFill>
            <a:srgbClr val="B9D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310128"/>
          <a:ext cx="1109167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778"/>
                <a:gridCol w="5028224"/>
                <a:gridCol w="4436668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What you built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The rule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Prep (NB1)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Split 80/20 first; impute, encode, scale; Title + FamilySize; one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Split first. Fit on train only. Pipelines always.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Select (NB2)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Six-model tournament, 5-fold CV; Dummy floor 0.617; LogReg wins 0.819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Baseline first; pick the metric that fits the problem.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Tune (NB3)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Grid + random search: 0.7937 to 0.8274; one test look: 0.8268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Search honestly; the test set is used exactly once.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Ship (NB3)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joblib save; Gradio app; Hugging Face Spaces; versioned v1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buNone/>
                      </a:pPr>
                      <a:r>
                        <a:rPr sz="1250" b="0">
                          <a:solidFill>
                            <a:srgbClr val="202B38"/>
                          </a:solidFill>
                          <a:latin typeface="Arial"/>
                        </a:rPr>
                        <a:t>Save the whole pipeline; monitor - models go stale.</a:t>
                      </a:r>
                    </a:p>
                  </a:txBody>
                  <a:tcPr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0533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1E5EF3"/>
                </a:solidFill>
                <a:latin typeface="Arial"/>
              </a:rPr>
              <a:t>M1 described the past for people to read; M2 learned from it so software can answer about the future. Module 3 adds the next layer: cloud ML APIs - consuming models other people have trained and deployed.</a:t>
            </a:r>
          </a:p>
        </p:txBody>
      </p:sp>
      <p:pic>
        <p:nvPicPr>
          <p:cNvPr id="9" name="Picture 8" descr="echo_da_vs_ml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7088"/>
            <a:ext cx="11091672" cy="14010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5B6774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Arial"/>
              </a:rPr>
              <a:t>Session 4 - what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Hyperparameters are the algorithm's own settings - tune them with CV, never the test set; every setting is a different algorithm.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Diagnose the failing bar before turning any knob; when knobs stall, count your errors before guessing.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Random search reached CV 0.8274; the one test look said 0.8268 - the tuning did not fool itself.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Ship the recipe retrained on everything, then the loop: save, load, wrap, host, monitor - and watch for data drift AND concept drift.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The manifest's last word: Survived = 0 for Owen, 1 for Florence, 1 for Frankie. The odds were never abstract.</a:t>
            </a:r>
          </a:p>
          <a:p>
            <a:pPr algn="l" indent="-228600" marL="228600">
              <a:spcAft>
                <a:spcPts val="1000"/>
              </a:spcAft>
              <a:buClr>
                <a:srgbClr val="1E5EF3"/>
              </a:buClr>
              <a:buChar char="—"/>
            </a:pPr>
            <a:r>
              <a:rPr sz="1600" b="0">
                <a:solidFill>
                  <a:srgbClr val="B9D0FA"/>
                </a:solidFill>
                <a:latin typeface="Arial"/>
              </a:rPr>
              <a:t>Practice now: notebook 03-model-optimization-and-deployment in Colab.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200" b="0">
                <a:solidFill>
                  <a:srgbClr val="B9D0FA"/>
                </a:solidFill>
                <a:latin typeface="Arial"/>
              </a:rPr>
              <a:t>Machine Learning - 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M2 Session 4 - Optimization and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buNone/>
            </a:pPr>
            <a:r>
              <a:rPr sz="900" b="0">
                <a:solidFill>
                  <a:srgbClr val="B9D0F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Session 4 - Optimization and Deployment</dc:title>
  <dc:subject/>
  <dc:creator>M2 Machine Learning course</dc:creator>
  <cp:keywords/>
  <dc:description/>
  <cp:lastModifiedBy>M2 Machine Learning course</cp:lastModifiedBy>
  <cp:revision>1</cp:revision>
  <dcterms:created xsi:type="dcterms:W3CDTF">2013-01-27T09:14:16Z</dcterms:created>
  <dcterms:modified xsi:type="dcterms:W3CDTF">2013-01-27T09:15:58Z</dcterms:modified>
  <cp:category/>
</cp:coreProperties>
</file>