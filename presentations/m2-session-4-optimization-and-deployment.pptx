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Orthogonalization is a long word for a simple demand: one knob, one job. A radio where every knob changes volume, station and tone at once cannot be tuned - and turning random ML knobs is that radio. Walk the ladder bottom-up: learn the training data, pass the practice tests (that is cross-validation from Session 3), hold up on the final exam, work in the real world. First name the rung you are failing, then reach for that rung's knob only. Ask the class: your model aces training but flops on the practice tests - which rung, which knob?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kitchen carries this one: the oven temperature is a hyperparameter - you set it before baking; what happens to the ingredients inside is the parameters - the process finds those itself. You never hand-set a parameter, and the model never chooses a hyperparameter. Ask the class: max_depth of a tree - oven dial or cake batter?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Deflate the new word: tuning is nothing but Session 3's tournament run again, with versions of one model as the contestants instead of six different families. MIT's reframe makes it legitimate: two settings really are two algorithms. Same referee, same rules, new entrants. Ask the class: if you already trust the tournament from last week, what is actually new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does the arguing: both panels spend nine trials, but the grid lines its shots up in three columns, so the knob that matters only ever sees three values - the ticks under the axis count them. Random scatters, so the important knob gets nine different values for the same budget. Ask the class: you get 20 trials and five knobs - grid or random, and why?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 analysis is deliberately low-tech: open the mistakes, look at them by hand, and tally them into categories in a spreadsheet. The bottom row of percentages is the priority list - a 5% category cannot pay for a month of work, a 50% category is the month. Warn them about the guard: you will overfit whatever you stare at, hence the Eyeball/Blackbox split. Ask the class: why count first and fix second, not the other way round?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scoreboard: with a single agreed number, ten experiments rank themselves; with three numbers, every comparison becomes a meeting. When something else genuinely matters - safety, speed - it becomes a bar to clear, not a second score to chase; exactly one number stays on the scoreboard. Ask the class: A wins precision, B wins recall - without a combiner, who ships?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theory on the exam metaphor: practice tests choose your strategy - retake them all you like; the final exam grades it - and you sit it once. The moment you pick your strategy using the final's questions, the final stops measuring anything. Ask the class: why does a score you optimized against stop being a forecast?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Theory made real: 18 grid combos and 15 random draws all ran Session 3's tournament again, refereed by the same 5-fold CV, test set sealed. Grid best: max_depth 4, min_samples_leaf 5, 100 trees. Random found a better setting with fewer tries - exactly the slide-6 prediction. Read the winning knobs out loud: capped depth and bigger leaves are brakes - 'regularization' is the textbook word for such brakes. A little bias buys a big drop in variance: Session 3's U-curve, found automatically. Ask the class: why is it no surprise the winner has LESS freedom than the default forest?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exam, sat once: the practice tests promised 0.8274 and the sealed final answered 0.8268 - a gap of 0.0006. That agreement is the reward for never peeking: a search judged honestly generalizes. Also set expectations: tuning bought about one percentage point, not a miracle. Ask the class: if we had checked the test score after every tuning try, what would this chart look like - and could we still trust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boxes left to right; the raised blue one is the step beginners never guess: after CV has chosen the winner, throw the fold models away and retrain the winning RECIPE on every row you own - more data makes a better final model. Then the two red arrows: test data may never flow back into training, and a score you selected with may never be your report card. Ask the class: after retraining on all 891 rows, why can't we measure the new model's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Production, in plain words: the model runs somewhere real users can reach it. Follow the circle clockwise from 1. Save - the blue box, today's first step; 6. Retrain is dark because it closes the circle and starts it again. Stress Ng's rollout ladder: shadow first (the model watches, nobody acts on it), canary next (a sliver of real traffic), full swap last - deployment is a dial, not a switch. Ask the class: why is there no 'done' box anywhere on this diagram?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it becomes real: a saved file, loaded in a fresh process, answers about people it has never seen. The two passengers are invented, but built to resemble the module's recurring ones - Owen, the third-class man, and Florence, the first-class woman. Read a probability honestly: 3% means 'of 100 very similar passengers, about 3 survive' - confidence, not a verdict on one person. Ask the class: why test on invented passengers instead of rows from the test set?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 both names before the clicks: Gradio is just a Python library that draws a web form around a normal function - inputs in, answer out. Hugging Face Spaces is just a free public shelf that runs that form at a URL. Four files uploaded in the browser and the model is live - no server administration. Two habits to call out: pin the scikit-learn version so the loaded pipeline matches the saved one, and never paste tokens or keys into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cautionary tales, both real. Netflix paid $1M for a 10% better model and never shipped it - accuracy alone does not ship; engineering cost and a business that had moved to streaming killed it. Google Flu Trends kept running an essentially untouched 2009 model and drifted to overestimating flu by more than 50% - claiming about 11% of the US had flu when CDC data said about 6%. Ask the class: which kind of drift was Flu Trends - the inputs changing, or the hidden rule moving?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058400" cy="365760"/>
          </a:xfrm>
          <a:prstGeom prst="rect">
            <a:avLst/>
          </a:prstGeom>
          <a:noFill/>
        </p:spPr>
        <p:txBody>
          <a:bodyPr wrap="square">
            <a:spAutoFit/>
          </a:bodyPr>
          <a:lstStyle/>
          <a:p>
            <a:pPr algn="l">
              <a:spcAft>
                <a:spcPts val="600"/>
              </a:spcAft>
              <a:buNone/>
            </a:pPr>
            <a:r>
              <a:rPr sz="1400" b="1">
                <a:solidFill>
                  <a:srgbClr val="1E5EF3"/>
                </a:solidFill>
                <a:latin typeface="Arial"/>
              </a:rPr>
              <a:t>SESSION 4 OF 4</a:t>
            </a:r>
          </a:p>
        </p:txBody>
      </p:sp>
      <p:sp>
        <p:nvSpPr>
          <p:cNvPr id="5" name="TextBox 4"/>
          <p:cNvSpPr txBox="1"/>
          <p:nvPr/>
        </p:nvSpPr>
        <p:spPr>
          <a:xfrm>
            <a:off x="914400" y="2377440"/>
            <a:ext cx="10332720" cy="1737360"/>
          </a:xfrm>
          <a:prstGeom prst="rect">
            <a:avLst/>
          </a:prstGeom>
          <a:noFill/>
        </p:spPr>
        <p:txBody>
          <a:bodyPr wrap="square">
            <a:spAutoFit/>
          </a:bodyPr>
          <a:lstStyle/>
          <a:p>
            <a:pPr algn="l">
              <a:spcAft>
                <a:spcPts val="0"/>
              </a:spcAft>
              <a:buNone/>
            </a:pPr>
            <a:r>
              <a:rPr sz="4400" b="1">
                <a:solidFill>
                  <a:srgbClr val="0A2540"/>
                </a:solidFill>
                <a:latin typeface="Arial"/>
              </a:rPr>
              <a:t>Tuning and Shipping the Model</a:t>
            </a:r>
          </a:p>
        </p:txBody>
      </p:sp>
      <p:sp>
        <p:nvSpPr>
          <p:cNvPr id="6" name="TextBox 5"/>
          <p:cNvSpPr txBox="1"/>
          <p:nvPr/>
        </p:nvSpPr>
        <p:spPr>
          <a:xfrm>
            <a:off x="914400" y="4114800"/>
            <a:ext cx="9601200" cy="822960"/>
          </a:xfrm>
          <a:prstGeom prst="rect">
            <a:avLst/>
          </a:prstGeom>
          <a:noFill/>
        </p:spPr>
        <p:txBody>
          <a:bodyPr wrap="square">
            <a:spAutoFit/>
          </a:bodyPr>
          <a:lstStyle/>
          <a:p>
            <a:pPr algn="l">
              <a:spcAft>
                <a:spcPts val="600"/>
              </a:spcAft>
              <a:buNone/>
            </a:pPr>
            <a:r>
              <a:rPr sz="1800" b="0">
                <a:solidFill>
                  <a:srgbClr val="5B6774"/>
                </a:solidFill>
                <a:latin typeface="Arial"/>
              </a:rPr>
              <a:t>Session 3's Random Forest gets tuned, the test set gets its one look, and the model leaves the notebook: a public app anyone can ask about a passenger like Owen or Florence.</a:t>
            </a:r>
          </a:p>
        </p:txBody>
      </p:sp>
      <p:sp>
        <p:nvSpPr>
          <p:cNvPr id="7" name="TextBox 6"/>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5B6774"/>
                </a:solidFill>
                <a:latin typeface="Arial"/>
              </a:rPr>
              <a:t>Machine Learning - Module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WHERE WE ARE - NG'S ORTHOGONALIZATION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Tune one knob at a time: four rungs, each with its own knobs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Orthogonalization - in plain words: one knob does one job; a radio whose knobs all do everything is untunable.</a:t>
            </a:r>
          </a:p>
          <a:p>
            <a:pPr algn="l" indent="-228600" marL="228600">
              <a:spcAft>
                <a:spcPts val="800"/>
              </a:spcAft>
              <a:buClr>
                <a:srgbClr val="1E5EF3"/>
              </a:buClr>
              <a:buChar char="—"/>
            </a:pPr>
            <a:r>
              <a:rPr sz="1450" b="0">
                <a:solidFill>
                  <a:srgbClr val="202B38"/>
                </a:solidFill>
                <a:latin typeface="Arial"/>
              </a:rPr>
              <a:t>How to read the ladder: climb from the bottom rung; each rung is one problem, fixed by its OWN knobs - never someone else's.</a:t>
            </a:r>
          </a:p>
          <a:p>
            <a:pPr algn="l" indent="-228600" marL="228600">
              <a:spcAft>
                <a:spcPts val="800"/>
              </a:spcAft>
              <a:buClr>
                <a:srgbClr val="1E5EF3"/>
              </a:buClr>
              <a:buChar char="—"/>
            </a:pPr>
            <a:r>
              <a:rPr sz="1450" b="0">
                <a:solidFill>
                  <a:srgbClr val="202B38"/>
                </a:solidFill>
                <a:latin typeface="Arial"/>
              </a:rPr>
              <a:t>Where we are: a leak-proof pipeline, 712 training / 179 test rows, 18 features.</a:t>
            </a:r>
          </a:p>
          <a:p>
            <a:pPr algn="l" indent="-228600" marL="228600">
              <a:spcAft>
                <a:spcPts val="800"/>
              </a:spcAft>
              <a:buClr>
                <a:srgbClr val="1E5EF3"/>
              </a:buClr>
              <a:buChar char="—"/>
            </a:pPr>
            <a:r>
              <a:rPr sz="1450" b="0">
                <a:solidFill>
                  <a:srgbClr val="202B38"/>
                </a:solidFill>
                <a:latin typeface="Arial"/>
              </a:rPr>
              <a:t>LogReg won Session 3 (CV 0.819, test 0.838) but has no knobs left; the Random Forest (CV 0.797) has the most - today's candidate.</a:t>
            </a:r>
          </a:p>
          <a:p>
            <a:pPr algn="l" indent="-228600" marL="228600">
              <a:spcAft>
                <a:spcPts val="800"/>
              </a:spcAft>
              <a:buClr>
                <a:srgbClr val="1E5EF3"/>
              </a:buClr>
              <a:buChar char="—"/>
            </a:pPr>
            <a:r>
              <a:rPr sz="1450" b="0">
                <a:solidFill>
                  <a:srgbClr val="202B38"/>
                </a:solidFill>
                <a:latin typeface="Arial"/>
              </a:rPr>
              <a:t>Diagnose WHICH rung you are failing before touching any knob: compare the training score with the practice-test (CV) score.</a:t>
            </a:r>
          </a:p>
          <a:p>
            <a:pPr algn="l" indent="-228600" marL="228600">
              <a:spcAft>
                <a:spcPts val="800"/>
              </a:spcAft>
              <a:buClr>
                <a:srgbClr val="1E5EF3"/>
              </a:buClr>
              <a:buChar char="—"/>
            </a:pPr>
            <a:r>
              <a:rPr sz="1450" b="0">
                <a:solidFill>
                  <a:srgbClr val="202B38"/>
                </a:solidFill>
                <a:latin typeface="Arial"/>
              </a:rPr>
              <a:t>TODAY tags our rungs: pass the practice tests (tuning), then work in the real world (shipping).</a:t>
            </a:r>
          </a:p>
        </p:txBody>
      </p:sp>
      <p:pic>
        <p:nvPicPr>
          <p:cNvPr id="8" name="Picture 7" descr="orthogonalization_ladder.png"/>
          <p:cNvPicPr>
            <a:picLocks noChangeAspect="1"/>
          </p:cNvPicPr>
          <p:nvPr/>
        </p:nvPicPr>
        <p:blipFill>
          <a:blip r:embed="rId2"/>
          <a:stretch>
            <a:fillRect/>
          </a:stretch>
        </p:blipFill>
        <p:spPr>
          <a:xfrm>
            <a:off x="5291025" y="1874519"/>
            <a:ext cx="6151470"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Ng's orthogonalization ladder: one job per knob. "Practice tests" = 5-fold cross-validation from Session 3. Ng, Deep Learning Specialization C3 "Structuring ML Projects".</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01</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1 - The theory: tuning and judging without fooling yourself</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Six ideas that hold for every model you will ever tune - the referee stays cross-validation, and the test set stays sealed.</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M2 Session 4 - Optimization and Deployment</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THEORY - TWO KINDS OF SETTINGS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model learns its parameters - you set the hyperparameters before training</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Parameters: the model learns them</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Learned from the data during training - fit() finds them.</a:t>
            </a:r>
          </a:p>
          <a:p>
            <a:pPr algn="l" indent="-228600" marL="228600">
              <a:spcAft>
                <a:spcPts val="600"/>
              </a:spcAft>
              <a:buClr>
                <a:srgbClr val="1E5EF3"/>
              </a:buClr>
              <a:buChar char="—"/>
            </a:pPr>
            <a:r>
              <a:rPr sz="1300" b="0">
                <a:solidFill>
                  <a:srgbClr val="202B38"/>
                </a:solidFill>
                <a:latin typeface="Arial"/>
              </a:rPr>
              <a:t>Example: the split rules inside every tree of the forest.</a:t>
            </a:r>
          </a:p>
          <a:p>
            <a:pPr algn="l" indent="-228600" marL="228600">
              <a:spcAft>
                <a:spcPts val="600"/>
              </a:spcAft>
              <a:buClr>
                <a:srgbClr val="1E5EF3"/>
              </a:buClr>
              <a:buChar char="—"/>
            </a:pPr>
            <a:r>
              <a:rPr sz="1300" b="0">
                <a:solidFill>
                  <a:srgbClr val="202B38"/>
                </a:solidFill>
                <a:latin typeface="Arial"/>
              </a:rPr>
              <a:t>There are thousands; you never set one by hand.</a:t>
            </a:r>
          </a:p>
          <a:p>
            <a:pPr algn="l" indent="-228600" marL="228600">
              <a:spcAft>
                <a:spcPts val="600"/>
              </a:spcAft>
              <a:buClr>
                <a:srgbClr val="1E5EF3"/>
              </a:buClr>
              <a:buChar char="—"/>
            </a:pPr>
            <a:r>
              <a:rPr sz="1300" b="0">
                <a:solidFill>
                  <a:srgbClr val="202B38"/>
                </a:solidFill>
                <a:latin typeface="Arial"/>
              </a:rPr>
              <a:t>In the kitchen: how the ingredients turn into cake.</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Hyperparameters: you choose them</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Chosen by you before training starts.</a:t>
            </a:r>
          </a:p>
          <a:p>
            <a:pPr algn="l" indent="-228600" marL="228600">
              <a:spcAft>
                <a:spcPts val="600"/>
              </a:spcAft>
              <a:buClr>
                <a:srgbClr val="1E5EF3"/>
              </a:buClr>
              <a:buChar char="—"/>
            </a:pPr>
            <a:r>
              <a:rPr sz="1300" b="0">
                <a:solidFill>
                  <a:srgbClr val="202B38"/>
                </a:solidFill>
                <a:latin typeface="Arial"/>
              </a:rPr>
              <a:t>Examples: n_estimators (how many trees), max_depth (how deep).</a:t>
            </a:r>
          </a:p>
          <a:p>
            <a:pPr algn="l" indent="-228600" marL="228600">
              <a:spcAft>
                <a:spcPts val="600"/>
              </a:spcAft>
              <a:buClr>
                <a:srgbClr val="1E5EF3"/>
              </a:buClr>
              <a:buChar char="—"/>
            </a:pPr>
            <a:r>
              <a:rPr sz="1300" b="0">
                <a:solidFill>
                  <a:srgbClr val="202B38"/>
                </a:solidFill>
                <a:latin typeface="Arial"/>
              </a:rPr>
              <a:t>Tuning = try different knob positions, keep the best result.</a:t>
            </a:r>
          </a:p>
          <a:p>
            <a:pPr algn="l" indent="-228600" marL="228600">
              <a:spcAft>
                <a:spcPts val="600"/>
              </a:spcAft>
              <a:buClr>
                <a:srgbClr val="1E5EF3"/>
              </a:buClr>
              <a:buChar char="—"/>
            </a:pPr>
            <a:r>
              <a:rPr sz="1300" b="0">
                <a:solidFill>
                  <a:srgbClr val="202B38"/>
                </a:solidFill>
                <a:latin typeface="Arial"/>
              </a:rPr>
              <a:t>In the kitchen: the oven temperature - set before baking.</a:t>
            </a:r>
          </a:p>
          <a:p>
            <a:pPr algn="l" indent="-228600" marL="228600">
              <a:spcAft>
                <a:spcPts val="600"/>
              </a:spcAft>
              <a:buClr>
                <a:srgbClr val="1E5EF3"/>
              </a:buClr>
              <a:buChar char="—"/>
            </a:pPr>
            <a:r>
              <a:rPr sz="1300" b="0">
                <a:solidFill>
                  <a:srgbClr val="202B38"/>
                </a:solidFill>
                <a:latin typeface="Arial"/>
              </a:rPr>
              <a:t>MIT's sharper cut: they sit OUTSIDE Session 1's three-slot recipe (model, loss, optimizer).</a:t>
            </a:r>
          </a:p>
          <a:p>
            <a:pPr algn="l" indent="-228600" marL="228600">
              <a:spcAft>
                <a:spcPts val="600"/>
              </a:spcAft>
              <a:buClr>
                <a:srgbClr val="1E5EF3"/>
              </a:buClr>
              <a:buChar char="—"/>
            </a:pPr>
            <a:r>
              <a:rPr sz="1300" b="0">
                <a:solidFill>
                  <a:srgbClr val="202B38"/>
                </a:solidFill>
                <a:latin typeface="Arial"/>
              </a:rPr>
              <a:t>They define the game the learner plays - before it starts.</a:t>
            </a:r>
          </a:p>
          <a:p>
            <a:pPr algn="l" indent="-228600" marL="228600">
              <a:spcAft>
                <a:spcPts val="600"/>
              </a:spcAft>
              <a:buClr>
                <a:srgbClr val="1E5EF3"/>
              </a:buClr>
              <a:buChar char="—"/>
            </a:pPr>
            <a:r>
              <a:rPr sz="1300" b="0">
                <a:solidFill>
                  <a:srgbClr val="202B38"/>
                </a:solidFill>
                <a:latin typeface="Arial"/>
              </a:rPr>
              <a:t>Same algorithm, two settings = two different algorithms. MIT 6.390, Appendix C.</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Baking analogy: the oven temperature is a hyperparameter you set; how the ingredients turn into cake is the parameters.</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THEORY - TUNING IS COMPARING</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Tuning is not a new skill - two settings of one algorithm are two different algorithms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Tuning - in plain words: Session 3's tournament again, now between versions of one model.</a:t>
            </a:r>
          </a:p>
          <a:p>
            <a:pPr algn="l" indent="-228600" marL="228600">
              <a:spcAft>
                <a:spcPts val="800"/>
              </a:spcAft>
              <a:buClr>
                <a:srgbClr val="1E5EF3"/>
              </a:buClr>
              <a:buChar char="—"/>
            </a:pPr>
            <a:r>
              <a:rPr sz="1450" b="0">
                <a:solidFill>
                  <a:srgbClr val="202B38"/>
                </a:solidFill>
                <a:latin typeface="Arial"/>
              </a:rPr>
              <a:t>How to read it: two settings walk in; one referee - the same 5 practice tests (cross-validation) - picks the winner.</a:t>
            </a:r>
          </a:p>
          <a:p>
            <a:pPr algn="l" indent="-228600" marL="228600">
              <a:spcAft>
                <a:spcPts val="800"/>
              </a:spcAft>
              <a:buClr>
                <a:srgbClr val="1E5EF3"/>
              </a:buClr>
              <a:buChar char="—"/>
            </a:pPr>
            <a:r>
              <a:rPr sz="1450" b="0">
                <a:solidFill>
                  <a:srgbClr val="202B38"/>
                </a:solidFill>
                <a:latin typeface="Arial"/>
              </a:rPr>
              <a:t>MIT's reframe: a forest capped at depth 4 and a forest allowed depth 8 are two different algorithms - same name, different game.</a:t>
            </a:r>
          </a:p>
          <a:p>
            <a:pPr algn="l" indent="-228600" marL="228600">
              <a:spcAft>
                <a:spcPts val="800"/>
              </a:spcAft>
              <a:buClr>
                <a:srgbClr val="1E5EF3"/>
              </a:buClr>
              <a:buChar char="—"/>
            </a:pPr>
            <a:r>
              <a:rPr sz="1450" b="0">
                <a:solidFill>
                  <a:srgbClr val="202B38"/>
                </a:solidFill>
                <a:latin typeface="Arial"/>
              </a:rPr>
              <a:t>So tuning is a problem you already solved: Session 3 compared six model families; tuning compares variants of one.</a:t>
            </a:r>
          </a:p>
          <a:p>
            <a:pPr algn="l" indent="-228600" marL="228600">
              <a:spcAft>
                <a:spcPts val="800"/>
              </a:spcAft>
              <a:buClr>
                <a:srgbClr val="1E5EF3"/>
              </a:buClr>
              <a:buChar char="—"/>
            </a:pPr>
            <a:r>
              <a:rPr sz="1450" b="0">
                <a:solidFill>
                  <a:srgbClr val="202B38"/>
                </a:solidFill>
                <a:latin typeface="Arial"/>
              </a:rPr>
              <a:t>The referee never changes: each variant is scored on rows it never trained on; the best score wins.</a:t>
            </a:r>
          </a:p>
          <a:p>
            <a:pPr algn="l" indent="-228600" marL="228600">
              <a:spcAft>
                <a:spcPts val="800"/>
              </a:spcAft>
              <a:buClr>
                <a:srgbClr val="1E5EF3"/>
              </a:buClr>
              <a:buChar char="—"/>
            </a:pPr>
            <a:r>
              <a:rPr sz="1450" b="0">
                <a:solidFill>
                  <a:srgbClr val="202B38"/>
                </a:solidFill>
                <a:latin typeface="Arial"/>
              </a:rPr>
              <a:t>Harvard files hyperparameter tuning under model selection, next to choosing predictors: one discipline, not two.</a:t>
            </a:r>
          </a:p>
        </p:txBody>
      </p:sp>
      <p:pic>
        <p:nvPicPr>
          <p:cNvPr id="8" name="Picture 7" descr="two_settings_one_referee.png"/>
          <p:cNvPicPr>
            <a:picLocks noChangeAspect="1"/>
          </p:cNvPicPr>
          <p:nvPr/>
        </p:nvPicPr>
        <p:blipFill>
          <a:blip r:embed="rId2"/>
          <a:stretch>
            <a:fillRect/>
          </a:stretch>
        </p:blipFill>
        <p:spPr>
          <a:xfrm>
            <a:off x="5120640" y="1874519"/>
            <a:ext cx="6492240" cy="328933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Two settings of one forest, judged by the same referee - illustration. MIT 6.390, Appendix C; Harvard CS109A.</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THEORY - SEARCH STRATEGY</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Knobs are not equally important - random search tests nine values of the one that matters, a grid tests three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each dot = one try; darker blue = better score; the ticks below count the distinct values tried.</a:t>
            </a:r>
          </a:p>
          <a:p>
            <a:pPr algn="l" indent="-228600" marL="228600">
              <a:spcAft>
                <a:spcPts val="800"/>
              </a:spcAft>
              <a:buClr>
                <a:srgbClr val="1E5EF3"/>
              </a:buClr>
              <a:buChar char="—"/>
            </a:pPr>
            <a:r>
              <a:rPr sz="1450" b="0">
                <a:solidFill>
                  <a:srgbClr val="202B38"/>
                </a:solidFill>
                <a:latin typeface="Arial"/>
              </a:rPr>
              <a:t>Grid vs random - in plain words: a grid re-tests the same few values; random tries a new value every time.</a:t>
            </a:r>
          </a:p>
          <a:p>
            <a:pPr algn="l" indent="-228600" marL="228600">
              <a:spcAft>
                <a:spcPts val="800"/>
              </a:spcAft>
              <a:buClr>
                <a:srgbClr val="1E5EF3"/>
              </a:buClr>
              <a:buChar char="—"/>
            </a:pPr>
            <a:r>
              <a:rPr sz="1450" b="0">
                <a:solidFill>
                  <a:srgbClr val="202B38"/>
                </a:solidFill>
                <a:latin typeface="Arial"/>
              </a:rPr>
              <a:t>Typically one or two knobs dominate the score - and you do not know in advance which.</a:t>
            </a:r>
          </a:p>
          <a:p>
            <a:pPr algn="l" indent="-228600" marL="228600">
              <a:spcAft>
                <a:spcPts val="800"/>
              </a:spcAft>
              <a:buClr>
                <a:srgbClr val="1E5EF3"/>
              </a:buClr>
              <a:buChar char="—"/>
            </a:pPr>
            <a:r>
              <a:rPr sz="1450" b="0">
                <a:solidFill>
                  <a:srgbClr val="202B38"/>
                </a:solidFill>
                <a:latin typeface="Arial"/>
              </a:rPr>
              <a:t>The grid's nine tries line up in three columns: only three values of the knob that matters.</a:t>
            </a:r>
          </a:p>
          <a:p>
            <a:pPr algn="l" indent="-228600" marL="228600">
              <a:spcAft>
                <a:spcPts val="800"/>
              </a:spcAft>
              <a:buClr>
                <a:srgbClr val="1E5EF3"/>
              </a:buClr>
              <a:buChar char="—"/>
            </a:pPr>
            <a:r>
              <a:rPr sz="1450" b="0">
                <a:solidFill>
                  <a:srgbClr val="202B38"/>
                </a:solidFill>
                <a:latin typeface="Arial"/>
              </a:rPr>
              <a:t>Nine random tries scatter: nine values of that same knob.</a:t>
            </a:r>
          </a:p>
          <a:p>
            <a:pPr algn="l" indent="-228600" marL="228600">
              <a:spcAft>
                <a:spcPts val="800"/>
              </a:spcAft>
              <a:buClr>
                <a:srgbClr val="1E5EF3"/>
              </a:buClr>
              <a:buChar char="—"/>
            </a:pPr>
            <a:r>
              <a:rPr sz="1450" b="0">
                <a:solidFill>
                  <a:srgbClr val="202B38"/>
                </a:solidFill>
                <a:latin typeface="Arial"/>
              </a:rPr>
              <a:t>Same budget, more information - that is why random search usually wins beyond a couple of knobs.</a:t>
            </a:r>
          </a:p>
          <a:p>
            <a:pPr algn="l" indent="-228600" marL="228600">
              <a:spcAft>
                <a:spcPts val="800"/>
              </a:spcAft>
              <a:buClr>
                <a:srgbClr val="1E5EF3"/>
              </a:buClr>
              <a:buChar char="—"/>
            </a:pPr>
            <a:r>
              <a:rPr sz="1450" b="0">
                <a:solidFill>
                  <a:srgbClr val="202B38"/>
                </a:solidFill>
                <a:latin typeface="Arial"/>
              </a:rPr>
              <a:t>The referee never changes: every try is scored by the same cross-validation.</a:t>
            </a:r>
          </a:p>
        </p:txBody>
      </p:sp>
      <p:pic>
        <p:nvPicPr>
          <p:cNvPr id="8" name="Picture 7" descr="grid_vs_random.png"/>
          <p:cNvPicPr>
            <a:picLocks noChangeAspect="1"/>
          </p:cNvPicPr>
          <p:nvPr/>
        </p:nvPicPr>
        <p:blipFill>
          <a:blip r:embed="rId2"/>
          <a:stretch>
            <a:fillRect/>
          </a:stretch>
        </p:blipFill>
        <p:spPr>
          <a:xfrm>
            <a:off x="5140324" y="1874519"/>
            <a:ext cx="6452871"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Nine trials spent two ways on a landscape where one knob matters - illustration.</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THEORY - ERROR ANALYSIS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Before turning more knobs, read the mistakes - an hour of counting beats a week of guessing</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each row = one wrong prediction; each X = the category it falls into; the bottom row totals the percentages.</a:t>
            </a:r>
          </a:p>
          <a:p>
            <a:pPr algn="l" indent="-228600" marL="228600">
              <a:spcAft>
                <a:spcPts val="800"/>
              </a:spcAft>
              <a:buClr>
                <a:srgbClr val="1E5EF3"/>
              </a:buClr>
              <a:buChar char="—"/>
            </a:pPr>
            <a:r>
              <a:rPr sz="1450" b="0">
                <a:solidFill>
                  <a:srgbClr val="202B38"/>
                </a:solidFill>
                <a:latin typeface="Arial"/>
              </a:rPr>
              <a:t>The method: pull ~100 wrong predictions, look at them by hand, tally them in a spreadsheet.</a:t>
            </a:r>
          </a:p>
          <a:p>
            <a:pPr algn="l" indent="-228600" marL="228600">
              <a:spcAft>
                <a:spcPts val="800"/>
              </a:spcAft>
              <a:buClr>
                <a:srgbClr val="1E5EF3"/>
              </a:buClr>
              <a:buChar char="—"/>
            </a:pPr>
            <a:r>
              <a:rPr sz="1450" b="0">
                <a:solidFill>
                  <a:srgbClr val="202B38"/>
                </a:solidFill>
                <a:latin typeface="Arial"/>
              </a:rPr>
              <a:t>The bottom row IS the priority list: a 5% category cannot repay a month of work; the 50% one (shaded) is where the month goes.</a:t>
            </a:r>
          </a:p>
          <a:p>
            <a:pPr algn="l" indent="-228600" marL="228600">
              <a:spcAft>
                <a:spcPts val="800"/>
              </a:spcAft>
              <a:buClr>
                <a:srgbClr val="1E5EF3"/>
              </a:buClr>
              <a:buChar char="—"/>
            </a:pPr>
            <a:r>
              <a:rPr sz="1450" b="0">
                <a:solidFill>
                  <a:srgbClr val="202B38"/>
                </a:solidFill>
                <a:latin typeface="Arial"/>
              </a:rPr>
              <a:t>Guard: inspect only an "Eyeball" sample; keep a "Blackbox" part you never look at - you overfit whatever you stare at.</a:t>
            </a:r>
          </a:p>
          <a:p>
            <a:pPr algn="l" indent="-228600" marL="228600">
              <a:spcAft>
                <a:spcPts val="800"/>
              </a:spcAft>
              <a:buClr>
                <a:srgbClr val="1E5EF3"/>
              </a:buClr>
              <a:buChar char="—"/>
            </a:pPr>
            <a:r>
              <a:rPr sz="1450" b="0">
                <a:solidFill>
                  <a:srgbClr val="202B38"/>
                </a:solidFill>
                <a:latin typeface="Arial"/>
              </a:rPr>
              <a:t>Exercise: tally our champion's wrong test predictions (family size? fare band? title?) - count first, fix second.</a:t>
            </a:r>
          </a:p>
        </p:txBody>
      </p:sp>
      <p:pic>
        <p:nvPicPr>
          <p:cNvPr id="8" name="Picture 7" descr="error_analysis_sheet.png"/>
          <p:cNvPicPr>
            <a:picLocks noChangeAspect="1"/>
          </p:cNvPicPr>
          <p:nvPr/>
        </p:nvPicPr>
        <p:blipFill>
          <a:blip r:embed="rId2"/>
          <a:stretch>
            <a:fillRect/>
          </a:stretch>
        </p:blipFill>
        <p:spPr>
          <a:xfrm>
            <a:off x="5120640" y="1874519"/>
            <a:ext cx="6492240" cy="4026761"/>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The method, on Ng's classic image-classifier example - illustration, not our data. Ng, Machine Learning Yearning chs. 14-19.</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THEORY - ONE NUMBER TO STEER BY</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Agree on one evaluation number before you experiment - it makes every comparison instant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The deadlock in the table: A wins precision, B wins recall - two numbers cannot rank two models.</a:t>
            </a:r>
          </a:p>
          <a:p>
            <a:pPr algn="l" indent="-228600" marL="228600">
              <a:spcAft>
                <a:spcPts val="800"/>
              </a:spcAft>
              <a:buClr>
                <a:srgbClr val="1E5EF3"/>
              </a:buClr>
              <a:buChar char="—"/>
            </a:pPr>
            <a:r>
              <a:rPr sz="1450" b="0">
                <a:solidFill>
                  <a:srgbClr val="202B38"/>
                </a:solidFill>
                <a:latin typeface="Arial"/>
              </a:rPr>
              <a:t>The blue F1 column combines both into one number - and B wins. Deadlock broken.</a:t>
            </a:r>
          </a:p>
          <a:p>
            <a:pPr algn="l" indent="-228600" marL="228600">
              <a:spcAft>
                <a:spcPts val="800"/>
              </a:spcAft>
              <a:buClr>
                <a:srgbClr val="1E5EF3"/>
              </a:buClr>
              <a:buChar char="—"/>
            </a:pPr>
            <a:r>
              <a:rPr sz="1450" b="0">
                <a:solidFill>
                  <a:srgbClr val="202B38"/>
                </a:solidFill>
                <a:latin typeface="Arial"/>
              </a:rPr>
              <a:t>The doctrine - in plain words: one scoreboard; teams argue forever with two scoreboards.</a:t>
            </a:r>
          </a:p>
          <a:p>
            <a:pPr algn="l" indent="-228600" marL="228600">
              <a:spcAft>
                <a:spcPts val="800"/>
              </a:spcAft>
              <a:buClr>
                <a:srgbClr val="1E5EF3"/>
              </a:buClr>
              <a:buChar char="—"/>
            </a:pPr>
            <a:r>
              <a:rPr sz="1450" b="0">
                <a:solidFill>
                  <a:srgbClr val="202B38"/>
                </a:solidFill>
                <a:latin typeface="Arial"/>
              </a:rPr>
              <a:t>F1 punishes imbalance: precision 0.9 with recall 0.1 scores near 0.18, not 0.5 - a useless side cannot hide.</a:t>
            </a:r>
          </a:p>
          <a:p>
            <a:pPr algn="l" indent="-228600" marL="228600">
              <a:spcAft>
                <a:spcPts val="800"/>
              </a:spcAft>
              <a:buClr>
                <a:srgbClr val="1E5EF3"/>
              </a:buClr>
              <a:buChar char="—"/>
            </a:pPr>
            <a:r>
              <a:rPr sz="1450" b="0">
                <a:solidFill>
                  <a:srgbClr val="202B38"/>
                </a:solidFill>
                <a:latin typeface="Arial"/>
              </a:rPr>
              <a:t>Something else matters too (safety, speed)? SATISFICE it: a bar to clear, not a score to chase. Maximize exactly ONE metric.</a:t>
            </a:r>
          </a:p>
          <a:p>
            <a:pPr algn="l" indent="-228600" marL="228600">
              <a:spcAft>
                <a:spcPts val="800"/>
              </a:spcAft>
              <a:buClr>
                <a:srgbClr val="1E5EF3"/>
              </a:buClr>
              <a:buChar char="—"/>
            </a:pPr>
            <a:r>
              <a:rPr sz="1450" b="0">
                <a:solidFill>
                  <a:srgbClr val="202B38"/>
                </a:solidFill>
                <a:latin typeface="Arial"/>
              </a:rPr>
              <a:t>Set the metric and the validation data at project start: they define "better" for the whole team.</a:t>
            </a:r>
          </a:p>
        </p:txBody>
      </p:sp>
      <p:pic>
        <p:nvPicPr>
          <p:cNvPr id="8" name="Picture 7" descr="single_number_scoreboard.png"/>
          <p:cNvPicPr>
            <a:picLocks noChangeAspect="1"/>
          </p:cNvPicPr>
          <p:nvPr/>
        </p:nvPicPr>
        <p:blipFill>
          <a:blip r:embed="rId2"/>
          <a:stretch>
            <a:fillRect/>
          </a:stretch>
        </p:blipFill>
        <p:spPr>
          <a:xfrm>
            <a:off x="5120640" y="1874519"/>
            <a:ext cx="6492240" cy="3666913"/>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A deadlocked scoreboard resolved by one number - illustration. Ng, Machine Learning Yearning chs. 8-9.</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THEORY - SELECTION VS ASSESSMENT</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Choosing and grading are different jobs - CHOOSE as often as you like, REPORT opens once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In plain words: practice tests choose your strategy; the final exam grades it - you sit the final once.</a:t>
            </a:r>
          </a:p>
          <a:p>
            <a:pPr algn="l" indent="-228600" marL="228600">
              <a:spcAft>
                <a:spcPts val="800"/>
              </a:spcAft>
              <a:buClr>
                <a:srgbClr val="1E5EF3"/>
              </a:buClr>
              <a:buChar char="—"/>
            </a:pPr>
            <a:r>
              <a:rPr sz="1450" b="0">
                <a:solidFill>
                  <a:srgbClr val="202B38"/>
                </a:solidFill>
                <a:latin typeface="Arial"/>
              </a:rPr>
              <a:t>SELECTION picks the knob values - done on the practice tests (CV), repeatable a thousand times.</a:t>
            </a:r>
          </a:p>
          <a:p>
            <a:pPr algn="l" indent="-228600" marL="228600">
              <a:spcAft>
                <a:spcPts val="800"/>
              </a:spcAft>
              <a:buClr>
                <a:srgbClr val="1E5EF3"/>
              </a:buClr>
              <a:buChar char="—"/>
            </a:pPr>
            <a:r>
              <a:rPr sz="1450" b="0">
                <a:solidFill>
                  <a:srgbClr val="202B38"/>
                </a:solidFill>
                <a:latin typeface="Arial"/>
              </a:rPr>
              <a:t>ASSESSMENT estimates real-world performance - done exactly once, on the untouched test set.</a:t>
            </a:r>
          </a:p>
          <a:p>
            <a:pPr algn="l" indent="-228600" marL="228600">
              <a:spcAft>
                <a:spcPts val="800"/>
              </a:spcAft>
              <a:buClr>
                <a:srgbClr val="1E5EF3"/>
              </a:buClr>
              <a:buChar char="—"/>
            </a:pPr>
            <a:r>
              <a:rPr sz="1450" b="0">
                <a:solidFill>
                  <a:srgbClr val="202B38"/>
                </a:solidFill>
                <a:latin typeface="Arial"/>
              </a:rPr>
              <a:t>How to read the bar (from Session 2): pale = 712 training rows (FIT); hatched = practice tests (CHOOSE); dark = 179 sealed test rows (REPORT).</a:t>
            </a:r>
          </a:p>
          <a:p>
            <a:pPr algn="l" indent="-228600" marL="228600">
              <a:spcAft>
                <a:spcPts val="800"/>
              </a:spcAft>
              <a:buClr>
                <a:srgbClr val="1E5EF3"/>
              </a:buClr>
              <a:buChar char="—"/>
            </a:pPr>
            <a:r>
              <a:rPr sz="1450" b="0">
                <a:solidFill>
                  <a:srgbClr val="202B38"/>
                </a:solidFill>
                <a:latin typeface="Arial"/>
              </a:rPr>
              <a:t>Select on the test set and it silently becomes a practice test: its score flatters.</a:t>
            </a:r>
          </a:p>
          <a:p>
            <a:pPr algn="l" indent="-228600" marL="228600">
              <a:spcAft>
                <a:spcPts val="800"/>
              </a:spcAft>
              <a:buClr>
                <a:srgbClr val="1E5EF3"/>
              </a:buClr>
              <a:buChar char="—"/>
            </a:pPr>
            <a:r>
              <a:rPr sz="1450" b="0">
                <a:solidFill>
                  <a:srgbClr val="202B38"/>
                </a:solidFill>
                <a:latin typeface="Arial"/>
              </a:rPr>
              <a:t>A number you optimized against is a target you hit, not a forecast - so REPORT opens once.</a:t>
            </a:r>
          </a:p>
        </p:txBody>
      </p:sp>
      <p:pic>
        <p:nvPicPr>
          <p:cNvPr id="8" name="Picture 7" descr="select_vs_assess.png"/>
          <p:cNvPicPr>
            <a:picLocks noChangeAspect="1"/>
          </p:cNvPicPr>
          <p:nvPr/>
        </p:nvPicPr>
        <p:blipFill>
          <a:blip r:embed="rId2"/>
          <a:stretch>
            <a:fillRect/>
          </a:stretch>
        </p:blipFill>
        <p:spPr>
          <a:xfrm>
            <a:off x="5120640" y="1874519"/>
            <a:ext cx="6492240" cy="3456767"/>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Two jobs over the same verbs bar: selection lives left of the seal; assessment spends it. Harvard CS109A / ISLR ch. 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02</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2 - Practice: tune it, prove it, ship it</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Grid and random search for real, one honest look at the test set, then the model leaves the notebook - a public app anyone can ask about a passenger like Owen or Florence.</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M2 Session 4 - Optimization and Deployment</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PRACTICE - GRID AND RANDOM SEARCH</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Grid and random search lift the forest from 0.7937 to 0.8274 - random wins with fewer tries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each bar = the forest's practice-test (CV) score at one stage; the y-axis starts at 0.75, so gaps are zoomed.</a:t>
            </a:r>
          </a:p>
          <a:p>
            <a:pPr algn="l" indent="-228600" marL="228600">
              <a:spcAft>
                <a:spcPts val="800"/>
              </a:spcAft>
              <a:buClr>
                <a:srgbClr val="1E5EF3"/>
              </a:buClr>
              <a:buChar char="—"/>
            </a:pPr>
            <a:r>
              <a:rPr sz="1450" b="0">
                <a:solidFill>
                  <a:srgbClr val="202B38"/>
                </a:solidFill>
                <a:latin typeface="Arial"/>
              </a:rPr>
              <a:t>Grid search = CV plus for-loops, no magic: 18 combos x 5 folds = 90 trainings. Best: CV 0.8259 (+0.0322 over the default).</a:t>
            </a:r>
          </a:p>
          <a:p>
            <a:pPr algn="l" indent="-228600" marL="228600">
              <a:spcAft>
                <a:spcPts val="800"/>
              </a:spcAft>
              <a:buClr>
                <a:srgbClr val="1E5EF3"/>
              </a:buClr>
              <a:buChar char="—"/>
            </a:pPr>
            <a:r>
              <a:rPr sz="1450" b="0">
                <a:solidFill>
                  <a:srgbClr val="202B38"/>
                </a:solidFill>
                <a:latin typeface="Arial"/>
              </a:rPr>
              <a:t>Grids explode: 5 knobs x 6 values = 7,776 combos - nearly 39,000 trainings.</a:t>
            </a:r>
          </a:p>
          <a:p>
            <a:pPr algn="l" indent="-228600" marL="228600">
              <a:spcAft>
                <a:spcPts val="800"/>
              </a:spcAft>
              <a:buClr>
                <a:srgbClr val="1E5EF3"/>
              </a:buClr>
              <a:buChar char="—"/>
            </a:pPr>
            <a:r>
              <a:rPr sz="1450" b="0">
                <a:solidFill>
                  <a:srgbClr val="202B38"/>
                </a:solidFill>
                <a:latin typeface="Arial"/>
              </a:rPr>
              <a:t>15 random draws test up to 15 values of every knob: CV 0.8274 - beats the grid with fewer tries, as slide 6 predicted.</a:t>
            </a:r>
          </a:p>
          <a:p>
            <a:pPr algn="l" indent="-228600" marL="228600">
              <a:spcAft>
                <a:spcPts val="800"/>
              </a:spcAft>
              <a:buClr>
                <a:srgbClr val="1E5EF3"/>
              </a:buClr>
              <a:buChar char="—"/>
            </a:pPr>
            <a:r>
              <a:rPr sz="1450" b="0">
                <a:solidFill>
                  <a:srgbClr val="202B38"/>
                </a:solidFill>
                <a:latin typeface="Arial"/>
              </a:rPr>
              <a:t>All 33 candidates sat the same 5 practice tests; the test set stayed sealed.</a:t>
            </a:r>
          </a:p>
          <a:p>
            <a:pPr algn="l" indent="-228600" marL="228600">
              <a:spcAft>
                <a:spcPts val="800"/>
              </a:spcAft>
              <a:buClr>
                <a:srgbClr val="1E5EF3"/>
              </a:buClr>
              <a:buChar char="—"/>
            </a:pPr>
            <a:r>
              <a:rPr sz="1450" b="0">
                <a:solidFill>
                  <a:srgbClr val="202B38"/>
                </a:solidFill>
                <a:latin typeface="Arial"/>
              </a:rPr>
              <a:t>The winning knobs (capped depth, bigger leaves) are complexity brakes: less freedom to memorize, so it generalizes better.</a:t>
            </a:r>
          </a:p>
        </p:txBody>
      </p:sp>
      <p:pic>
        <p:nvPicPr>
          <p:cNvPr id="8" name="Picture 7" descr="tuning_arc.png"/>
          <p:cNvPicPr>
            <a:picLocks noChangeAspect="1"/>
          </p:cNvPicPr>
          <p:nvPr/>
        </p:nvPicPr>
        <p:blipFill>
          <a:blip r:embed="rId2"/>
          <a:stretch>
            <a:fillRect/>
          </a:stretch>
        </p:blipFill>
        <p:spPr>
          <a:xfrm>
            <a:off x="5120640" y="1874519"/>
            <a:ext cx="6492240" cy="3765593"/>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Random Forest 5-fold CV accuracy at each tuning stage. Module 2, notebook 3.</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PRACTICE - THE HONEST FINAL EXAM</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One look at 179 unseen passengers: 0.8268 - within 0.0006 of CV, the tuning did not fool itself</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left bar = what the practice tests (CV) promised; right bar = the one real exam. Y-axis starts at 0.75.</a:t>
            </a:r>
          </a:p>
          <a:p>
            <a:pPr algn="l" indent="-228600" marL="228600">
              <a:spcAft>
                <a:spcPts val="800"/>
              </a:spcAft>
              <a:buClr>
                <a:srgbClr val="1E5EF3"/>
              </a:buClr>
              <a:buChar char="—"/>
            </a:pPr>
            <a:r>
              <a:rPr sz="1450" b="0">
                <a:solidFill>
                  <a:srgbClr val="202B38"/>
                </a:solidFill>
                <a:latin typeface="Arial"/>
              </a:rPr>
              <a:t>Final exam: 179 passengers the model has never seen, scored one time: accuracy 0.8268, F1 0.7597.</a:t>
            </a:r>
          </a:p>
          <a:p>
            <a:pPr algn="l" indent="-228600" marL="228600">
              <a:spcAft>
                <a:spcPts val="800"/>
              </a:spcAft>
              <a:buClr>
                <a:srgbClr val="1E5EF3"/>
              </a:buClr>
              <a:buChar char="—"/>
            </a:pPr>
            <a:r>
              <a:rPr sz="1450" b="0">
                <a:solidFill>
                  <a:srgbClr val="202B38"/>
                </a:solidFill>
                <a:latin typeface="Arial"/>
              </a:rPr>
              <a:t>CV promised 0.8274; the sealed test answered 0.8268 - a search judged honestly generalizes.</a:t>
            </a:r>
          </a:p>
          <a:p>
            <a:pPr algn="l" indent="-228600" marL="228600">
              <a:spcAft>
                <a:spcPts val="800"/>
              </a:spcAft>
              <a:buClr>
                <a:srgbClr val="1E5EF3"/>
              </a:buClr>
              <a:buChar char="—"/>
            </a:pPr>
            <a:r>
              <a:rPr sz="1450" b="0">
                <a:solidFill>
                  <a:srgbClr val="202B38"/>
                </a:solidFill>
                <a:latin typeface="Arial"/>
              </a:rPr>
              <a:t>Peeking at test scores while tuning silently turns the test set into training data.</a:t>
            </a:r>
          </a:p>
          <a:p>
            <a:pPr algn="l" indent="-228600" marL="228600">
              <a:spcAft>
                <a:spcPts val="800"/>
              </a:spcAft>
              <a:buClr>
                <a:srgbClr val="1E5EF3"/>
              </a:buClr>
              <a:buChar char="—"/>
            </a:pPr>
            <a:r>
              <a:rPr sz="1450" b="0">
                <a:solidFill>
                  <a:srgbClr val="202B38"/>
                </a:solidFill>
                <a:latin typeface="Arial"/>
              </a:rPr>
              <a:t>Honest expectation: tuning buys a percentage point or two, not miracles.</a:t>
            </a:r>
          </a:p>
          <a:p>
            <a:pPr algn="l" indent="-228600" marL="228600">
              <a:spcAft>
                <a:spcPts val="800"/>
              </a:spcAft>
              <a:buClr>
                <a:srgbClr val="1E5EF3"/>
              </a:buClr>
              <a:buChar char="—"/>
            </a:pPr>
            <a:r>
              <a:rPr sz="1450" b="0">
                <a:solidFill>
                  <a:srgbClr val="202B38"/>
                </a:solidFill>
                <a:latin typeface="Arial"/>
              </a:rPr>
              <a:t>0.8268 is the only forecast of real-world performance we own.</a:t>
            </a:r>
          </a:p>
        </p:txBody>
      </p:sp>
      <p:pic>
        <p:nvPicPr>
          <p:cNvPr id="8" name="Picture 7" descr="cv_vs_test_bar.png"/>
          <p:cNvPicPr>
            <a:picLocks noChangeAspect="1"/>
          </p:cNvPicPr>
          <p:nvPr/>
        </p:nvPicPr>
        <p:blipFill>
          <a:blip r:embed="rId2"/>
          <a:stretch>
            <a:fillRect/>
          </a:stretch>
        </p:blipFill>
        <p:spPr>
          <a:xfrm>
            <a:off x="5120640" y="1874519"/>
            <a:ext cx="6492240" cy="4035192"/>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Tuned forest: CV score vs the single test-set look. Module 2, notebook 3.</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LAST STEP BEFORE SHIPPING</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You don't ship the CV copy: after choosing, retrain the winning recipe on all the data</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five steps, left to right; the raised blue box is the surprise step; dashed red arrows = forbidden moves.</a:t>
            </a:r>
          </a:p>
          <a:p>
            <a:pPr algn="l" indent="-228600" marL="228600">
              <a:spcAft>
                <a:spcPts val="800"/>
              </a:spcAft>
              <a:buClr>
                <a:srgbClr val="1E5EF3"/>
              </a:buClr>
              <a:buChar char="—"/>
            </a:pPr>
            <a:r>
              <a:rPr sz="1450" b="0">
                <a:solidFill>
                  <a:srgbClr val="202B38"/>
                </a:solidFill>
                <a:latin typeface="Arial"/>
              </a:rPr>
              <a:t>MIT's five steps: compare by CV, pick the winner, RETRAIN on all data, ship, be judged on unseen data.</a:t>
            </a:r>
          </a:p>
          <a:p>
            <a:pPr algn="l" indent="-228600" marL="228600">
              <a:spcAft>
                <a:spcPts val="800"/>
              </a:spcAft>
              <a:buClr>
                <a:srgbClr val="1E5EF3"/>
              </a:buClr>
              <a:buChar char="—"/>
            </a:pPr>
            <a:r>
              <a:rPr sz="1450" b="0">
                <a:solidFill>
                  <a:srgbClr val="202B38"/>
                </a:solidFill>
                <a:latin typeface="Arial"/>
              </a:rPr>
              <a:t>Step 3 surprises beginners: the fold models were scaffolding; more data = a better final model, so refit everything.</a:t>
            </a:r>
          </a:p>
          <a:p>
            <a:pPr algn="l" indent="-228600" marL="228600">
              <a:spcAft>
                <a:spcPts val="800"/>
              </a:spcAft>
              <a:buClr>
                <a:srgbClr val="1E5EF3"/>
              </a:buClr>
              <a:buChar char="—"/>
            </a:pPr>
            <a:r>
              <a:rPr sz="1450" b="0">
                <a:solidFill>
                  <a:srgbClr val="202B38"/>
                </a:solidFill>
                <a:latin typeface="Arial"/>
              </a:rPr>
              <a:t>sklearn already does this on the training set: refit=True retrains the best settings on all 712 rows - the model we saved.</a:t>
            </a:r>
          </a:p>
          <a:p>
            <a:pPr algn="l" indent="-228600" marL="228600">
              <a:spcAft>
                <a:spcPts val="800"/>
              </a:spcAft>
              <a:buClr>
                <a:srgbClr val="1E5EF3"/>
              </a:buClr>
              <a:buChar char="—"/>
            </a:pPr>
            <a:r>
              <a:rPr sz="1450" b="0">
                <a:solidFill>
                  <a:srgbClr val="202B38"/>
                </a:solidFill>
                <a:latin typeface="Arial"/>
              </a:rPr>
              <a:t>After the one test look, trust the recipe, not the score: retraining on all 891 rows is legitimate; re-scoring is not - no honest data remains.</a:t>
            </a:r>
          </a:p>
          <a:p>
            <a:pPr algn="l" indent="-228600" marL="228600">
              <a:spcAft>
                <a:spcPts val="800"/>
              </a:spcAft>
              <a:buClr>
                <a:srgbClr val="1E5EF3"/>
              </a:buClr>
              <a:buChar char="—"/>
            </a:pPr>
            <a:r>
              <a:rPr sz="1450" b="0">
                <a:solidFill>
                  <a:srgbClr val="202B38"/>
                </a:solidFill>
                <a:latin typeface="Arial"/>
              </a:rPr>
              <a:t>Forbidden forever: test data flowing into training, and a validation score reused as the report card.</a:t>
            </a:r>
          </a:p>
        </p:txBody>
      </p:sp>
      <p:pic>
        <p:nvPicPr>
          <p:cNvPr id="8" name="Picture 7" descr="retrain_pipeline.png"/>
          <p:cNvPicPr>
            <a:picLocks noChangeAspect="1"/>
          </p:cNvPicPr>
          <p:nvPr/>
        </p:nvPicPr>
        <p:blipFill>
          <a:blip r:embed="rId2"/>
          <a:stretch>
            <a:fillRect/>
          </a:stretch>
        </p:blipFill>
        <p:spPr>
          <a:xfrm>
            <a:off x="5120640" y="1874519"/>
            <a:ext cx="6492240" cy="3319412"/>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MIT's end-to-end evaluation pipeline - the two red arrows are never allowed. MIT 6.390, Appendix C.</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FROM NOTEBOOK TO PRODUCTION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Production is a loop, not a finish line - the model runs where real users can reach it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six steps, arrows run clockwise; after 6. Retrain you are back at 1. Save - the loop never ends.</a:t>
            </a:r>
          </a:p>
          <a:p>
            <a:pPr algn="l" indent="-228600" marL="228600">
              <a:spcAft>
                <a:spcPts val="800"/>
              </a:spcAft>
              <a:buClr>
                <a:srgbClr val="1E5EF3"/>
              </a:buClr>
              <a:buChar char="—"/>
            </a:pPr>
            <a:r>
              <a:rPr sz="1450" b="0">
                <a:solidFill>
                  <a:srgbClr val="202B38"/>
                </a:solidFill>
                <a:latin typeface="Arial"/>
              </a:rPr>
              <a:t>Save the WHOLE pipeline (titanic_model_v1.joblib, 2,599 KB): raw data in, prediction out - re-coding the prep by hand invites silently wrong predictions.</a:t>
            </a:r>
          </a:p>
          <a:p>
            <a:pPr algn="l" indent="-228600" marL="228600">
              <a:spcAft>
                <a:spcPts val="800"/>
              </a:spcAft>
              <a:buClr>
                <a:srgbClr val="1E5EF3"/>
              </a:buClr>
              <a:buChar char="—"/>
            </a:pPr>
            <a:r>
              <a:rPr sz="1450" b="0">
                <a:solidFill>
                  <a:srgbClr val="202B38"/>
                </a:solidFill>
                <a:latin typeface="Arial"/>
              </a:rPr>
              <a:t>Load in a fresh process: no retraining, no notebook required.</a:t>
            </a:r>
          </a:p>
          <a:p>
            <a:pPr algn="l" indent="-228600" marL="228600">
              <a:spcAft>
                <a:spcPts val="800"/>
              </a:spcAft>
              <a:buClr>
                <a:srgbClr val="1E5EF3"/>
              </a:buClr>
              <a:buChar char="—"/>
            </a:pPr>
            <a:r>
              <a:rPr sz="1450" b="0">
                <a:solidFill>
                  <a:srgbClr val="202B38"/>
                </a:solidFill>
                <a:latin typeface="Arial"/>
              </a:rPr>
              <a:t>Version the file name (v1) so you always know what is running - and can roll back.</a:t>
            </a:r>
          </a:p>
          <a:p>
            <a:pPr algn="l" indent="-228600" marL="228600">
              <a:spcAft>
                <a:spcPts val="800"/>
              </a:spcAft>
              <a:buClr>
                <a:srgbClr val="1E5EF3"/>
              </a:buClr>
              <a:buChar char="—"/>
            </a:pPr>
            <a:r>
              <a:rPr sz="1450" b="0">
                <a:solidFill>
                  <a:srgbClr val="202B38"/>
                </a:solidFill>
                <a:latin typeface="Arial"/>
              </a:rPr>
              <a:t>Ng's rollout for steps 4-5: SHADOW (predictions logged, unused) -&gt; CANARY (~5% of traffic) -&gt; full swap, rollback ready.</a:t>
            </a:r>
          </a:p>
          <a:p>
            <a:pPr algn="l" indent="-228600" marL="228600">
              <a:spcAft>
                <a:spcPts val="800"/>
              </a:spcAft>
              <a:buClr>
                <a:srgbClr val="1E5EF3"/>
              </a:buClr>
              <a:buChar char="—"/>
            </a:pPr>
            <a:r>
              <a:rPr sz="1450" b="0">
                <a:solidFill>
                  <a:srgbClr val="202B38"/>
                </a:solidFill>
                <a:latin typeface="Arial"/>
              </a:rPr>
              <a:t>Monitoring closes the loop: drift detected means retrain and reship.</a:t>
            </a:r>
          </a:p>
        </p:txBody>
      </p:sp>
      <p:pic>
        <p:nvPicPr>
          <p:cNvPr id="8" name="Picture 7" descr="s4_production_loop.png"/>
          <p:cNvPicPr>
            <a:picLocks noChangeAspect="1"/>
          </p:cNvPicPr>
          <p:nvPr/>
        </p:nvPicPr>
        <p:blipFill>
          <a:blip r:embed="rId2"/>
          <a:stretch>
            <a:fillRect/>
          </a:stretch>
        </p:blipFill>
        <p:spPr>
          <a:xfrm>
            <a:off x="5120640" y="1874519"/>
            <a:ext cx="6492240" cy="393199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The production loop: save, load, wrap, host, monitor, retrain. Module 2, notebook 3. Ng, Machine Learning Engineering for Production C1.</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SANITY CHECK ON TWO PASSENGERS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loaded pipeline answers a real question - a survival gap of 100% vs 3%</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each bar = the predicted survival chance the loaded model gives one invented passenger.</a:t>
            </a:r>
          </a:p>
          <a:p>
            <a:pPr algn="l" indent="-228600" marL="228600">
              <a:spcAft>
                <a:spcPts val="800"/>
              </a:spcAft>
              <a:buClr>
                <a:srgbClr val="1E5EF3"/>
              </a:buClr>
              <a:buChar char="—"/>
            </a:pPr>
            <a:r>
              <a:rPr sz="1450" b="0">
                <a:solidFill>
                  <a:srgbClr val="202B38"/>
                </a:solidFill>
                <a:latin typeface="Arial"/>
              </a:rPr>
              <a:t>Loaded from disk, no retraining: raw passenger details in, verdict out.</a:t>
            </a:r>
          </a:p>
          <a:p>
            <a:pPr algn="l" indent="-228600" marL="228600">
              <a:spcAft>
                <a:spcPts val="800"/>
              </a:spcAft>
              <a:buClr>
                <a:srgbClr val="1E5EF3"/>
              </a:buClr>
              <a:buChar char="—"/>
            </a:pPr>
            <a:r>
              <a:rPr sz="1450" b="0">
                <a:solidFill>
                  <a:srgbClr val="202B38"/>
                </a:solidFill>
                <a:latin typeface="Arial"/>
              </a:rPr>
              <a:t>An invented first-class woman, 30 (Fare 80, Cherbourg) - a passenger like Florence: survives, 100%.</a:t>
            </a:r>
          </a:p>
          <a:p>
            <a:pPr algn="l" indent="-228600" marL="228600">
              <a:spcAft>
                <a:spcPts val="800"/>
              </a:spcAft>
              <a:buClr>
                <a:srgbClr val="1E5EF3"/>
              </a:buClr>
              <a:buChar char="—"/>
            </a:pPr>
            <a:r>
              <a:rPr sz="1450" b="0">
                <a:solidFill>
                  <a:srgbClr val="202B38"/>
                </a:solidFill>
                <a:latin typeface="Arial"/>
              </a:rPr>
              <a:t>An invented third-class man, 28 (Fare 7.9, Southampton) - a passenger like Owen: does not survive, 3%.</a:t>
            </a:r>
          </a:p>
          <a:p>
            <a:pPr algn="l" indent="-228600" marL="228600">
              <a:spcAft>
                <a:spcPts val="800"/>
              </a:spcAft>
              <a:buClr>
                <a:srgbClr val="1E5EF3"/>
              </a:buClr>
              <a:buChar char="—"/>
            </a:pPr>
            <a:r>
              <a:rPr sz="1450" b="0">
                <a:solidFill>
                  <a:srgbClr val="202B38"/>
                </a:solidFill>
                <a:latin typeface="Arial"/>
              </a:rPr>
              <a:t>A probability is confidence, not a guarantee about one individual.</a:t>
            </a:r>
          </a:p>
          <a:p>
            <a:pPr algn="l" indent="-228600" marL="228600">
              <a:spcAft>
                <a:spcPts val="800"/>
              </a:spcAft>
              <a:buClr>
                <a:srgbClr val="1E5EF3"/>
              </a:buClr>
              <a:buChar char="—"/>
            </a:pPr>
            <a:r>
              <a:rPr sz="1450" b="0">
                <a:solidFill>
                  <a:srgbClr val="202B38"/>
                </a:solidFill>
                <a:latin typeface="Arial"/>
              </a:rPr>
              <a:t>The gap reflects the Titanic's reality: class and sex decided lifeboat seats.</a:t>
            </a:r>
          </a:p>
        </p:txBody>
      </p:sp>
      <p:pic>
        <p:nvPicPr>
          <p:cNvPr id="8" name="Picture 7" descr="two_passengers.png"/>
          <p:cNvPicPr>
            <a:picLocks noChangeAspect="1"/>
          </p:cNvPicPr>
          <p:nvPr/>
        </p:nvPicPr>
        <p:blipFill>
          <a:blip r:embed="rId2"/>
          <a:stretch>
            <a:fillRect/>
          </a:stretch>
        </p:blipFill>
        <p:spPr>
          <a:xfrm>
            <a:off x="5120640" y="1874519"/>
            <a:ext cx="6492240" cy="2938007"/>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Two invented sanity-check passengers, scored by the saved pipeline. Module 2, notebook 3.</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FROM MODEL TO APP</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few lines of Gradio turn the pipeline into a web app anyone can use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4297680"/>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Gradio: a function becomes a web form</a:t>
            </a:r>
          </a:p>
        </p:txBody>
      </p:sp>
      <p:sp>
        <p:nvSpPr>
          <p:cNvPr id="9" name="TextBox 8"/>
          <p:cNvSpPr txBox="1"/>
          <p:nvPr/>
        </p:nvSpPr>
        <p:spPr>
          <a:xfrm>
            <a:off x="777240" y="2441447"/>
            <a:ext cx="4937760" cy="3566160"/>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Gradio - in plain words: a Python library that turns a function into a web page.</a:t>
            </a:r>
          </a:p>
          <a:p>
            <a:pPr algn="l" indent="-228600" marL="228600">
              <a:spcAft>
                <a:spcPts val="600"/>
              </a:spcAft>
              <a:buClr>
                <a:srgbClr val="1E5EF3"/>
              </a:buClr>
              <a:buChar char="—"/>
            </a:pPr>
            <a:r>
              <a:rPr sz="1300" b="0">
                <a:solidFill>
                  <a:srgbClr val="202B38"/>
                </a:solidFill>
                <a:latin typeface="Arial"/>
              </a:rPr>
              <a:t>Write a normal function: inputs in, answer out.</a:t>
            </a:r>
          </a:p>
          <a:p>
            <a:pPr algn="l" indent="-228600" marL="228600">
              <a:spcAft>
                <a:spcPts val="600"/>
              </a:spcAft>
              <a:buClr>
                <a:srgbClr val="1E5EF3"/>
              </a:buClr>
              <a:buChar char="—"/>
            </a:pPr>
            <a:r>
              <a:rPr sz="1300" b="0">
                <a:solidFill>
                  <a:srgbClr val="202B38"/>
                </a:solidFill>
                <a:latin typeface="Arial"/>
              </a:rPr>
              <a:t>Gradio renders it as sliders, dropdowns and a text box.</a:t>
            </a:r>
          </a:p>
          <a:p>
            <a:pPr algn="l" indent="-228600" marL="228600">
              <a:spcAft>
                <a:spcPts val="600"/>
              </a:spcAft>
              <a:buClr>
                <a:srgbClr val="1E5EF3"/>
              </a:buClr>
              <a:buChar char="—"/>
            </a:pPr>
            <a:r>
              <a:rPr sz="1300" b="0">
                <a:solidFill>
                  <a:srgbClr val="202B38"/>
                </a:solidFill>
                <a:latin typeface="Arial"/>
              </a:rPr>
              <a:t>The app derives the Title feature by rule (boys under 13 -&gt; Master, men -&gt; Mr).</a:t>
            </a:r>
          </a:p>
          <a:p>
            <a:pPr algn="l" indent="-228600" marL="228600">
              <a:spcAft>
                <a:spcPts val="600"/>
              </a:spcAft>
              <a:buClr>
                <a:srgbClr val="1E5EF3"/>
              </a:buClr>
              <a:buChar char="—"/>
            </a:pPr>
            <a:r>
              <a:rPr sz="1300" b="0">
                <a:solidFill>
                  <a:srgbClr val="202B38"/>
                </a:solidFill>
                <a:latin typeface="Arial"/>
              </a:rPr>
              <a:t>On Colab, launch() gives a shareable temporary link.</a:t>
            </a:r>
          </a:p>
        </p:txBody>
      </p:sp>
      <p:sp>
        <p:nvSpPr>
          <p:cNvPr id="10" name="Rectangle 9"/>
          <p:cNvSpPr/>
          <p:nvPr/>
        </p:nvSpPr>
        <p:spPr>
          <a:xfrm>
            <a:off x="6245352" y="1874519"/>
            <a:ext cx="5394960" cy="4297680"/>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Hugging Face Spaces: free hosting</a:t>
            </a:r>
          </a:p>
        </p:txBody>
      </p:sp>
      <p:sp>
        <p:nvSpPr>
          <p:cNvPr id="12" name="TextBox 11"/>
          <p:cNvSpPr txBox="1"/>
          <p:nvPr/>
        </p:nvSpPr>
        <p:spPr>
          <a:xfrm>
            <a:off x="6473952" y="2441447"/>
            <a:ext cx="4937760" cy="3566160"/>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Spaces - in plain words: a free public host for ML apps.</a:t>
            </a:r>
          </a:p>
          <a:p>
            <a:pPr algn="l" indent="-228600" marL="228600">
              <a:spcAft>
                <a:spcPts val="600"/>
              </a:spcAft>
              <a:buClr>
                <a:srgbClr val="1E5EF3"/>
              </a:buClr>
              <a:buChar char="—"/>
            </a:pPr>
            <a:r>
              <a:rPr sz="1300" b="0">
                <a:solidFill>
                  <a:srgbClr val="202B38"/>
                </a:solidFill>
                <a:latin typeface="Arial"/>
              </a:rPr>
              <a:t>Four files: app.py, the model, requirements.txt, README.md.</a:t>
            </a:r>
          </a:p>
          <a:p>
            <a:pPr algn="l" indent="-228600" marL="228600">
              <a:spcAft>
                <a:spcPts val="600"/>
              </a:spcAft>
              <a:buClr>
                <a:srgbClr val="1E5EF3"/>
              </a:buClr>
              <a:buChar char="—"/>
            </a:pPr>
            <a:r>
              <a:rPr sz="1300" b="0">
                <a:solidFill>
                  <a:srgbClr val="202B38"/>
                </a:solidFill>
                <a:latin typeface="Arial"/>
              </a:rPr>
              <a:t>Pin the scikit-learn version in requirements.txt.</a:t>
            </a:r>
          </a:p>
          <a:p>
            <a:pPr algn="l" indent="-228600" marL="228600">
              <a:spcAft>
                <a:spcPts val="600"/>
              </a:spcAft>
              <a:buClr>
                <a:srgbClr val="1E5EF3"/>
              </a:buClr>
              <a:buChar char="—"/>
            </a:pPr>
            <a:r>
              <a:rPr sz="1300" b="0">
                <a:solidFill>
                  <a:srgbClr val="202B38"/>
                </a:solidFill>
                <a:latin typeface="Arial"/>
              </a:rPr>
              <a:t>Upload the files in the browser - that is the whole deploy.</a:t>
            </a:r>
          </a:p>
          <a:p>
            <a:pPr algn="l" indent="-228600" marL="228600">
              <a:spcAft>
                <a:spcPts val="600"/>
              </a:spcAft>
              <a:buClr>
                <a:srgbClr val="1E5EF3"/>
              </a:buClr>
              <a:buChar char="—"/>
            </a:pPr>
            <a:r>
              <a:rPr sz="1300" b="0">
                <a:solidFill>
                  <a:srgbClr val="202B38"/>
                </a:solidFill>
                <a:latin typeface="Arial"/>
              </a:rPr>
              <a:t>No tokens or keys in code, ever.</a:t>
            </a:r>
          </a:p>
          <a:p>
            <a:pPr algn="l" indent="-228600" marL="228600">
              <a:spcAft>
                <a:spcPts val="600"/>
              </a:spcAft>
              <a:buClr>
                <a:srgbClr val="1E5EF3"/>
              </a:buClr>
              <a:buChar char="—"/>
            </a:pPr>
            <a:r>
              <a:rPr sz="1300" b="0">
                <a:solidFill>
                  <a:srgbClr val="202B38"/>
                </a:solidFill>
                <a:latin typeface="Arial"/>
              </a:rPr>
              <a:t>Result: a public URL anyone can open.</a:t>
            </a:r>
          </a:p>
        </p:txBody>
      </p:sp>
      <p:sp>
        <p:nvSpPr>
          <p:cNvPr id="13" name="TextBox 12"/>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4" name="TextBox 13"/>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AFTER LAUNCH</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After launch, reality bites: models go stale and accuracy alone does not ship</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11091672" cy="4206240"/>
          </a:xfrm>
          <a:prstGeom prst="rect">
            <a:avLst/>
          </a:prstGeom>
          <a:noFill/>
        </p:spPr>
        <p:txBody>
          <a:bodyPr wrap="square">
            <a:spAutoFit/>
          </a:bodyPr>
          <a:lstStyle/>
          <a:p>
            <a:pPr algn="l" indent="-228600" marL="228600">
              <a:spcAft>
                <a:spcPts val="800"/>
              </a:spcAft>
              <a:buClr>
                <a:srgbClr val="1E5EF3"/>
              </a:buClr>
              <a:buChar char="—"/>
            </a:pPr>
            <a:r>
              <a:rPr sz="1600" b="0">
                <a:solidFill>
                  <a:srgbClr val="202B38"/>
                </a:solidFill>
                <a:latin typeface="Arial"/>
              </a:rPr>
              <a:t>The $1M Netflix Prize ensemble (about 800 models, a 10% RMSE gain) was never put into production.</a:t>
            </a:r>
          </a:p>
          <a:p>
            <a:pPr algn="l" lvl="1" indent="-228600" marL="514350">
              <a:spcAft>
                <a:spcPts val="600"/>
              </a:spcAft>
              <a:buClr>
                <a:srgbClr val="1E5EF3"/>
              </a:buClr>
              <a:buChar char="·"/>
            </a:pPr>
            <a:r>
              <a:rPr sz="1350" b="0">
                <a:solidFill>
                  <a:srgbClr val="5B6774"/>
                </a:solidFill>
                <a:latin typeface="Arial"/>
              </a:rPr>
              <a:t>Engineering cost outweighed the accuracy gain, and the business had moved to streaming. Netflix tech blog, 2012.</a:t>
            </a:r>
          </a:p>
          <a:p>
            <a:pPr algn="l" indent="-228600" marL="228600">
              <a:spcAft>
                <a:spcPts val="800"/>
              </a:spcAft>
              <a:buClr>
                <a:srgbClr val="1E5EF3"/>
              </a:buClr>
              <a:buChar char="—"/>
            </a:pPr>
            <a:r>
              <a:rPr sz="1600" b="0">
                <a:solidFill>
                  <a:srgbClr val="202B38"/>
                </a:solidFill>
                <a:latin typeface="Arial"/>
              </a:rPr>
              <a:t>Two kinds of drift make models go stale.</a:t>
            </a:r>
          </a:p>
          <a:p>
            <a:pPr algn="l" lvl="1" indent="-228600" marL="514350">
              <a:spcAft>
                <a:spcPts val="600"/>
              </a:spcAft>
              <a:buClr>
                <a:srgbClr val="1E5EF3"/>
              </a:buClr>
              <a:buChar char="·"/>
            </a:pPr>
            <a:r>
              <a:rPr sz="1350" b="0">
                <a:solidFill>
                  <a:srgbClr val="5B6774"/>
                </a:solidFill>
                <a:latin typeface="Arial"/>
              </a:rPr>
              <a:t>DATA drift: the inputs change - different passengers start arriving.</a:t>
            </a:r>
          </a:p>
          <a:p>
            <a:pPr algn="l" lvl="1" indent="-228600" marL="514350">
              <a:spcAft>
                <a:spcPts val="600"/>
              </a:spcAft>
              <a:buClr>
                <a:srgbClr val="1E5EF3"/>
              </a:buClr>
              <a:buChar char="·"/>
            </a:pPr>
            <a:r>
              <a:rPr sz="1350" b="0">
                <a:solidFill>
                  <a:srgbClr val="5B6774"/>
                </a:solidFill>
                <a:latin typeface="Arial"/>
              </a:rPr>
              <a:t>CONCEPT drift: the hidden rule f itself moves - same inputs, new outcomes (Session 1's Y = f(X) + ε).</a:t>
            </a:r>
          </a:p>
          <a:p>
            <a:pPr algn="l" lvl="1" indent="-228600" marL="514350">
              <a:spcAft>
                <a:spcPts val="600"/>
              </a:spcAft>
              <a:buClr>
                <a:srgbClr val="1E5EF3"/>
              </a:buClr>
              <a:buChar char="·"/>
            </a:pPr>
            <a:r>
              <a:rPr sz="1350" b="0">
                <a:solidFill>
                  <a:srgbClr val="5B6774"/>
                </a:solidFill>
                <a:latin typeface="Arial"/>
              </a:rPr>
              <a:t>Monitor inputs and outputs separately.</a:t>
            </a:r>
          </a:p>
          <a:p>
            <a:pPr algn="l" indent="-228600" marL="228600">
              <a:spcAft>
                <a:spcPts val="800"/>
              </a:spcAft>
              <a:buClr>
                <a:srgbClr val="1E5EF3"/>
              </a:buClr>
              <a:buChar char="—"/>
            </a:pPr>
            <a:r>
              <a:rPr sz="1600" b="0">
                <a:solidFill>
                  <a:srgbClr val="202B38"/>
                </a:solidFill>
                <a:latin typeface="Arial"/>
              </a:rPr>
              <a:t>Google Flu Trends overestimated flu by more than 50% in 2011-13.</a:t>
            </a:r>
          </a:p>
          <a:p>
            <a:pPr algn="l" lvl="1" indent="-228600" marL="514350">
              <a:spcAft>
                <a:spcPts val="600"/>
              </a:spcAft>
              <a:buClr>
                <a:srgbClr val="1E5EF3"/>
              </a:buClr>
              <a:buChar char="·"/>
            </a:pPr>
            <a:r>
              <a:rPr sz="1350" b="0">
                <a:solidFill>
                  <a:srgbClr val="5B6774"/>
                </a:solidFill>
                <a:latin typeface="Arial"/>
              </a:rPr>
              <a:t>It once claimed about 11% of the US had flu; CDC data said about 6%.</a:t>
            </a:r>
          </a:p>
          <a:p>
            <a:pPr algn="l" lvl="1" indent="-228600" marL="514350">
              <a:spcAft>
                <a:spcPts val="600"/>
              </a:spcAft>
              <a:buClr>
                <a:srgbClr val="1E5EF3"/>
              </a:buClr>
              <a:buChar char="·"/>
            </a:pPr>
            <a:r>
              <a:rPr sz="1350" b="0">
                <a:solidFill>
                  <a:srgbClr val="5B6774"/>
                </a:solidFill>
                <a:latin typeface="Arial"/>
              </a:rPr>
              <a:t>It was essentially never retrained after 2009. Lazer et al., Science, 2014.</a:t>
            </a:r>
          </a:p>
          <a:p>
            <a:pPr algn="l" indent="-228600" marL="228600">
              <a:spcAft>
                <a:spcPts val="800"/>
              </a:spcAft>
              <a:buClr>
                <a:srgbClr val="1E5EF3"/>
              </a:buClr>
              <a:buChar char="—"/>
            </a:pPr>
            <a:r>
              <a:rPr sz="1600" b="0">
                <a:solidFill>
                  <a:srgbClr val="202B38"/>
                </a:solidFill>
                <a:latin typeface="Arial"/>
              </a:rPr>
              <a:t>Version every saved model (model_v1, model_2026_09_06) so you can always roll back.</a:t>
            </a:r>
          </a:p>
          <a:p>
            <a:pPr algn="l" indent="-228600" marL="228600">
              <a:spcAft>
                <a:spcPts val="800"/>
              </a:spcAft>
              <a:buClr>
                <a:srgbClr val="1E5EF3"/>
              </a:buClr>
              <a:buChar char="—"/>
            </a:pPr>
            <a:r>
              <a:rPr sz="1600" b="0">
                <a:solidFill>
                  <a:srgbClr val="202B38"/>
                </a:solidFill>
                <a:latin typeface="Arial"/>
              </a:rPr>
              <a:t>Retrain on a schedule and re-score; monitoring is step 5 of the loop, not an afterthought.</a:t>
            </a:r>
          </a:p>
        </p:txBody>
      </p:sp>
      <p:sp>
        <p:nvSpPr>
          <p:cNvPr id="8" name="TextBox 7"/>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9" name="TextBox 8"/>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MODULE 2 IN ONE SLIDE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M1 dashboards inform people - M2 models act inside products: the whole module in one table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3310128"/>
          <a:ext cx="11091670" cy="2286000"/>
        </p:xfrm>
        <a:graphic>
          <a:graphicData uri="http://schemas.openxmlformats.org/drawingml/2006/table">
            <a:tbl>
              <a:tblPr firstRow="1" bandRow="1">
                <a:tableStyleId>{5C22544A-7EE6-4342-B048-85BDC9FD1C3A}</a:tableStyleId>
              </a:tblPr>
              <a:tblGrid>
                <a:gridCol w="1626778"/>
                <a:gridCol w="5028224"/>
                <a:gridCol w="4436668"/>
              </a:tblGrid>
              <a:tr h="457200">
                <a:tc>
                  <a:txBody>
                    <a:bodyPr wrap="square"/>
                    <a:lstStyle/>
                    <a:p>
                      <a:pPr algn="l">
                        <a:spcAft>
                          <a:spcPts val="0"/>
                        </a:spcAft>
                        <a:buNone/>
                      </a:pPr>
                      <a:r>
                        <a:rPr sz="1300" b="1">
                          <a:solidFill>
                            <a:srgbClr val="FFFFFF"/>
                          </a:solidFill>
                          <a:latin typeface="Arial"/>
                        </a:rPr>
                        <a:t>Stage</a:t>
                      </a:r>
                    </a:p>
                  </a:txBody>
                  <a:tcPr>
                    <a:solidFill>
                      <a:srgbClr val="0A2540"/>
                    </a:solidFill>
                  </a:tcPr>
                </a:tc>
                <a:tc>
                  <a:txBody>
                    <a:bodyPr wrap="square"/>
                    <a:lstStyle/>
                    <a:p>
                      <a:pPr algn="l">
                        <a:spcAft>
                          <a:spcPts val="0"/>
                        </a:spcAft>
                        <a:buNone/>
                      </a:pPr>
                      <a:r>
                        <a:rPr sz="1300" b="1">
                          <a:solidFill>
                            <a:srgbClr val="FFFFFF"/>
                          </a:solidFill>
                          <a:latin typeface="Arial"/>
                        </a:rPr>
                        <a:t>What you built</a:t>
                      </a:r>
                    </a:p>
                  </a:txBody>
                  <a:tcPr>
                    <a:solidFill>
                      <a:srgbClr val="0A2540"/>
                    </a:solidFill>
                  </a:tcPr>
                </a:tc>
                <a:tc>
                  <a:txBody>
                    <a:bodyPr wrap="square"/>
                    <a:lstStyle/>
                    <a:p>
                      <a:pPr algn="l">
                        <a:spcAft>
                          <a:spcPts val="0"/>
                        </a:spcAft>
                        <a:buNone/>
                      </a:pPr>
                      <a:r>
                        <a:rPr sz="1300" b="1">
                          <a:solidFill>
                            <a:srgbClr val="FFFFFF"/>
                          </a:solidFill>
                          <a:latin typeface="Arial"/>
                        </a:rPr>
                        <a:t>The rule</a:t>
                      </a:r>
                    </a:p>
                  </a:txBody>
                  <a:tcPr>
                    <a:solidFill>
                      <a:srgbClr val="0A2540"/>
                    </a:solidFill>
                  </a:tcPr>
                </a:tc>
              </a:tr>
              <a:tr h="457200">
                <a:tc>
                  <a:txBody>
                    <a:bodyPr wrap="square"/>
                    <a:lstStyle/>
                    <a:p>
                      <a:pPr algn="l">
                        <a:spcAft>
                          <a:spcPts val="0"/>
                        </a:spcAft>
                        <a:buNone/>
                      </a:pPr>
                      <a:r>
                        <a:rPr sz="1250" b="0">
                          <a:solidFill>
                            <a:srgbClr val="202B38"/>
                          </a:solidFill>
                          <a:latin typeface="Arial"/>
                        </a:rPr>
                        <a:t>Prep (NB1)</a:t>
                      </a:r>
                    </a:p>
                  </a:txBody>
                  <a:tcPr>
                    <a:solidFill>
                      <a:srgbClr val="FFFFFF"/>
                    </a:solidFill>
                  </a:tcPr>
                </a:tc>
                <a:tc>
                  <a:txBody>
                    <a:bodyPr wrap="square"/>
                    <a:lstStyle/>
                    <a:p>
                      <a:pPr algn="l">
                        <a:spcAft>
                          <a:spcPts val="0"/>
                        </a:spcAft>
                        <a:buNone/>
                      </a:pPr>
                      <a:r>
                        <a:rPr sz="1250" b="0">
                          <a:solidFill>
                            <a:srgbClr val="202B38"/>
                          </a:solidFill>
                          <a:latin typeface="Arial"/>
                        </a:rPr>
                        <a:t>Split 80/20 first; impute, encode, scale; Title + FamilySize; one Pipeline</a:t>
                      </a:r>
                    </a:p>
                  </a:txBody>
                  <a:tcPr>
                    <a:solidFill>
                      <a:srgbClr val="FFFFFF"/>
                    </a:solidFill>
                  </a:tcPr>
                </a:tc>
                <a:tc>
                  <a:txBody>
                    <a:bodyPr wrap="square"/>
                    <a:lstStyle/>
                    <a:p>
                      <a:pPr algn="l">
                        <a:spcAft>
                          <a:spcPts val="0"/>
                        </a:spcAft>
                        <a:buNone/>
                      </a:pPr>
                      <a:r>
                        <a:rPr sz="1250" b="0">
                          <a:solidFill>
                            <a:srgbClr val="202B38"/>
                          </a:solidFill>
                          <a:latin typeface="Arial"/>
                        </a:rPr>
                        <a:t>Split first. Fit on train only. Pipelines always.</a:t>
                      </a:r>
                    </a:p>
                  </a:txBody>
                  <a:tcPr>
                    <a:solidFill>
                      <a:srgbClr val="FFFFFF"/>
                    </a:solidFill>
                  </a:tcPr>
                </a:tc>
              </a:tr>
              <a:tr h="457200">
                <a:tc>
                  <a:txBody>
                    <a:bodyPr wrap="square"/>
                    <a:lstStyle/>
                    <a:p>
                      <a:pPr algn="l">
                        <a:spcAft>
                          <a:spcPts val="0"/>
                        </a:spcAft>
                        <a:buNone/>
                      </a:pPr>
                      <a:r>
                        <a:rPr sz="1250" b="0">
                          <a:solidFill>
                            <a:srgbClr val="202B38"/>
                          </a:solidFill>
                          <a:latin typeface="Arial"/>
                        </a:rPr>
                        <a:t>Select (NB2)</a:t>
                      </a:r>
                    </a:p>
                  </a:txBody>
                  <a:tcPr>
                    <a:solidFill>
                      <a:srgbClr val="EEF3FD"/>
                    </a:solidFill>
                  </a:tcPr>
                </a:tc>
                <a:tc>
                  <a:txBody>
                    <a:bodyPr wrap="square"/>
                    <a:lstStyle/>
                    <a:p>
                      <a:pPr algn="l">
                        <a:spcAft>
                          <a:spcPts val="0"/>
                        </a:spcAft>
                        <a:buNone/>
                      </a:pPr>
                      <a:r>
                        <a:rPr sz="1250" b="0">
                          <a:solidFill>
                            <a:srgbClr val="202B38"/>
                          </a:solidFill>
                          <a:latin typeface="Arial"/>
                        </a:rPr>
                        <a:t>Six-model tournament, 5-fold CV; Dummy floor 0.617; LogReg wins 0.819</a:t>
                      </a:r>
                    </a:p>
                  </a:txBody>
                  <a:tcPr>
                    <a:solidFill>
                      <a:srgbClr val="EEF3FD"/>
                    </a:solidFill>
                  </a:tcPr>
                </a:tc>
                <a:tc>
                  <a:txBody>
                    <a:bodyPr wrap="square"/>
                    <a:lstStyle/>
                    <a:p>
                      <a:pPr algn="l">
                        <a:spcAft>
                          <a:spcPts val="0"/>
                        </a:spcAft>
                        <a:buNone/>
                      </a:pPr>
                      <a:r>
                        <a:rPr sz="1250" b="0">
                          <a:solidFill>
                            <a:srgbClr val="202B38"/>
                          </a:solidFill>
                          <a:latin typeface="Arial"/>
                        </a:rPr>
                        <a:t>Baseline first; pick the metric that fits the problem.</a:t>
                      </a:r>
                    </a:p>
                  </a:txBody>
                  <a:tcPr>
                    <a:solidFill>
                      <a:srgbClr val="EEF3FD"/>
                    </a:solidFill>
                  </a:tcPr>
                </a:tc>
              </a:tr>
              <a:tr h="457200">
                <a:tc>
                  <a:txBody>
                    <a:bodyPr wrap="square"/>
                    <a:lstStyle/>
                    <a:p>
                      <a:pPr algn="l">
                        <a:spcAft>
                          <a:spcPts val="0"/>
                        </a:spcAft>
                        <a:buNone/>
                      </a:pPr>
                      <a:r>
                        <a:rPr sz="1250" b="0">
                          <a:solidFill>
                            <a:srgbClr val="202B38"/>
                          </a:solidFill>
                          <a:latin typeface="Arial"/>
                        </a:rPr>
                        <a:t>Tune (NB3)</a:t>
                      </a:r>
                    </a:p>
                  </a:txBody>
                  <a:tcPr>
                    <a:solidFill>
                      <a:srgbClr val="FFFFFF"/>
                    </a:solidFill>
                  </a:tcPr>
                </a:tc>
                <a:tc>
                  <a:txBody>
                    <a:bodyPr wrap="square"/>
                    <a:lstStyle/>
                    <a:p>
                      <a:pPr algn="l">
                        <a:spcAft>
                          <a:spcPts val="0"/>
                        </a:spcAft>
                        <a:buNone/>
                      </a:pPr>
                      <a:r>
                        <a:rPr sz="1250" b="0">
                          <a:solidFill>
                            <a:srgbClr val="202B38"/>
                          </a:solidFill>
                          <a:latin typeface="Arial"/>
                        </a:rPr>
                        <a:t>Grid + random search: 0.7937 to 0.8274; one test look: 0.8268</a:t>
                      </a:r>
                    </a:p>
                  </a:txBody>
                  <a:tcPr>
                    <a:solidFill>
                      <a:srgbClr val="FFFFFF"/>
                    </a:solidFill>
                  </a:tcPr>
                </a:tc>
                <a:tc>
                  <a:txBody>
                    <a:bodyPr wrap="square"/>
                    <a:lstStyle/>
                    <a:p>
                      <a:pPr algn="l">
                        <a:spcAft>
                          <a:spcPts val="0"/>
                        </a:spcAft>
                        <a:buNone/>
                      </a:pPr>
                      <a:r>
                        <a:rPr sz="1250" b="0">
                          <a:solidFill>
                            <a:srgbClr val="202B38"/>
                          </a:solidFill>
                          <a:latin typeface="Arial"/>
                        </a:rPr>
                        <a:t>Search honestly; the test set is used exactly once.</a:t>
                      </a:r>
                    </a:p>
                  </a:txBody>
                  <a:tcPr>
                    <a:solidFill>
                      <a:srgbClr val="FFFFFF"/>
                    </a:solidFill>
                  </a:tcPr>
                </a:tc>
              </a:tr>
              <a:tr h="457200">
                <a:tc>
                  <a:txBody>
                    <a:bodyPr wrap="square"/>
                    <a:lstStyle/>
                    <a:p>
                      <a:pPr algn="l">
                        <a:spcAft>
                          <a:spcPts val="0"/>
                        </a:spcAft>
                        <a:buNone/>
                      </a:pPr>
                      <a:r>
                        <a:rPr sz="1250" b="0">
                          <a:solidFill>
                            <a:srgbClr val="202B38"/>
                          </a:solidFill>
                          <a:latin typeface="Arial"/>
                        </a:rPr>
                        <a:t>Ship (NB3)</a:t>
                      </a:r>
                    </a:p>
                  </a:txBody>
                  <a:tcPr>
                    <a:solidFill>
                      <a:srgbClr val="EEF3FD"/>
                    </a:solidFill>
                  </a:tcPr>
                </a:tc>
                <a:tc>
                  <a:txBody>
                    <a:bodyPr wrap="square"/>
                    <a:lstStyle/>
                    <a:p>
                      <a:pPr algn="l">
                        <a:spcAft>
                          <a:spcPts val="0"/>
                        </a:spcAft>
                        <a:buNone/>
                      </a:pPr>
                      <a:r>
                        <a:rPr sz="1250" b="0">
                          <a:solidFill>
                            <a:srgbClr val="202B38"/>
                          </a:solidFill>
                          <a:latin typeface="Arial"/>
                        </a:rPr>
                        <a:t>joblib save; Gradio app; Hugging Face Spaces; versioned v1</a:t>
                      </a:r>
                    </a:p>
                  </a:txBody>
                  <a:tcPr>
                    <a:solidFill>
                      <a:srgbClr val="EEF3FD"/>
                    </a:solidFill>
                  </a:tcPr>
                </a:tc>
                <a:tc>
                  <a:txBody>
                    <a:bodyPr wrap="square"/>
                    <a:lstStyle/>
                    <a:p>
                      <a:pPr algn="l">
                        <a:spcAft>
                          <a:spcPts val="0"/>
                        </a:spcAft>
                        <a:buNone/>
                      </a:pPr>
                      <a:r>
                        <a:rPr sz="1250" b="0">
                          <a:solidFill>
                            <a:srgbClr val="202B38"/>
                          </a:solidFill>
                          <a:latin typeface="Arial"/>
                        </a:rPr>
                        <a:t>Save the whole pipeline; monitor - models go stale.</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M1 described the past for people to read; M2 learned from it so software can answer about the future. Module 3 adds the next layer: cloud ML APIs - consuming models other people have trained and deployed.</a:t>
            </a:r>
          </a:p>
        </p:txBody>
      </p:sp>
      <p:pic>
        <p:nvPicPr>
          <p:cNvPr id="9" name="Picture 8" descr="echo_da_vs_ml_strip.png"/>
          <p:cNvPicPr>
            <a:picLocks noChangeAspect="1"/>
          </p:cNvPicPr>
          <p:nvPr/>
        </p:nvPicPr>
        <p:blipFill>
          <a:blip r:embed="rId2"/>
          <a:stretch>
            <a:fillRect/>
          </a:stretch>
        </p:blipFill>
        <p:spPr>
          <a:xfrm>
            <a:off x="548640" y="1847088"/>
            <a:ext cx="11091672" cy="1401053"/>
          </a:xfrm>
          <a:prstGeom prst="rect">
            <a:avLst/>
          </a:prstGeom>
        </p:spPr>
      </p:pic>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4 - Optimization and Deployment</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80160"/>
            <a:ext cx="10332720" cy="1097280"/>
          </a:xfrm>
          <a:prstGeom prst="rect">
            <a:avLst/>
          </a:prstGeom>
          <a:noFill/>
        </p:spPr>
        <p:txBody>
          <a:bodyPr wrap="square">
            <a:spAutoFit/>
          </a:bodyPr>
          <a:lstStyle/>
          <a:p>
            <a:pPr algn="l">
              <a:spcAft>
                <a:spcPts val="600"/>
              </a:spcAft>
              <a:buNone/>
            </a:pPr>
            <a:r>
              <a:rPr sz="3400" b="1">
                <a:solidFill>
                  <a:srgbClr val="FFFFFF"/>
                </a:solidFill>
                <a:latin typeface="Arial"/>
              </a:rPr>
              <a:t>Session 4 - what to remember</a:t>
            </a:r>
          </a:p>
        </p:txBody>
      </p:sp>
      <p:sp>
        <p:nvSpPr>
          <p:cNvPr id="4" name="TextBox 3"/>
          <p:cNvSpPr txBox="1"/>
          <p:nvPr/>
        </p:nvSpPr>
        <p:spPr>
          <a:xfrm>
            <a:off x="914400" y="2651760"/>
            <a:ext cx="10058400" cy="2926080"/>
          </a:xfrm>
          <a:prstGeom prst="rect">
            <a:avLst/>
          </a:prstGeom>
          <a:noFill/>
        </p:spPr>
        <p:txBody>
          <a:bodyPr wrap="square">
            <a:spAutoFit/>
          </a:bodyPr>
          <a:lstStyle/>
          <a:p>
            <a:pPr algn="l" indent="-228600" marL="228600">
              <a:spcAft>
                <a:spcPts val="1000"/>
              </a:spcAft>
              <a:buClr>
                <a:srgbClr val="1E5EF3"/>
              </a:buClr>
              <a:buChar char="—"/>
            </a:pPr>
            <a:r>
              <a:rPr sz="1600" b="0">
                <a:solidFill>
                  <a:srgbClr val="B9D0FA"/>
                </a:solidFill>
                <a:latin typeface="Arial"/>
              </a:rPr>
              <a:t>Part 1, the theory: every setting is a different algorithm - tune with CV, never the test set; random search spends trials where grids waste them.</a:t>
            </a:r>
          </a:p>
          <a:p>
            <a:pPr algn="l" indent="-228600" marL="228600">
              <a:spcAft>
                <a:spcPts val="1000"/>
              </a:spcAft>
              <a:buClr>
                <a:srgbClr val="1E5EF3"/>
              </a:buClr>
              <a:buChar char="—"/>
            </a:pPr>
            <a:r>
              <a:rPr sz="1600" b="0">
                <a:solidFill>
                  <a:srgbClr val="B9D0FA"/>
                </a:solidFill>
                <a:latin typeface="Arial"/>
              </a:rPr>
              <a:t>Diagnose the failing bar before turning any knob; when knobs stall, count errors; steer by ONE metric - CHOOSE often, REPORT once.</a:t>
            </a:r>
          </a:p>
          <a:p>
            <a:pPr algn="l" indent="-228600" marL="228600">
              <a:spcAft>
                <a:spcPts val="1000"/>
              </a:spcAft>
              <a:buClr>
                <a:srgbClr val="1E5EF3"/>
              </a:buClr>
              <a:buChar char="—"/>
            </a:pPr>
            <a:r>
              <a:rPr sz="1600" b="0">
                <a:solidFill>
                  <a:srgbClr val="B9D0FA"/>
                </a:solidFill>
                <a:latin typeface="Arial"/>
              </a:rPr>
              <a:t>Part 2, the practice: random search reached CV 0.8274; the one test look said 0.8268 - the tuning did not fool itself.</a:t>
            </a:r>
          </a:p>
          <a:p>
            <a:pPr algn="l" indent="-228600" marL="228600">
              <a:spcAft>
                <a:spcPts val="1000"/>
              </a:spcAft>
              <a:buClr>
                <a:srgbClr val="1E5EF3"/>
              </a:buClr>
              <a:buChar char="—"/>
            </a:pPr>
            <a:r>
              <a:rPr sz="1600" b="0">
                <a:solidFill>
                  <a:srgbClr val="B9D0FA"/>
                </a:solidFill>
                <a:latin typeface="Arial"/>
              </a:rPr>
              <a:t>Ship the recipe retrained on everything, then the loop: save, load, wrap, host, monitor - watch for data AND concept drift.</a:t>
            </a:r>
          </a:p>
          <a:p>
            <a:pPr algn="l" indent="-228600" marL="228600">
              <a:spcAft>
                <a:spcPts val="1000"/>
              </a:spcAft>
              <a:buClr>
                <a:srgbClr val="1E5EF3"/>
              </a:buClr>
              <a:buChar char="—"/>
            </a:pPr>
            <a:r>
              <a:rPr sz="1600" b="0">
                <a:solidFill>
                  <a:srgbClr val="B9D0FA"/>
                </a:solidFill>
                <a:latin typeface="Arial"/>
              </a:rPr>
              <a:t>Survived = 0 for Owen, 1 for Florence, 1 for Frankie (the 9-year-old "Master") - the odds were never abstract.</a:t>
            </a:r>
          </a:p>
          <a:p>
            <a:pPr algn="l" indent="-228600" marL="228600">
              <a:spcAft>
                <a:spcPts val="1000"/>
              </a:spcAft>
              <a:buClr>
                <a:srgbClr val="1E5EF3"/>
              </a:buClr>
              <a:buChar char="—"/>
            </a:pPr>
            <a:r>
              <a:rPr sz="1600" b="0">
                <a:solidFill>
                  <a:srgbClr val="B9D0FA"/>
                </a:solidFill>
                <a:latin typeface="Arial"/>
              </a:rPr>
              <a:t>Practice now: notebook 03-model-optimization-and-deployment in Colab.</a:t>
            </a:r>
          </a:p>
        </p:txBody>
      </p:sp>
      <p:sp>
        <p:nvSpPr>
          <p:cNvPr id="5" name="TextBox 4"/>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B9D0FA"/>
                </a:solidFill>
                <a:latin typeface="Arial"/>
              </a:rPr>
              <a:t>Machine Learning - Module 2</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M2 Session 4 - Optimization and Deployment</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M2 Session 4 - Optimization and Deployment</dc:title>
  <dc:subject/>
  <dc:creator>M2 Machine Learning course</dc:creator>
  <cp:keywords/>
  <dc:description/>
  <cp:lastModifiedBy>M2 Machine Learning course</cp:lastModifiedBy>
  <cp:revision>1</cp:revision>
  <dcterms:created xsi:type="dcterms:W3CDTF">2013-01-27T09:14:16Z</dcterms:created>
  <dcterms:modified xsi:type="dcterms:W3CDTF">2013-01-27T09:15:58Z</dcterms:modified>
  <cp:category/>
</cp:coreProperties>
</file>