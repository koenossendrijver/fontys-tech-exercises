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bar itself before the rules: the pale band is the 712 training rows, the dark block is the 179 test rows kept sealed, and the hatched stripe inside training is validation - the practice tests we build in Session 3. Then the exam metaphor: study on train, pick your strategy with practice tests, sit the final once. Today never leaves the study material - every value we compute comes from the 712 training rows. Ask the class: why does even an average count as 'part of the model'?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never meets Frankie - it meets the row of numbers you built to stand for him, and that row is its entire world. Point at the two panels: the dots never move, only the axis changes, and suddenly a straight line fits. That is the whole chapter in one picture. Ask the class: if the model only sees the numbers, who is responsible when it sees the world wrongly?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kitchen line: models are picky eaters - they only eat numbers, refuse plates with gaps, and complain when portions are on wildly different scales. Each row of the table is one complaint and its fix: encoding, imputation, scaling. Ask the class: what would the model make of the word 'Southampton' if we fed it raw?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it first: 177 of our 891 ages are simply blank - the question is WHY. Walk the cards left to right; each card gives the meaning, a plausible Titanic story, the risk, the fix. Harvard's device: MCAR is poking holes in the table blindfolded - annoying but fair. MAR holes cluster where another visible column points, so ignoring them biases you. MNAR holes are caused by the very value that is missing - no fill can see that. The deciding information is missing by definition, so the table cannot settle it. Run the discussion: which species are our 177 missing ages? Any argued answer beats a certain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concrete: the manifest literally says 'S' in the Embarked column, and the model cannot eat letters. Walk the three cards left to right, then the navy strip at the bottom - the forbidden move. Frame encoding as translation into the only language the model speaks - numbers - and honesty as translating without adding claims. Coding red=1, blue=2 quietly tells the model blue is twice red; it will believe you. One-hot claims nothing, the thermometer claims only order, keeping a real number claims real distances. Ask the class: is T-shirt size S/M/L more like Embarked or more like Age?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it first: Fare runs 0-512 and Age 0-80, so to the model Fare shouts and Age whispers. Then teach the picture before the moral: each panel is a map of the search for the best settings - one ring joins settings that score the same, the star is the best setting, the dotted trail is training's steps from the 'start' marker. Unscaled, the map is a skinny valley: the walk zigzags and crawls. Scaled, it is a round bowl: straight to the star. The destination never moves - only the trip changes. Ask the class: which of our columns stretches the valley worst?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picture slowly: four corner points - blue circles are one class, dark squares the other - and diagonal corners share a class, so no straight line will ever split them; let students try (the gray dashed lines are failed tries). Then multiply the two coordinates into one new column and the four points sort themselves onto two spots a single threshold separates. We never touched the model - we changed what it looks at. Ask the class: did the model get smarter, or did the world get simpler?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dots first: they rise and then fall, and a ruler cannot follow that - the dashed line on the left proves it. Then the kitchen: the line is the cook, the columns are the ingredients. Hand the cook x squared as one more ingredient and the same recipe starts producing curves - no new cook, no new technique. But every extra ingredient is also freedom to cook nonsense that matches noise; Session 3 puts a price on that. Ask the class: what column would you hand the line so it could bend twice?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it in the chart: 137 blank ages in train, 40 in test. The median is just the middle value, and only the 712 training rows may vote: they say 28.5, and that one number fills every gap in both halves. The test rows' own median, 27.0, is exactly the information we refuse to use - the test set is the future, and you cannot compute statistics on data you have not seen yet. Same rule for Embarked's 2 gaps: most_frequent learns 'S' from train. Ask the class: what would be wrong with filling test gaps with 27.0?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one row of the table aloud: Passenger 2 boarded at C, so the C column gets the 1 and the others get 0 - that lone 1 is why it is called one-hot. No order, no distance is invented; Part 1's menu chose this because Embarked has no real order. Then the trap: pd.get_dummies rebuilds columns from whatever data it sees, so train and test can drift apart; the sklearn encoder fixes the layout at fit(train) and reproduces it forever. Ask the class: what should happen to a port the training set never saw?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grounding as Part 1: Fare shouts (0-512), Age whispers (0-80) - the chart makes the mismatch physical. Models that measure distances or weigh sums (KNN, Logistic Regression) hear only the loud axis; trees just ask yes/no questions like 'is Fare &gt; 30?', so they never notice. StandardScaler re-expresses each value as 'how far from average'; MinMaxScaler squeezes into 0-1. Either way the histogram's shape is untouched - only the ruler's labels change. Ask the class: which of our six models from the next session will care?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real name: 'Cumings, Mrs. John Bradley' - the title Mrs is sitting right there in the text. The regex just grabs the word before the period; 14 raw titles collapse into five buckets. The payoff is Master, the old-fashioned title for a young boy: to the Sex column, Owen (22) and Frankie (9) are both simply 'male', but Title tells the man from the boy - which mattered a lot on a sinking ship. Signal check before keeping any new column: Mrs and Miss survived far more often than Mr, and Master sits well above adult 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addition, one new column: siblings/spouses plus parents/children plus yourself. Work the two passengers: Owen has a sibling aboard, so 1+0+1 = 2; Frankie has two parents aboard, so 0+2+1 = 3. IsAlone flags the 434 solo travelers - more than half the training set. On the chart, the blue bars (sizes 2-4) are the families that fared best; solo travelers and the very large families fared badly. Close with the discipline: a new column earns its place only if it carries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Ng's own example, in plain terms: a house lot has a width facing the street (the 'frontage') and a depth. Multiply them and you get the area - one new column, often more predictive than either raw one, and no new data collected. Then mirror it on the Titanic: SibSp + Parch + 1 became FamilySize, and Name became Title. Same rule both times: use knowledge about the problem to design new columns. Ask the class: what other Titanic column pair might multiply into something useful?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reading order out loud: top lane first - one real boy, Frankie, PassengerId 166, raw row on the left, 18 numbers on the right. Then the bottom lane: the three machines that do it - impute, encode, scale - and the dotted link showing the top lane's last arrow IS that machinery. Hammer the verbs once more: fit_transform on train learns the values, transform on test only applies them. One Pipeline means no leakage, no forgotten steps, and the whole thing travels as a single object - Sessions 3 and 4 reuse it verbatim. Note IsAlone: computed, but dropped by the ColumnTransformer.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Data Preparation and 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The manifest - the ship's passenger list - is messy: 177 missing ages, titles buried inside names, scales that disagree. Today we turn passengers into signals - without cheating.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RECAP AND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bar rules the module: FIT on train, CHOOSE by validation, REPORT on test -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Last time: 891 passenger rows, split 80/20 - 712 train, 179 test (stratified, seed 42)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the bar: pale band = the 712 training rows; dark block = the 179 test rows, sealed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hatched stripe sits INSIDE training: validation - practice tests, built in Session 3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Exam terms: study on train, pick your strategy with practice tests, sit the final once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Anything learned FROM data - a fill-in value, a scaler - is part of the model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So it must never see the test rows. Today lives entirely in the FIT band</a:t>
            </a:r>
          </a:p>
        </p:txBody>
      </p:sp>
      <p:pic>
        <p:nvPicPr>
          <p:cNvPr id="8" name="Picture 7" descr="frame_c_bar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16689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bar every session returns to. Harvard CS109A / ISLR ch. 5 (model selection vs model assessment).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1 - The theory: turning passengers into rows of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A row of numbers is called a vector. Before any code: the model only sees the numbers you construct - gaps, encodings, scales, and new columns are design decisions, not chores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model only sees the numbers you construct - representation comes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model never meets a passenger - it meets a row of numbers built to stand for one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That row is the representation: the numbers you choose to describe each passenger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the charts: each dot is one example; the line is the best straight line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Left: plotted against x, no straight line fits the dots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Right: the SAME dots against x squared - now they line up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dots never move; only the axis changes - good columns beat fancy algorithms</a:t>
            </a:r>
          </a:p>
        </p:txBody>
      </p:sp>
      <p:pic>
        <p:nvPicPr>
          <p:cNvPr id="8" name="Picture 7" descr="fig_repres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1562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Same 26 synthetic dots in both panels; only the horizontal axis changes. MIT 6.390, ch. 5 "Feature representation".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WHY PREPARATION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Models are picky eaters: they want numbers only, no gaps, sensible scales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0167"/>
                <a:gridCol w="4880335"/>
                <a:gridCol w="37711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model demands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Raw Titanic reality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fix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Numbers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Sex is "male"/"female"; Embarked is C/Q/S; Name is free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Encoding: turn categories into 0/1 columns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 gaps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 missing in 177 of 891 rows (19.9%); Embarked missing in 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Imputation: fill gaps with a value learned from train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Sensible scales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 runs 0 to 80 while Fare runs 0 to 512 - Fare shouts, Age whispers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Scaling: put features on a comparable ruler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Why so picky? A model sees each passenger as a point in space, one axis per column - words and gaps have no place on an axis. Impute = fill a gap with a learned substitute. Counts: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MISSING VALUES: THE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Missing values come in three species - and the data cannot tell you which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Our table is missing 177 of 891 ages. WHY a hole exists matters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read: one card per species - meaning, a Titanic story, the risk, the fix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MCAR: holes poked blindfolded - nothing decides where they land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MAR: holes cluster by ANOTHER column you can see (class, say)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MNAR: the hidden value itself caused the hole - the nastiest kind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data alone cannot tell you which. Discuss: which are our 177?</a:t>
            </a:r>
          </a:p>
        </p:txBody>
      </p:sp>
      <p:pic>
        <p:nvPicPr>
          <p:cNvPr id="8" name="Picture 7" descr="fig_missingness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4063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Each Titanic story is plausible, not asserted. Harvard CS109A, Missing Data lecture (2020, L19).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ENCODING: THE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Three honest encodings: one-hot labels, thermometer ranks, standardized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manifest says Embarked = S. The model needs numbers, not letters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Encoding = translating categories into numbers, without inventing facts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read: one card per code - when it applies, the translation, why it is honest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One-hot (no real order): each category gets its own 0/1 column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Thermometer (order, no spacing): keeps the ranking S &lt; M &lt; L, nothing more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Keep-numeric (true quantities): Age and Fare stay numbers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navy strip is the trap: C=1, Q=2, S=3 claims S is three times C</a:t>
            </a:r>
          </a:p>
        </p:txBody>
      </p:sp>
      <p:pic>
        <p:nvPicPr>
          <p:cNvPr id="8" name="Picture 7" descr="fig_encodings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8920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the encoding menu. MIT 6.390, ch. 5, sec. 5.3 "Hand-constructing features".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SCALING: THE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Scaling does not change the destination - it straightens the road to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Fare runs 0 to 512, Age 0 to 80 - to the model, Fare shouts and Age whispers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Each picture is a map of the search for the best settings: every ring = settings scoring the same; the star = the best; the dots = training's steps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Unscaled: the map is a long skinny valley - the search zigzags and crawls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Scaled: the map turns round - the search walks straight to the star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Scaling never changes the answer - only how fast and surely you find it</a:t>
            </a:r>
          </a:p>
        </p:txBody>
      </p:sp>
      <p:pic>
        <p:nvPicPr>
          <p:cNvPr id="8" name="Picture 7" descr="fig_contours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148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a schematic map of the search, not course data. Ng, Machine Learning Specialization C1W2.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THE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engineered column, x1 times x2, splits four points no line ever could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Four points, two facts each (x1, x2) - every value +1 or -1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read: blue circles = one class, dark squares = the other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Left: the gray dashed lines are failed tries - no straight line can split circles from squares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Right: re-plot each point by ONE new number, x1 times x2, on a number line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Circles land at +1, squares at -1 - one cut separates them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We never changed the model - we changed the space it looks at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Part 2 repeats the move on the manifest: Title and FamilySize</a:t>
            </a:r>
          </a:p>
        </p:txBody>
      </p:sp>
      <p:pic>
        <p:nvPicPr>
          <p:cNvPr id="8" name="Picture 7" descr="fig_xor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1627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the classic XOR construction. MIT 6.390, ch. 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BASIS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Add an x-squared column and the straight line learns to curve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These dots rise, then fall - one straight line cannot follow that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read: the same dots in both panels; left, the model sees only the column x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Right: append ONE new column, x squared - the same fitter now bends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Kitchen terms: same cook, one extra ingredient - now it can cook curves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This is basis expansion: add powers and products of columns you already have (XOR's x1 times x2 is the same family)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price: every extra column can chase noise - Session 3 counts that cost</a:t>
            </a:r>
          </a:p>
        </p:txBody>
      </p:sp>
      <p:pic>
        <p:nvPicPr>
          <p:cNvPr id="8" name="Picture 7" descr="fig_basis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160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one fitter, two feature tables, synthetic points. Harvard CS109A, Lecture 4 "Polynomial Regression" / ISLR.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2 - Practice: preparing the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The theory applied to 891 passengers: fit on the 712 training rows only, engineer Title and FamilySize, and wire every step into one leak-proof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MISSING VALUES THE ML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Fill gaps with a value learned from train only - the test median stays untouched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Age is blank in 137 train rows and 40 test rows (left chart)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Median = the middle value. The 712 train rows say: median Age 28.5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That one number, 28.5, fills every gap - in train AND in test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test-only median, 27.0, is "exactly the information we refuse to use"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code: SimpleImputer(strategy="median") - fit on train, transform both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Embarked, 2 gaps: strategy="most_frequent" learns "S" from train</a:t>
            </a:r>
          </a:p>
        </p:txBody>
      </p:sp>
      <p:pic>
        <p:nvPicPr>
          <p:cNvPr id="8" name="Picture 7" descr="fig_i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793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Left: rows with Age blank. Right: each half's median - only train's is ever used.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ENCODING CATEGORICAL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One-hot gives each category its own 0/1 column - and the training set fixes the columns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500"/>
                <a:gridCol w="2440167"/>
                <a:gridCol w="2218334"/>
                <a:gridCol w="2218334"/>
                <a:gridCol w="2218334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Passenger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Embarked_C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Embarked_Q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Part 1's menu chose for us: Embarked has no real order, so one-hot - never C=1, Q=2, S=3.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79392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Read one row: Passenger 2 boarded at C, so Embarked_C is 1 and the other two are 0 - exactly one column is 'hot' per row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fit(train) fixes the column layout once; transform(test) always reproduces those same columns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handle_unknown="ignore": an unseen category becomes all zeros - no crash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pd.get_dummies instead builds columns from whatever it happens to see - train and test drift apart (the notebook demo misaligns them)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Scaling re-labels the ruler: distance models care, trees never notice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Look right: Fare runs 0 to 512, Age 0 to 80 - Fare shouts, Age whispers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Distance and equation models (KNN, Logistic Regression) hear only the shouting axis: raw Fare gaps drown out Age gaps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Trees only ask yes/no questions - "is Fare &gt; 30?" - so scale never matters to them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StandardScaler re-expresses values as 'how far from average': Fare becomes mean -0.00, std 1.00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MinMaxScaler instead squeezes Fare into 0.0 to 1.0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histogram's shape never changes - scaling only re-labels the ruler</a:t>
            </a:r>
          </a:p>
        </p:txBody>
      </p:sp>
      <p:pic>
        <p:nvPicPr>
          <p:cNvPr id="8" name="Picture 7" descr="fig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90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Each bar = one column's raw range in the training set.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Title packs sex, age, and status into one column - and finds the boys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Name hides a title: "Cumings, Mrs. John Bradley" contains Mrs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regex (a text-search pattern), " ([A-Za-z]+)\.", grabs the word before the period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14 raw titles group into 5 buckets: Mr, Miss, Mrs, Master, Rare - the chart counts them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Frankie, age 9, is a "Master" - the old title for a young boy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Sex alone calls Owen (22) and Frankie (9) both male - Title tells the man from the boy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Signal check: Mrs and Miss survived far more often than Mr; Master sits well above adult men</a:t>
            </a:r>
          </a:p>
        </p:txBody>
      </p:sp>
      <p:pic>
        <p:nvPicPr>
          <p:cNvPr id="8" name="Picture 7" descr="fig_tit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793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Grouped Title counts, training set (712 rows). Master highlighted: the boys the Sex column hides.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FAMILYSIZE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FamilySize = SibSp + Parch + 1 - small families of 2 to 4 fared best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FamilySize = SibSp (siblings/spouses) + Parch (parents/children) + 1: you count yourself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Owen: 1 + 0 + himself = 2. Frankie: 0 + 2 + himself = 3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IsAlone = 1 when FamilySize is 1 - true for 434 of 712 training passengers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Chart: one bar per family size, counting passengers; the blue bars are sizes 2 to 4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Those small families fared best; solo travelers and very large families fared badly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More features is not automatically better - always check for signal</a:t>
            </a:r>
          </a:p>
        </p:txBody>
      </p:sp>
      <p:pic>
        <p:nvPicPr>
          <p:cNvPr id="8" name="Picture 7" descr="fig_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816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FamilySize distribution, training set. Blue bars: the sizes that fared best.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ENGINEERING, ATTRIBUTED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Multiply two weak columns and you can get one strong feature - Ng's area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Andrew Ng - Machine Learning Specialization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 house lot has a street-facing width (x1, the 'frontage') and a depth (x2)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New feature: x3 = x1 * x2 = the lot's area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Exactly Part 1's x1 * x2 move, in Ng's own example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Area often predicts price better than width or depth alone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multiplication - no new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The same move on the Titanic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SibSp + Parch + 1 = FamilySize: one column beats two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Name -&gt; Title: sex, age, and status compressed into one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Master = young boy: a signal Sex and Age only hint at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Good features often improve a model more than a fancier algorithm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Ng's rule for inventing features, paraphrased: use knowledge or intuition about the problem to design new columns. Ng, Machine Learning Specialization.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PUTTING IT ALL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Frankie walks the pipeline: raw row in, 18 leak-proof numbers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Read the top lane first: Frankie's one raw row becomes 18 numbers, left to right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Then the bottom lane: the machinery - impute gaps, encode categories, scale numbers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dotted link: the top lane's last arrow IS the bottom lane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fit_transform(train) learns every step's values; transform(test) only applies them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Pipeline: no leakage, no forgotten steps, portable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IsAlone is computed but not on the feature lists - the ColumnTransformer drops it</a:t>
            </a:r>
          </a:p>
        </p:txBody>
      </p:sp>
      <p:pic>
        <p:nvPicPr>
          <p:cNvPr id="8" name="Picture 7" descr="s2_pipeline_frank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927" y="1874519"/>
            <a:ext cx="643366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PassengerId 166, raw fields verbatim from the dataset. The canonical prep, reused verbatim by Sessions 3 and 4.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Two parts, three golden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1, the theory: the model only sees the numbers you construct (MIT)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Missing values have species - MCAR, MAR, MNAR - and the data cannot tell you which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Features change the geometry: Ng's area, MIT's XOR, Harvard's x-squared - good columns beat fancier algorithms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2, the practice: split first (80/20, seed 42, stratified); fit on train only; Pipelines always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Proof it works: a plain Logistic Regression scores 0.838 on the 179 unseen passengers - train 0.829, no memorization gap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Choosing the best model is Session 3's job. Practice now: notebook 01-data-prep-and-feature-engineering in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2 - Data Prep and Feature Engineering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