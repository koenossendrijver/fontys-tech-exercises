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Re-say the exam metaphor before the theory: practice tests choose your strategy - you can take as many as you like; the final exam grades it - and you sit it once. Selection is the practice-test job, assessment is the final. Ask the class: what would go wrong if you picked your strategy based on the final's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Strip the Latin off the term: empirical risk minimization is studying from past exams - pick whatever strategy made the fewest mistakes on the old exams. The catch sits in the table: Rule D scores a perfect zero because it memorized the answer sheet, and it says nothing about tomorrow. Ask the class: which classmate is Rule D - and how do they do on a fresh exam?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numbers, one diagnosis: how wrong on the material it studied (bias), and how much worse on the practice test (variance). If students read Ng later: he calls the validation set the 'dev set' - same thing. Walk the two example cards into their grid cells before naming the cures. Ask the class: train 2%, validation 3% - which box, and do you change anything?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them the two plain words before the picture: bias means it misses the same way every time; variance means it gives a different answer every time you retrain it. Then let the panels do the work - tight bundle versus spaghetti, same hidden dashed rule behind both. Ask the class: which panel would you rather ship, and what would change your mind?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shoe shop: structural error is shopping in the wrong aisle - no shoe there fits, no matter how carefully you search. Estimation error is the right aisle but too little time to try pairs - you grab the wrong shoe. Bigger aisle helps the first problem and worsens the second; that tension is the U. Ask the class: which error does more data fix - the aisle or the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carries the slide: every extra wiggle costs points. The model may still buy wiggles - it just has to be worth the price, and lambda sets the price. Walk the three panels: free wiggles chase every point, fair-priced wiggles follow the trend, unaffordable wiggles ignore the data. Ask the class: which panel is the memorizing classmate from the ERM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axis trade: moving right buys shapes, moving down loses readability - you cannot have both ends. Make it concrete: a scorecard's weights can be read to a customer; a committee of 500 trees cannot. Ask the class: your loan is rejected by a model nobody can read - what do you want the bank to be able to tell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family again: cross-validation is five practice tests instead of one, and every row gets one turn as the judge. Then MIT's line students always miss: CV scores the recipe, not the cake - it rates the way of building models, not one finished model. Ask the class: why is an average of five practice tests harder to fool than the best of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1's warning caught on camera: grade the tree on the exact questions it studied and it scores 0.985; grade it on practice tests it never saw and it drops to 0.751. The 0.233 gap is memorization, not learning - the student who copied the answer sheet. Ask the class: which of the two bars would you show your boss, and why is the other one a lie?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99% trap: a disease hits 1 in 100, so 'always say no disease' is 99% accurate and completely useless. The confusion matrix fixes that by splitting one number into four honest counts: right two ways, wrong two ways. Every metric they will ever meet is arithmetic on these four cells. Ask the class: which of our two mistake cells - 11 false alarms or 18 missed survivors - would matter more if this were a rescue list?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not one: precision asks 'when we raise an alarm, how often is it real?'; recall asks 'of the real cases, how many did we catch?'. The problem picks the metric - spam filters fear false alarms, cancer screening fears missed cases. F1 is a strict average of the two that a useless side drags down. Ask the class: for airport security screening, precision first or recall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theory chapter drawn by real data. Depth is the aisle-size dial: too shallow and the family cannot hold a good rule (wrong aisle); past depth 3 the tree starts memorizing the 712 training rows (right aisle, wrong shoe). The grey line only climbs because memorizing always improves the score on the questions you studied. Ask the class: the honest peak is 0.815, not 1.00 - which part of the outcome can no model ever predict? (The noise term ε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learning curve answers one question managers always ask: would more data help? Read the shape - if the honest score has flattened and sits close to the training score, more rows buy almost nothing; if a wide gap remains, more data plausibly helps. Ours is flat and close, so the lever is better features or settings - which is Session 4. Ask the class: your boss offers 10,000 more passenger records - based on this chart, do you take the deal?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058400" cy="365760"/>
          </a:xfrm>
          <a:prstGeom prst="rect">
            <a:avLst/>
          </a:prstGeom>
          <a:noFill/>
        </p:spPr>
        <p:txBody>
          <a:bodyPr wrap="square">
            <a:spAutoFit/>
          </a:bodyPr>
          <a:lstStyle/>
          <a:p>
            <a:pPr algn="l">
              <a:spcAft>
                <a:spcPts val="600"/>
              </a:spcAft>
              <a:buNone/>
            </a:pPr>
            <a:r>
              <a:rPr sz="1400" b="1">
                <a:solidFill>
                  <a:srgbClr val="1E5EF3"/>
                </a:solidFill>
                <a:latin typeface="Arial"/>
              </a:rPr>
              <a:t>SESSION 3 OF 4</a:t>
            </a:r>
          </a:p>
        </p:txBody>
      </p:sp>
      <p:sp>
        <p:nvSpPr>
          <p:cNvPr id="5" name="TextBox 4"/>
          <p:cNvSpPr txBox="1"/>
          <p:nvPr/>
        </p:nvSpPr>
        <p:spPr>
          <a:xfrm>
            <a:off x="914400" y="2377440"/>
            <a:ext cx="10332720" cy="1737360"/>
          </a:xfrm>
          <a:prstGeom prst="rect">
            <a:avLst/>
          </a:prstGeom>
          <a:noFill/>
        </p:spPr>
        <p:txBody>
          <a:bodyPr wrap="square">
            <a:spAutoFit/>
          </a:bodyPr>
          <a:lstStyle/>
          <a:p>
            <a:pPr algn="l">
              <a:spcAft>
                <a:spcPts val="0"/>
              </a:spcAft>
              <a:buNone/>
            </a:pPr>
            <a:r>
              <a:rPr sz="4400" b="1">
                <a:solidFill>
                  <a:srgbClr val="0A2540"/>
                </a:solidFill>
                <a:latin typeface="Arial"/>
              </a:rPr>
              <a:t>Choosing a Model You Can Trust</a:t>
            </a:r>
          </a:p>
        </p:txBody>
      </p:sp>
      <p:sp>
        <p:nvSpPr>
          <p:cNvPr id="6" name="TextBox 5"/>
          <p:cNvSpPr txBox="1"/>
          <p:nvPr/>
        </p:nvSpPr>
        <p:spPr>
          <a:xfrm>
            <a:off x="914400" y="4114800"/>
            <a:ext cx="9601200" cy="822960"/>
          </a:xfrm>
          <a:prstGeom prst="rect">
            <a:avLst/>
          </a:prstGeom>
          <a:noFill/>
        </p:spPr>
        <p:txBody>
          <a:bodyPr wrap="square">
            <a:spAutoFit/>
          </a:bodyPr>
          <a:lstStyle/>
          <a:p>
            <a:pPr algn="l">
              <a:spcAft>
                <a:spcPts val="600"/>
              </a:spcAft>
              <a:buNone/>
            </a:pPr>
            <a:r>
              <a:rPr sz="1800" b="0">
                <a:solidFill>
                  <a:srgbClr val="5B6774"/>
                </a:solidFill>
                <a:latin typeface="Arial"/>
              </a:rPr>
              <a:t>Six models compete to predict who survived the Titanic, one fair referee keeps them honest - and there is a floor every contestant must beat.</a:t>
            </a:r>
          </a:p>
        </p:txBody>
      </p:sp>
      <p:sp>
        <p:nvSpPr>
          <p:cNvPr id="7" name="TextBox 6"/>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5B6774"/>
                </a:solidFill>
                <a:latin typeface="Arial"/>
              </a:rPr>
              <a:t>Machine Learning - Module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MAP FOR TODAY</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Today we live in the CHOOSE band: selection and assessment are different jobs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Where we stand: a model-ready Titanic table - 712 training rows, 179 test rows, 18 features.</a:t>
            </a:r>
          </a:p>
          <a:p>
            <a:pPr algn="l" indent="-228600" marL="228600">
              <a:spcAft>
                <a:spcPts val="800"/>
              </a:spcAft>
              <a:buClr>
                <a:srgbClr val="1E5EF3"/>
              </a:buClr>
              <a:buChar char="—"/>
            </a:pPr>
            <a:r>
              <a:rPr sz="1450" b="0">
                <a:solidFill>
                  <a:srgbClr val="202B38"/>
                </a:solidFill>
                <a:latin typeface="Arial"/>
              </a:rPr>
              <a:t>Six algorithms could predict who survived. Picking by name or fashion is guessing.</a:t>
            </a:r>
          </a:p>
          <a:p>
            <a:pPr algn="l" indent="-228600" marL="228600">
              <a:spcAft>
                <a:spcPts val="800"/>
              </a:spcAft>
              <a:buClr>
                <a:srgbClr val="1E5EF3"/>
              </a:buClr>
              <a:buChar char="—"/>
            </a:pPr>
            <a:r>
              <a:rPr sz="1450" b="0">
                <a:solidFill>
                  <a:srgbClr val="202B38"/>
                </a:solidFill>
                <a:latin typeface="Arial"/>
              </a:rPr>
              <a:t>How to read the bar: all 891 passengers, split once. Light left = 712 training rows; dark right = 179 test rows, sealed.</a:t>
            </a:r>
          </a:p>
          <a:p>
            <a:pPr algn="l" indent="-228600" marL="228600">
              <a:spcAft>
                <a:spcPts val="800"/>
              </a:spcAft>
              <a:buClr>
                <a:srgbClr val="1E5EF3"/>
              </a:buClr>
              <a:buChar char="—"/>
            </a:pPr>
            <a:r>
              <a:rPr sz="1450" b="0">
                <a:solidFill>
                  <a:srgbClr val="202B38"/>
                </a:solidFill>
                <a:latin typeface="Arial"/>
              </a:rPr>
              <a:t>Model SELECTION = practice tests: try many models, always inside the training rows (the CHOOSE band).</a:t>
            </a:r>
          </a:p>
          <a:p>
            <a:pPr algn="l" indent="-228600" marL="228600">
              <a:spcAft>
                <a:spcPts val="800"/>
              </a:spcAft>
              <a:buClr>
                <a:srgbClr val="1E5EF3"/>
              </a:buClr>
              <a:buChar char="—"/>
            </a:pPr>
            <a:r>
              <a:rPr sz="1450" b="0">
                <a:solidFill>
                  <a:srgbClr val="202B38"/>
                </a:solidFill>
                <a:latin typeface="Arial"/>
              </a:rPr>
              <a:t>Model ASSESSMENT = the final exam: grade the winner once, on the sealed test rows (REPORT).</a:t>
            </a:r>
          </a:p>
          <a:p>
            <a:pPr algn="l" indent="-228600" marL="228600">
              <a:spcAft>
                <a:spcPts val="800"/>
              </a:spcAft>
              <a:buClr>
                <a:srgbClr val="1E5EF3"/>
              </a:buClr>
              <a:buChar char="—"/>
            </a:pPr>
            <a:r>
              <a:rPr sz="1450" b="0">
                <a:solidFill>
                  <a:srgbClr val="202B38"/>
                </a:solidFill>
                <a:latin typeface="Arial"/>
              </a:rPr>
              <a:t>Today: Part 1, the theory of judging honestly; Part 2, the tournament that puts it to work.</a:t>
            </a:r>
          </a:p>
        </p:txBody>
      </p:sp>
      <p:pic>
        <p:nvPicPr>
          <p:cNvPr id="8" name="Picture 7" descr="frame_c_bar.png"/>
          <p:cNvPicPr>
            <a:picLocks noChangeAspect="1"/>
          </p:cNvPicPr>
          <p:nvPr/>
        </p:nvPicPr>
        <p:blipFill>
          <a:blip r:embed="rId2"/>
          <a:stretch>
            <a:fillRect/>
          </a:stretch>
        </p:blipFill>
        <p:spPr>
          <a:xfrm>
            <a:off x="5120640" y="1874519"/>
            <a:ext cx="6492240" cy="166897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The one bar that rules Module 2 (it returns in every session). Harvard CS109A / ISLR ch. 5 (model selection vs model assessment).</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01</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1 - The theory: how to judge a learner honestly</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Seven ideas that explain every chart you will see in Part 2: what training really does, why it flatters itself, and how to measure without fooling yourself.</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M2 Session 3 - Model Selection and Evaluation</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EMPIRICAL RISK MINIMIZATION</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Training just minimizes average loss on the past - and a flexible rule can always ace the past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Empirical risk minimization - in plain words: pick the rule with the fewest mistakes on past exams.</a:t>
            </a:r>
          </a:p>
          <a:p>
            <a:pPr algn="l" indent="-228600" marL="228600">
              <a:spcAft>
                <a:spcPts val="800"/>
              </a:spcAft>
              <a:buClr>
                <a:srgbClr val="1E5EF3"/>
              </a:buClr>
              <a:buChar char="—"/>
            </a:pPr>
            <a:r>
              <a:rPr sz="1450" b="0">
                <a:solidFill>
                  <a:srgbClr val="202B38"/>
                </a:solidFill>
                <a:latin typeface="Arial"/>
              </a:rPr>
              <a:t>Loss = how wrong a prediction is. 'Empirical' = measured on the rows we already HAVE.</a:t>
            </a:r>
          </a:p>
          <a:p>
            <a:pPr algn="l" indent="-228600" marL="228600">
              <a:spcAft>
                <a:spcPts val="800"/>
              </a:spcAft>
              <a:buClr>
                <a:srgbClr val="1E5EF3"/>
              </a:buClr>
              <a:buChar char="—"/>
            </a:pPr>
            <a:r>
              <a:rPr sz="1450" b="0">
                <a:solidFill>
                  <a:srgbClr val="202B38"/>
                </a:solidFill>
                <a:latin typeface="Arial"/>
              </a:rPr>
              <a:t>That is all training does: scan a family of candidate rules, keep the lowest average loss.</a:t>
            </a:r>
          </a:p>
          <a:p>
            <a:pPr algn="l" indent="-228600" marL="228600">
              <a:spcAft>
                <a:spcPts val="800"/>
              </a:spcAft>
              <a:buClr>
                <a:srgbClr val="1E5EF3"/>
              </a:buClr>
              <a:buChar char="—"/>
            </a:pPr>
            <a:r>
              <a:rPr sz="1450" b="0">
                <a:solidFill>
                  <a:srgbClr val="202B38"/>
                </a:solidFill>
                <a:latin typeface="Arial"/>
              </a:rPr>
              <a:t>How to read the table: four candidate rules, ranked by train loss - their mistakes on the past.</a:t>
            </a:r>
          </a:p>
          <a:p>
            <a:pPr algn="l" indent="-228600" marL="228600">
              <a:spcAft>
                <a:spcPts val="800"/>
              </a:spcAft>
              <a:buClr>
                <a:srgbClr val="1E5EF3"/>
              </a:buClr>
              <a:buChar char="—"/>
            </a:pPr>
            <a:r>
              <a:rPr sz="1450" b="0">
                <a:solidFill>
                  <a:srgbClr val="202B38"/>
                </a:solidFill>
                <a:latin typeface="Arial"/>
              </a:rPr>
              <a:t>The catch: a flexible enough rule memorizes the answer sheet. Rule D scores a perfect 0.00.</a:t>
            </a:r>
          </a:p>
          <a:p>
            <a:pPr algn="l" indent="-228600" marL="228600">
              <a:spcAft>
                <a:spcPts val="800"/>
              </a:spcAft>
              <a:buClr>
                <a:srgbClr val="1E5EF3"/>
              </a:buClr>
              <a:buChar char="—"/>
            </a:pPr>
            <a:r>
              <a:rPr sz="1450" b="0">
                <a:solidFill>
                  <a:srgbClr val="202B38"/>
                </a:solidFill>
                <a:latin typeface="Arial"/>
              </a:rPr>
              <a:t>A perfect training score proves nothing about tomorrow. The rest of Part 1 closes that gap.</a:t>
            </a:r>
          </a:p>
        </p:txBody>
      </p:sp>
      <p:pic>
        <p:nvPicPr>
          <p:cNvPr id="8" name="Picture 7" descr="erm_rules.png"/>
          <p:cNvPicPr>
            <a:picLocks noChangeAspect="1"/>
          </p:cNvPicPr>
          <p:nvPr/>
        </p:nvPicPr>
        <p:blipFill>
          <a:blip r:embed="rId2"/>
          <a:stretch>
            <a:fillRect/>
          </a:stretch>
        </p:blipFill>
        <p:spPr>
          <a:xfrm>
            <a:off x="5120640" y="1874519"/>
            <a:ext cx="6492240" cy="3378916"/>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 invented rules and loss values. MIT 6.390, ch. 1 and appendix C (empirical risk minimization).</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GENERALIZATION</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Two numbers diagnose any model: the training error and the gap to the honest score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Generalization - in plain words: doing well on rows the model has never seen. Only that counts.</a:t>
            </a:r>
          </a:p>
          <a:p>
            <a:pPr algn="l" indent="-228600" marL="228600">
              <a:spcAft>
                <a:spcPts val="800"/>
              </a:spcAft>
              <a:buClr>
                <a:srgbClr val="1E5EF3"/>
              </a:buClr>
              <a:buChar char="—"/>
            </a:pPr>
            <a:r>
              <a:rPr sz="1450" b="0">
                <a:solidFill>
                  <a:srgbClr val="202B38"/>
                </a:solidFill>
                <a:latin typeface="Arial"/>
              </a:rPr>
              <a:t>Validation score = a practice test: held-back rows the model did not train on.</a:t>
            </a:r>
          </a:p>
          <a:p>
            <a:pPr algn="l" indent="-228600" marL="228600">
              <a:spcAft>
                <a:spcPts val="800"/>
              </a:spcAft>
              <a:buClr>
                <a:srgbClr val="1E5EF3"/>
              </a:buClr>
              <a:buChar char="—"/>
            </a:pPr>
            <a:r>
              <a:rPr sz="1450" b="0">
                <a:solidFill>
                  <a:srgbClr val="202B38"/>
                </a:solidFill>
                <a:latin typeface="Arial"/>
              </a:rPr>
              <a:t>Ng's diagnostic: read TWO numbers - the training error, and the gap to the validation error.</a:t>
            </a:r>
          </a:p>
          <a:p>
            <a:pPr algn="l" indent="-228600" marL="228600">
              <a:spcAft>
                <a:spcPts val="800"/>
              </a:spcAft>
              <a:buClr>
                <a:srgbClr val="1E5EF3"/>
              </a:buClr>
              <a:buChar char="—"/>
            </a:pPr>
            <a:r>
              <a:rPr sz="1450" b="0">
                <a:solidFill>
                  <a:srgbClr val="202B38"/>
                </a:solidFill>
                <a:latin typeface="Arial"/>
              </a:rPr>
              <a:t>Training error too high = bias: too simple even for the past it studied.</a:t>
            </a:r>
          </a:p>
          <a:p>
            <a:pPr algn="l" indent="-228600" marL="228600">
              <a:spcAft>
                <a:spcPts val="800"/>
              </a:spcAft>
              <a:buClr>
                <a:srgbClr val="1E5EF3"/>
              </a:buClr>
              <a:buChar char="—"/>
            </a:pPr>
            <a:r>
              <a:rPr sz="1450" b="0">
                <a:solidFill>
                  <a:srgbClr val="202B38"/>
                </a:solidFill>
                <a:latin typeface="Arial"/>
              </a:rPr>
              <a:t>Gap too wide = variance: it memorized quirks that do not travel to new rows.</a:t>
            </a:r>
          </a:p>
          <a:p>
            <a:pPr algn="l" indent="-228600" marL="228600">
              <a:spcAft>
                <a:spcPts val="800"/>
              </a:spcAft>
              <a:buClr>
                <a:srgbClr val="1E5EF3"/>
              </a:buClr>
              <a:buChar char="—"/>
            </a:pPr>
            <a:r>
              <a:rPr sz="1450" b="0">
                <a:solidFill>
                  <a:srgbClr val="202B38"/>
                </a:solidFill>
                <a:latin typeface="Arial"/>
              </a:rPr>
              <a:t>How to read the grid: your two numbers pick one box - each box has a different cure. Bottom-right is worst.</a:t>
            </a:r>
          </a:p>
          <a:p>
            <a:pPr algn="l" indent="-228600" marL="228600">
              <a:spcAft>
                <a:spcPts val="800"/>
              </a:spcAft>
              <a:buClr>
                <a:srgbClr val="1E5EF3"/>
              </a:buClr>
              <a:buChar char="—"/>
            </a:pPr>
            <a:r>
              <a:rPr sz="1450" b="0">
                <a:solidFill>
                  <a:srgbClr val="202B38"/>
                </a:solidFill>
                <a:latin typeface="Arial"/>
              </a:rPr>
              <a:t>Ng's examples: train 1% / validation 11% = variance; train 15% / validation 16% = bias.</a:t>
            </a:r>
          </a:p>
        </p:txBody>
      </p:sp>
      <p:pic>
        <p:nvPicPr>
          <p:cNvPr id="8" name="Picture 7" descr="ng_grid.png"/>
          <p:cNvPicPr>
            <a:picLocks noChangeAspect="1"/>
          </p:cNvPicPr>
          <p:nvPr/>
        </p:nvPicPr>
        <p:blipFill>
          <a:blip r:embed="rId2"/>
          <a:stretch>
            <a:fillRect/>
          </a:stretch>
        </p:blipFill>
        <p:spPr>
          <a:xfrm>
            <a:off x="5191387" y="1874519"/>
            <a:ext cx="635074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Grid cards: Ng's teaching examples, not course numbers. Ng, Machine Learning Yearning chs. 20-21.</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BIAS-VARIANCE DECOMPOSITION</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Refit on fresh samples and watch: simple models miss together, flexible models scatter</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Bias - in plain words: the same miss every time. Variance: a different answer every time.</a:t>
            </a:r>
          </a:p>
          <a:p>
            <a:pPr algn="l" indent="-228600" marL="228600">
              <a:spcAft>
                <a:spcPts val="800"/>
              </a:spcAft>
              <a:buClr>
                <a:srgbClr val="1E5EF3"/>
              </a:buClr>
              <a:buChar char="—"/>
            </a:pPr>
            <a:r>
              <a:rPr sz="1450" b="0">
                <a:solidFill>
                  <a:srgbClr val="202B38"/>
                </a:solidFill>
                <a:latin typeface="Arial"/>
              </a:rPr>
              <a:t>Thought experiment: refit the same model on many fresh samples - parallel universes - and watch.</a:t>
            </a:r>
          </a:p>
          <a:p>
            <a:pPr algn="l" indent="-228600" marL="228600">
              <a:spcAft>
                <a:spcPts val="800"/>
              </a:spcAft>
              <a:buClr>
                <a:srgbClr val="1E5EF3"/>
              </a:buClr>
              <a:buChar char="—"/>
            </a:pPr>
            <a:r>
              <a:rPr sz="1450" b="0">
                <a:solidFill>
                  <a:srgbClr val="202B38"/>
                </a:solidFill>
                <a:latin typeface="Arial"/>
              </a:rPr>
              <a:t>How to read it: one faint line = one model, fit on one fresh sample. Dashed = the true pattern.</a:t>
            </a:r>
          </a:p>
          <a:p>
            <a:pPr algn="l" indent="-228600" marL="228600">
              <a:spcAft>
                <a:spcPts val="800"/>
              </a:spcAft>
              <a:buClr>
                <a:srgbClr val="1E5EF3"/>
              </a:buClr>
              <a:buChar char="—"/>
            </a:pPr>
            <a:r>
              <a:rPr sz="1450" b="0">
                <a:solidFill>
                  <a:srgbClr val="202B38"/>
                </a:solidFill>
                <a:latin typeface="Arial"/>
              </a:rPr>
              <a:t>Left, the simple family: a tight bundle - all miss the curve the same way. That shared miss is bias.</a:t>
            </a:r>
          </a:p>
          <a:p>
            <a:pPr algn="l" indent="-228600" marL="228600">
              <a:spcAft>
                <a:spcPts val="800"/>
              </a:spcAft>
              <a:buClr>
                <a:srgbClr val="1E5EF3"/>
              </a:buClr>
              <a:buChar char="—"/>
            </a:pPr>
            <a:r>
              <a:rPr sz="1450" b="0">
                <a:solidFill>
                  <a:srgbClr val="202B38"/>
                </a:solidFill>
                <a:latin typeface="Arial"/>
              </a:rPr>
              <a:t>Right, the flexible family: spaghetti - a new fit for every sample. That instability is variance.</a:t>
            </a:r>
          </a:p>
          <a:p>
            <a:pPr algn="l" indent="-228600" marL="228600">
              <a:spcAft>
                <a:spcPts val="800"/>
              </a:spcAft>
              <a:buClr>
                <a:srgbClr val="1E5EF3"/>
              </a:buClr>
              <a:buChar char="—"/>
            </a:pPr>
            <a:r>
              <a:rPr sz="1450" b="0">
                <a:solidFill>
                  <a:srgbClr val="202B38"/>
                </a:solidFill>
                <a:latin typeface="Arial"/>
              </a:rPr>
              <a:t>Total error = bias² + variance + noise. The noise floor ε never shrinks - your work lives in the other two.</a:t>
            </a:r>
          </a:p>
          <a:p>
            <a:pPr algn="l" indent="-228600" marL="228600">
              <a:spcAft>
                <a:spcPts val="800"/>
              </a:spcAft>
              <a:buClr>
                <a:srgbClr val="1E5EF3"/>
              </a:buClr>
              <a:buChar char="—"/>
            </a:pPr>
            <a:r>
              <a:rPr sz="1450" b="0">
                <a:solidFill>
                  <a:srgbClr val="202B38"/>
                </a:solidFill>
                <a:latin typeface="Arial"/>
              </a:rPr>
              <a:t>Hold this image: later, five cross-validation folds act as five mini-universes.</a:t>
            </a:r>
          </a:p>
        </p:txBody>
      </p:sp>
      <p:pic>
        <p:nvPicPr>
          <p:cNvPr id="8" name="Picture 7" descr="models_2000.png"/>
          <p:cNvPicPr>
            <a:picLocks noChangeAspect="1"/>
          </p:cNvPicPr>
          <p:nvPr/>
        </p:nvPicPr>
        <p:blipFill>
          <a:blip r:embed="rId2"/>
          <a:stretch>
            <a:fillRect/>
          </a:stretch>
        </p:blipFill>
        <p:spPr>
          <a:xfrm>
            <a:off x="5350988" y="1874519"/>
            <a:ext cx="6031543"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 synthetic data, 60 refits per panel. Device from Harvard CS109A L6 / ISLR §2.2.</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STRUCTURAL VS ESTIMATION ERROR</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Name the two errors: a family too rigid, or too little data to find its best member</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Structural error - in plain words: shopping in the wrong shoe aisle. No shoe there fits, however long you look.</a:t>
            </a:r>
          </a:p>
          <a:p>
            <a:pPr algn="l" indent="-228600" marL="228600">
              <a:spcAft>
                <a:spcPts val="800"/>
              </a:spcAft>
              <a:buClr>
                <a:srgbClr val="1E5EF3"/>
              </a:buClr>
              <a:buChar char="—"/>
            </a:pPr>
            <a:r>
              <a:rPr sz="1450" b="0">
                <a:solidFill>
                  <a:srgbClr val="202B38"/>
                </a:solidFill>
                <a:latin typeface="Arial"/>
              </a:rPr>
              <a:t>That is underfitting: the true rule is not in your family of shapes, so even its best member misses.</a:t>
            </a:r>
          </a:p>
          <a:p>
            <a:pPr algn="l" indent="-228600" marL="228600">
              <a:spcAft>
                <a:spcPts val="800"/>
              </a:spcAft>
              <a:buClr>
                <a:srgbClr val="1E5EF3"/>
              </a:buClr>
              <a:buChar char="—"/>
            </a:pPr>
            <a:r>
              <a:rPr sz="1450" b="0">
                <a:solidFill>
                  <a:srgbClr val="202B38"/>
                </a:solidFill>
                <a:latin typeface="Arial"/>
              </a:rPr>
              <a:t>Estimation error: the right aisle, too little time to try pairs - you walk out with the wrong shoe.</a:t>
            </a:r>
          </a:p>
          <a:p>
            <a:pPr algn="l" indent="-228600" marL="228600">
              <a:spcAft>
                <a:spcPts val="800"/>
              </a:spcAft>
              <a:buClr>
                <a:srgbClr val="1E5EF3"/>
              </a:buClr>
              <a:buChar char="—"/>
            </a:pPr>
            <a:r>
              <a:rPr sz="1450" b="0">
                <a:solidFill>
                  <a:srgbClr val="202B38"/>
                </a:solidFill>
                <a:latin typeface="Arial"/>
              </a:rPr>
              <a:t>That is overfitting: the family is so flexible that 712 rows cannot point at its best member.</a:t>
            </a:r>
          </a:p>
          <a:p>
            <a:pPr algn="l" indent="-228600" marL="228600">
              <a:spcAft>
                <a:spcPts val="800"/>
              </a:spcAft>
              <a:buClr>
                <a:srgbClr val="1E5EF3"/>
              </a:buClr>
              <a:buChar char="—"/>
            </a:pPr>
            <a:r>
              <a:rPr sz="1450" b="0">
                <a:solidFill>
                  <a:srgbClr val="202B38"/>
                </a:solidFill>
                <a:latin typeface="Arial"/>
              </a:rPr>
              <a:t>How to read it: x = flexibility; y = ERROR, so LOWER is better. Grey falls, blue rises.</a:t>
            </a:r>
          </a:p>
          <a:p>
            <a:pPr algn="l" indent="-228600" marL="228600">
              <a:spcAft>
                <a:spcPts val="800"/>
              </a:spcAft>
              <a:buClr>
                <a:srgbClr val="1E5EF3"/>
              </a:buClr>
              <a:buChar char="—"/>
            </a:pPr>
            <a:r>
              <a:rPr sz="1450" b="0">
                <a:solidFill>
                  <a:srgbClr val="202B38"/>
                </a:solidFill>
                <a:latin typeface="Arial"/>
              </a:rPr>
              <a:t>Their dashed sum is a U - the sweet spot is its LOW point. In Part 2 a real tree draws this U.</a:t>
            </a:r>
          </a:p>
        </p:txBody>
      </p:sp>
      <p:pic>
        <p:nvPicPr>
          <p:cNvPr id="8" name="Picture 7" descr="structural_estimation.png"/>
          <p:cNvPicPr>
            <a:picLocks noChangeAspect="1"/>
          </p:cNvPicPr>
          <p:nvPr/>
        </p:nvPicPr>
        <p:blipFill>
          <a:blip r:embed="rId2"/>
          <a:stretch>
            <a:fillRect/>
          </a:stretch>
        </p:blipFill>
        <p:spPr>
          <a:xfrm>
            <a:off x="5120640" y="1874519"/>
            <a:ext cx="6492240" cy="3591861"/>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 schematic curves, no real data. MIT 6.390, ch. 2 and ch. 5 (structural vs estimation error).</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COMPLEXITY ON A LEASH</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Don't choose simple-or-flexible once: take the flexible family and make complexity pay</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Regularization - in plain words: every extra wiggle costs points. Flexibility on a budget.</a:t>
            </a:r>
          </a:p>
          <a:p>
            <a:pPr algn="l" indent="-228600" marL="228600">
              <a:spcAft>
                <a:spcPts val="800"/>
              </a:spcAft>
              <a:buClr>
                <a:srgbClr val="1E5EF3"/>
              </a:buClr>
              <a:buChar char="—"/>
            </a:pPr>
            <a:r>
              <a:rPr sz="1450" b="0">
                <a:solidFill>
                  <a:srgbClr val="202B38"/>
                </a:solidFill>
                <a:latin typeface="Arial"/>
              </a:rPr>
              <a:t>How to read it: same 22 dots in all three panels. Only the penalty λ changes; the blue curve is the fit.</a:t>
            </a:r>
          </a:p>
          <a:p>
            <a:pPr algn="l" indent="-228600" marL="228600">
              <a:spcAft>
                <a:spcPts val="800"/>
              </a:spcAft>
              <a:buClr>
                <a:srgbClr val="1E5EF3"/>
              </a:buClr>
              <a:buChar char="—"/>
            </a:pPr>
            <a:r>
              <a:rPr sz="1450" b="0">
                <a:solidFill>
                  <a:srgbClr val="202B38"/>
                </a:solidFill>
                <a:latin typeface="Arial"/>
              </a:rPr>
              <a:t>The new training goal: minimize (average loss + λ × complexity). λ (lambda) = the price per wiggle.</a:t>
            </a:r>
          </a:p>
          <a:p>
            <a:pPr algn="l" indent="-228600" marL="228600">
              <a:spcAft>
                <a:spcPts val="800"/>
              </a:spcAft>
              <a:buClr>
                <a:srgbClr val="1E5EF3"/>
              </a:buClr>
              <a:buChar char="—"/>
            </a:pPr>
            <a:r>
              <a:rPr sz="1450" b="0">
                <a:solidFill>
                  <a:srgbClr val="202B38"/>
                </a:solidFill>
                <a:latin typeface="Arial"/>
              </a:rPr>
              <a:t>λ near zero: wiggles free - memorizing allowed. λ huge: wiggles unaffordable - the data is ignored.</a:t>
            </a:r>
          </a:p>
          <a:p>
            <a:pPr algn="l" indent="-228600" marL="228600">
              <a:spcAft>
                <a:spcPts val="800"/>
              </a:spcAft>
              <a:buClr>
                <a:srgbClr val="1E5EF3"/>
              </a:buClr>
              <a:buChar char="—"/>
            </a:pPr>
            <a:r>
              <a:rPr sz="1450" b="0">
                <a:solidFill>
                  <a:srgbClr val="202B38"/>
                </a:solidFill>
                <a:latin typeface="Arial"/>
              </a:rPr>
              <a:t>The right λ (middle panel) follows the trend and lets the noise go.</a:t>
            </a:r>
          </a:p>
          <a:p>
            <a:pPr algn="l" indent="-228600" marL="228600">
              <a:spcAft>
                <a:spcPts val="800"/>
              </a:spcAft>
              <a:buClr>
                <a:srgbClr val="1E5EF3"/>
              </a:buClr>
              <a:buChar char="—"/>
            </a:pPr>
            <a:r>
              <a:rPr sz="1450" b="0">
                <a:solidFill>
                  <a:srgbClr val="202B38"/>
                </a:solidFill>
                <a:latin typeface="Arial"/>
              </a:rPr>
              <a:t>Ridge regression is this idea for scorecard models: a penalty on big weights.</a:t>
            </a:r>
          </a:p>
          <a:p>
            <a:pPr algn="l" indent="-228600" marL="228600">
              <a:spcAft>
                <a:spcPts val="800"/>
              </a:spcAft>
              <a:buClr>
                <a:srgbClr val="1E5EF3"/>
              </a:buClr>
              <a:buChar char="—"/>
            </a:pPr>
            <a:r>
              <a:rPr sz="1450" b="0">
                <a:solidFill>
                  <a:srgbClr val="202B38"/>
                </a:solidFill>
                <a:latin typeface="Arial"/>
              </a:rPr>
              <a:t>Foreshadow: Session 4's tree knobs (like max_depth) ARE this dial. A shallow tree is a short leash.</a:t>
            </a:r>
          </a:p>
        </p:txBody>
      </p:sp>
      <p:pic>
        <p:nvPicPr>
          <p:cNvPr id="8" name="Picture 7" descr="regularization_leash.png"/>
          <p:cNvPicPr>
            <a:picLocks noChangeAspect="1"/>
          </p:cNvPicPr>
          <p:nvPr/>
        </p:nvPicPr>
        <p:blipFill>
          <a:blip r:embed="rId2"/>
          <a:stretch>
            <a:fillRect/>
          </a:stretch>
        </p:blipFill>
        <p:spPr>
          <a:xfrm>
            <a:off x="5120640" y="1874519"/>
            <a:ext cx="6492240" cy="37240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 synthetic points, same data in all panels. MIT 6.390 ch. 2 (penalty framing); Harvard CS109A / ISLR ch. 6 (ridge).</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TRADE-OFF CHART</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Flexibility costs readability - and a bank or hospital may choose the explainable point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The trade-off - in plain words: the more shapes a family can fit, the harder its fitted rule is to read.</a:t>
            </a:r>
          </a:p>
          <a:p>
            <a:pPr algn="l" indent="-228600" marL="228600">
              <a:spcAft>
                <a:spcPts val="800"/>
              </a:spcAft>
              <a:buClr>
                <a:srgbClr val="1E5EF3"/>
              </a:buClr>
              <a:buChar char="—"/>
            </a:pPr>
            <a:r>
              <a:rPr sz="1450" b="0">
                <a:solidFill>
                  <a:srgbClr val="202B38"/>
                </a:solidFill>
                <a:latin typeface="Arial"/>
              </a:rPr>
              <a:t>How to read it: each dot = one of today's six contestants. Right = more flexible; up = easier to read.</a:t>
            </a:r>
          </a:p>
          <a:p>
            <a:pPr algn="l" indent="-228600" marL="228600">
              <a:spcAft>
                <a:spcPts val="800"/>
              </a:spcAft>
              <a:buClr>
                <a:srgbClr val="1E5EF3"/>
              </a:buClr>
              <a:buChar char="—"/>
            </a:pPr>
            <a:r>
              <a:rPr sz="1450" b="0">
                <a:solidFill>
                  <a:srgbClr val="202B38"/>
                </a:solidFill>
                <a:latin typeface="Arial"/>
              </a:rPr>
              <a:t>Everyone wants the top-right corner - flexible AND readable. No model lives there; you must trade.</a:t>
            </a:r>
          </a:p>
          <a:p>
            <a:pPr algn="l" indent="-228600" marL="228600">
              <a:spcAft>
                <a:spcPts val="800"/>
              </a:spcAft>
              <a:buClr>
                <a:srgbClr val="1E5EF3"/>
              </a:buClr>
              <a:buChar char="—"/>
            </a:pPr>
            <a:r>
              <a:rPr sz="1450" b="0">
                <a:solidFill>
                  <a:srgbClr val="202B38"/>
                </a:solidFill>
                <a:latin typeface="Arial"/>
              </a:rPr>
              <a:t>Flexible is not automatically better: it needs more data and overfits more easily - the wrong-shoe trap.</a:t>
            </a:r>
          </a:p>
          <a:p>
            <a:pPr algn="l" indent="-228600" marL="228600">
              <a:spcAft>
                <a:spcPts val="800"/>
              </a:spcAft>
              <a:buClr>
                <a:srgbClr val="1E5EF3"/>
              </a:buClr>
              <a:buChar char="—"/>
            </a:pPr>
            <a:r>
              <a:rPr sz="1450" b="0">
                <a:solidFill>
                  <a:srgbClr val="202B38"/>
                </a:solidFill>
                <a:latin typeface="Arial"/>
              </a:rPr>
              <a:t>A bank explaining a rejected loan, a hospital a triage call: the explainable point wins, even at some accuracy cost.</a:t>
            </a:r>
          </a:p>
        </p:txBody>
      </p:sp>
      <p:pic>
        <p:nvPicPr>
          <p:cNvPr id="8" name="Picture 7" descr="flex_interp.png"/>
          <p:cNvPicPr>
            <a:picLocks noChangeAspect="1"/>
          </p:cNvPicPr>
          <p:nvPr/>
        </p:nvPicPr>
        <p:blipFill>
          <a:blip r:embed="rId2"/>
          <a:stretch>
            <a:fillRect/>
          </a:stretch>
        </p:blipFill>
        <p:spPr>
          <a:xfrm>
            <a:off x="5248871" y="1874519"/>
            <a:ext cx="6235778"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Schematic - our six models placed as a teaching judgment. Device from ISLR fig. 2.7.</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ESTIMATING THE TRUE ERROR</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Cross-validation gives every row a turn at being the test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Cross-validation - in plain words: five practice tests instead of one.</a:t>
            </a:r>
          </a:p>
          <a:p>
            <a:pPr algn="l" indent="-228600" marL="228600">
              <a:spcAft>
                <a:spcPts val="800"/>
              </a:spcAft>
              <a:buClr>
                <a:srgbClr val="1E5EF3"/>
              </a:buClr>
              <a:buChar char="—"/>
            </a:pPr>
            <a:r>
              <a:rPr sz="1450" b="0">
                <a:solidFill>
                  <a:srgbClr val="202B38"/>
                </a:solidFill>
                <a:latin typeface="Arial"/>
              </a:rPr>
              <a:t>How to read it: each row is one round; each block one fold, ~142 of the 712 training rows.</a:t>
            </a:r>
          </a:p>
          <a:p>
            <a:pPr algn="l" indent="-228600" marL="228600">
              <a:spcAft>
                <a:spcPts val="800"/>
              </a:spcAft>
              <a:buClr>
                <a:srgbClr val="1E5EF3"/>
              </a:buClr>
              <a:buChar char="—"/>
            </a:pPr>
            <a:r>
              <a:rPr sz="1450" b="0">
                <a:solidFill>
                  <a:srgbClr val="202B38"/>
                </a:solidFill>
                <a:latin typeface="Arial"/>
              </a:rPr>
              <a:t>The blue block sits out as that round's judge - every row judges exactly once.</a:t>
            </a:r>
          </a:p>
          <a:p>
            <a:pPr algn="l" indent="-228600" marL="228600">
              <a:spcAft>
                <a:spcPts val="800"/>
              </a:spcAft>
              <a:buClr>
                <a:srgbClr val="1E5EF3"/>
              </a:buClr>
              <a:buChar char="—"/>
            </a:pPr>
            <a:r>
              <a:rPr sz="1450" b="0">
                <a:solidFill>
                  <a:srgbClr val="202B38"/>
                </a:solidFill>
                <a:latin typeface="Arial"/>
              </a:rPr>
              <a:t>Five honest scores give a mean AND a wobble (the spread) - stability becomes visible.</a:t>
            </a:r>
          </a:p>
          <a:p>
            <a:pPr algn="l" indent="-228600" marL="228600">
              <a:spcAft>
                <a:spcPts val="800"/>
              </a:spcAft>
              <a:buClr>
                <a:srgbClr val="1E5EF3"/>
              </a:buClr>
              <a:buChar char="—"/>
            </a:pPr>
            <a:r>
              <a:rPr sz="1450" b="0">
                <a:solidFill>
                  <a:srgbClr val="202B38"/>
                </a:solidFill>
                <a:latin typeface="Arial"/>
              </a:rPr>
              <a:t>Subtle but crucial: CV scores the recipe (algorithm + settings), not one baked cake.</a:t>
            </a:r>
          </a:p>
          <a:p>
            <a:pPr algn="l" indent="-228600" marL="228600">
              <a:spcAft>
                <a:spcPts val="800"/>
              </a:spcAft>
              <a:buClr>
                <a:srgbClr val="1E5EF3"/>
              </a:buClr>
              <a:buChar char="—"/>
            </a:pPr>
            <a:r>
              <a:rPr sz="1450" b="0">
                <a:solidFill>
                  <a:srgbClr val="202B38"/>
                </a:solidFill>
                <a:latin typeface="Arial"/>
              </a:rPr>
              <a:t>Why 5 folds? Fewer starve training; leave-one-out is noisy - 5 or 10 is the sweet spot.</a:t>
            </a:r>
          </a:p>
          <a:p>
            <a:pPr algn="l" indent="-228600" marL="228600">
              <a:spcAft>
                <a:spcPts val="800"/>
              </a:spcAft>
              <a:buClr>
                <a:srgbClr val="1E5EF3"/>
              </a:buClr>
              <a:buChar char="—"/>
            </a:pPr>
            <a:r>
              <a:rPr sz="1450" b="0">
                <a:solidFill>
                  <a:srgbClr val="202B38"/>
                </a:solidFill>
                <a:latin typeface="Arial"/>
              </a:rPr>
              <a:t>The real 179 test rows are never touched - CV lives entirely inside the CHOOSE band.</a:t>
            </a:r>
          </a:p>
        </p:txBody>
      </p:sp>
      <p:pic>
        <p:nvPicPr>
          <p:cNvPr id="8" name="Picture 7" descr="cv_folds.png"/>
          <p:cNvPicPr>
            <a:picLocks noChangeAspect="1"/>
          </p:cNvPicPr>
          <p:nvPr/>
        </p:nvPicPr>
        <p:blipFill>
          <a:blip r:embed="rId2"/>
          <a:stretch>
            <a:fillRect/>
          </a:stretch>
        </p:blipFill>
        <p:spPr>
          <a:xfrm>
            <a:off x="5120640" y="1874519"/>
            <a:ext cx="6492240" cy="3413646"/>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5-fold cross-validation, the referee used throughout Part 2. MIT 6.390, Appendix C; Harvard CS109A / ISLR §5.1.</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02</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2 - Practice: the tournament</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Six contestants, one fair referee, one locked test set - Part 1's theory, run for real on the Titanic manifest.</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M2 Session 3 - Model Selection and Evaluation</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MODEL ZOO</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Six contestants enter, from a deliberately dumb floor to committees of trees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1" cy="3200400"/>
        </p:xfrm>
        <a:graphic>
          <a:graphicData uri="http://schemas.openxmlformats.org/drawingml/2006/table">
            <a:tbl>
              <a:tblPr firstRow="1" bandRow="1">
                <a:tableStyleId>{5C22544A-7EE6-4342-B048-85BDC9FD1C3A}</a:tableStyleId>
              </a:tblPr>
              <a:tblGrid>
                <a:gridCol w="2033473"/>
                <a:gridCol w="4806391"/>
                <a:gridCol w="1294028"/>
                <a:gridCol w="2957779"/>
              </a:tblGrid>
              <a:tr h="457200">
                <a:tc>
                  <a:txBody>
                    <a:bodyPr wrap="square"/>
                    <a:lstStyle/>
                    <a:p>
                      <a:pPr algn="l">
                        <a:spcAft>
                          <a:spcPts val="0"/>
                        </a:spcAft>
                        <a:buNone/>
                      </a:pPr>
                      <a:r>
                        <a:rPr sz="1300" b="1">
                          <a:solidFill>
                            <a:srgbClr val="FFFFFF"/>
                          </a:solidFill>
                          <a:latin typeface="Arial"/>
                        </a:rPr>
                        <a:t>Model</a:t>
                      </a:r>
                    </a:p>
                  </a:txBody>
                  <a:tcPr>
                    <a:solidFill>
                      <a:srgbClr val="0A2540"/>
                    </a:solidFill>
                  </a:tcPr>
                </a:tc>
                <a:tc>
                  <a:txBody>
                    <a:bodyPr wrap="square"/>
                    <a:lstStyle/>
                    <a:p>
                      <a:pPr algn="l">
                        <a:spcAft>
                          <a:spcPts val="0"/>
                        </a:spcAft>
                        <a:buNone/>
                      </a:pPr>
                      <a:r>
                        <a:rPr sz="1300" b="1">
                          <a:solidFill>
                            <a:srgbClr val="FFFFFF"/>
                          </a:solidFill>
                          <a:latin typeface="Arial"/>
                        </a:rPr>
                        <a:t>Intuition in one line</a:t>
                      </a:r>
                    </a:p>
                  </a:txBody>
                  <a:tcPr>
                    <a:solidFill>
                      <a:srgbClr val="0A2540"/>
                    </a:solidFill>
                  </a:tcPr>
                </a:tc>
                <a:tc>
                  <a:txBody>
                    <a:bodyPr wrap="square"/>
                    <a:lstStyle/>
                    <a:p>
                      <a:pPr algn="l">
                        <a:spcAft>
                          <a:spcPts val="0"/>
                        </a:spcAft>
                        <a:buNone/>
                      </a:pPr>
                      <a:r>
                        <a:rPr sz="1300" b="1">
                          <a:solidFill>
                            <a:srgbClr val="FFFFFF"/>
                          </a:solidFill>
                          <a:latin typeface="Arial"/>
                        </a:rPr>
                        <a:t>Needs scaling</a:t>
                      </a:r>
                    </a:p>
                  </a:txBody>
                  <a:tcPr>
                    <a:solidFill>
                      <a:srgbClr val="0A2540"/>
                    </a:solidFill>
                  </a:tcPr>
                </a:tc>
                <a:tc>
                  <a:txBody>
                    <a:bodyPr wrap="square"/>
                    <a:lstStyle/>
                    <a:p>
                      <a:pPr algn="l">
                        <a:spcAft>
                          <a:spcPts val="0"/>
                        </a:spcAft>
                        <a:buNone/>
                      </a:pPr>
                      <a:r>
                        <a:rPr sz="1300" b="1">
                          <a:solidFill>
                            <a:srgbClr val="FFFFFF"/>
                          </a:solidFill>
                          <a:latin typeface="Arial"/>
                        </a:rPr>
                        <a:t>Interpretability</a:t>
                      </a:r>
                    </a:p>
                  </a:txBody>
                  <a:tcPr>
                    <a:solidFill>
                      <a:srgbClr val="0A2540"/>
                    </a:solidFill>
                  </a:tcPr>
                </a:tc>
              </a:tr>
              <a:tr h="457200">
                <a:tc>
                  <a:txBody>
                    <a:bodyPr wrap="square"/>
                    <a:lstStyle/>
                    <a:p>
                      <a:pPr algn="l">
                        <a:spcAft>
                          <a:spcPts val="0"/>
                        </a:spcAft>
                        <a:buNone/>
                      </a:pPr>
                      <a:r>
                        <a:rPr sz="1250" b="0">
                          <a:solidFill>
                            <a:srgbClr val="202B38"/>
                          </a:solidFill>
                          <a:latin typeface="Arial"/>
                        </a:rPr>
                        <a:t>Dummy</a:t>
                      </a:r>
                    </a:p>
                  </a:txBody>
                  <a:tcPr>
                    <a:solidFill>
                      <a:srgbClr val="FFFFFF"/>
                    </a:solidFill>
                  </a:tcPr>
                </a:tc>
                <a:tc>
                  <a:txBody>
                    <a:bodyPr wrap="square"/>
                    <a:lstStyle/>
                    <a:p>
                      <a:pPr algn="l">
                        <a:spcAft>
                          <a:spcPts val="0"/>
                        </a:spcAft>
                        <a:buNone/>
                      </a:pPr>
                      <a:r>
                        <a:rPr sz="1250" b="0">
                          <a:solidFill>
                            <a:srgbClr val="202B38"/>
                          </a:solidFill>
                          <a:latin typeface="Arial"/>
                        </a:rPr>
                        <a:t>Ignores the data, always predicts "died" - our floor</a:t>
                      </a:r>
                    </a:p>
                  </a:txBody>
                  <a:tcPr>
                    <a:solidFill>
                      <a:srgbClr val="FFFFFF"/>
                    </a:solidFill>
                  </a:tcPr>
                </a:tc>
                <a:tc>
                  <a:txBody>
                    <a:bodyPr wrap="square"/>
                    <a:lstStyle/>
                    <a:p>
                      <a:pPr algn="l">
                        <a:spcAft>
                          <a:spcPts val="0"/>
                        </a:spcAft>
                        <a:buNone/>
                      </a:pPr>
                      <a:r>
                        <a:rPr sz="1250" b="0">
                          <a:solidFill>
                            <a:srgbClr val="202B38"/>
                          </a:solidFill>
                          <a:latin typeface="Arial"/>
                        </a:rPr>
                        <a:t>No</a:t>
                      </a:r>
                    </a:p>
                  </a:txBody>
                  <a:tcPr>
                    <a:solidFill>
                      <a:srgbClr val="FFFFFF"/>
                    </a:solidFill>
                  </a:tcPr>
                </a:tc>
                <a:tc>
                  <a:txBody>
                    <a:bodyPr wrap="square"/>
                    <a:lstStyle/>
                    <a:p>
                      <a:pPr algn="l">
                        <a:spcAft>
                          <a:spcPts val="0"/>
                        </a:spcAft>
                        <a:buNone/>
                      </a:pPr>
                      <a:r>
                        <a:rPr sz="1250" b="0">
                          <a:solidFill>
                            <a:srgbClr val="202B38"/>
                          </a:solidFill>
                          <a:latin typeface="Arial"/>
                        </a:rPr>
                        <a:t>Nothing to read</a:t>
                      </a:r>
                    </a:p>
                  </a:txBody>
                  <a:tcPr>
                    <a:solidFill>
                      <a:srgbClr val="FFFFFF"/>
                    </a:solidFill>
                  </a:tcPr>
                </a:tc>
              </a:tr>
              <a:tr h="457200">
                <a:tc>
                  <a:txBody>
                    <a:bodyPr wrap="square"/>
                    <a:lstStyle/>
                    <a:p>
                      <a:pPr algn="l">
                        <a:spcAft>
                          <a:spcPts val="0"/>
                        </a:spcAft>
                        <a:buNone/>
                      </a:pPr>
                      <a:r>
                        <a:rPr sz="1250" b="0">
                          <a:solidFill>
                            <a:srgbClr val="202B38"/>
                          </a:solidFill>
                          <a:latin typeface="Arial"/>
                        </a:rPr>
                        <a:t>Logistic Regression</a:t>
                      </a:r>
                    </a:p>
                  </a:txBody>
                  <a:tcPr>
                    <a:solidFill>
                      <a:srgbClr val="EEF3FD"/>
                    </a:solidFill>
                  </a:tcPr>
                </a:tc>
                <a:tc>
                  <a:txBody>
                    <a:bodyPr wrap="square"/>
                    <a:lstStyle/>
                    <a:p>
                      <a:pPr algn="l">
                        <a:spcAft>
                          <a:spcPts val="0"/>
                        </a:spcAft>
                        <a:buNone/>
                      </a:pPr>
                      <a:r>
                        <a:rPr sz="1250" b="0">
                          <a:solidFill>
                            <a:srgbClr val="202B38"/>
                          </a:solidFill>
                          <a:latin typeface="Arial"/>
                        </a:rPr>
                        <a:t>A weighted scorecard summed into a probability</a:t>
                      </a:r>
                    </a:p>
                  </a:txBody>
                  <a:tcPr>
                    <a:solidFill>
                      <a:srgbClr val="EEF3FD"/>
                    </a:solidFill>
                  </a:tcPr>
                </a:tc>
                <a:tc>
                  <a:txBody>
                    <a:bodyPr wrap="square"/>
                    <a:lstStyle/>
                    <a:p>
                      <a:pPr algn="l">
                        <a:spcAft>
                          <a:spcPts val="0"/>
                        </a:spcAft>
                        <a:buNone/>
                      </a:pPr>
                      <a:r>
                        <a:rPr sz="1250" b="0">
                          <a:solidFill>
                            <a:srgbClr val="202B38"/>
                          </a:solidFill>
                          <a:latin typeface="Arial"/>
                        </a:rPr>
                        <a:t>Yes</a:t>
                      </a:r>
                    </a:p>
                  </a:txBody>
                  <a:tcPr>
                    <a:solidFill>
                      <a:srgbClr val="EEF3FD"/>
                    </a:solidFill>
                  </a:tcPr>
                </a:tc>
                <a:tc>
                  <a:txBody>
                    <a:bodyPr wrap="square"/>
                    <a:lstStyle/>
                    <a:p>
                      <a:pPr algn="l">
                        <a:spcAft>
                          <a:spcPts val="0"/>
                        </a:spcAft>
                        <a:buNone/>
                      </a:pPr>
                      <a:r>
                        <a:rPr sz="1250" b="0">
                          <a:solidFill>
                            <a:srgbClr val="202B38"/>
                          </a:solidFill>
                          <a:latin typeface="Arial"/>
                        </a:rPr>
                        <a:t>High - read the weights</a:t>
                      </a:r>
                    </a:p>
                  </a:txBody>
                  <a:tcPr>
                    <a:solidFill>
                      <a:srgbClr val="EEF3FD"/>
                    </a:solidFill>
                  </a:tcPr>
                </a:tc>
              </a:tr>
              <a:tr h="457200">
                <a:tc>
                  <a:txBody>
                    <a:bodyPr wrap="square"/>
                    <a:lstStyle/>
                    <a:p>
                      <a:pPr algn="l">
                        <a:spcAft>
                          <a:spcPts val="0"/>
                        </a:spcAft>
                        <a:buNone/>
                      </a:pPr>
                      <a:r>
                        <a:rPr sz="1250" b="0">
                          <a:solidFill>
                            <a:srgbClr val="202B38"/>
                          </a:solidFill>
                          <a:latin typeface="Arial"/>
                        </a:rPr>
                        <a:t>K-Nearest Neighbors</a:t>
                      </a:r>
                    </a:p>
                  </a:txBody>
                  <a:tcPr>
                    <a:solidFill>
                      <a:srgbClr val="FFFFFF"/>
                    </a:solidFill>
                  </a:tcPr>
                </a:tc>
                <a:tc>
                  <a:txBody>
                    <a:bodyPr wrap="square"/>
                    <a:lstStyle/>
                    <a:p>
                      <a:pPr algn="l">
                        <a:spcAft>
                          <a:spcPts val="0"/>
                        </a:spcAft>
                        <a:buNone/>
                      </a:pPr>
                      <a:r>
                        <a:rPr sz="1250" b="0">
                          <a:solidFill>
                            <a:srgbClr val="202B38"/>
                          </a:solidFill>
                          <a:latin typeface="Arial"/>
                        </a:rPr>
                        <a:t>Ask the 5 most similar passengers, then let them vote</a:t>
                      </a:r>
                    </a:p>
                  </a:txBody>
                  <a:tcPr>
                    <a:solidFill>
                      <a:srgbClr val="FFFFFF"/>
                    </a:solidFill>
                  </a:tcPr>
                </a:tc>
                <a:tc>
                  <a:txBody>
                    <a:bodyPr wrap="square"/>
                    <a:lstStyle/>
                    <a:p>
                      <a:pPr algn="l">
                        <a:spcAft>
                          <a:spcPts val="0"/>
                        </a:spcAft>
                        <a:buNone/>
                      </a:pPr>
                      <a:r>
                        <a:rPr sz="1250" b="0">
                          <a:solidFill>
                            <a:srgbClr val="202B38"/>
                          </a:solidFill>
                          <a:latin typeface="Arial"/>
                        </a:rPr>
                        <a:t>Yes</a:t>
                      </a:r>
                    </a:p>
                  </a:txBody>
                  <a:tcPr>
                    <a:solidFill>
                      <a:srgbClr val="FFFFFF"/>
                    </a:solidFill>
                  </a:tcPr>
                </a:tc>
                <a:tc>
                  <a:txBody>
                    <a:bodyPr wrap="square"/>
                    <a:lstStyle/>
                    <a:p>
                      <a:pPr algn="l">
                        <a:spcAft>
                          <a:spcPts val="0"/>
                        </a:spcAft>
                        <a:buNone/>
                      </a:pPr>
                      <a:r>
                        <a:rPr sz="1250" b="0">
                          <a:solidFill>
                            <a:srgbClr val="202B38"/>
                          </a:solidFill>
                          <a:latin typeface="Arial"/>
                        </a:rPr>
                        <a:t>Medium - show the neighbors</a:t>
                      </a:r>
                    </a:p>
                  </a:txBody>
                  <a:tcPr>
                    <a:solidFill>
                      <a:srgbClr val="FFFFFF"/>
                    </a:solidFill>
                  </a:tcPr>
                </a:tc>
              </a:tr>
              <a:tr h="457200">
                <a:tc>
                  <a:txBody>
                    <a:bodyPr wrap="square"/>
                    <a:lstStyle/>
                    <a:p>
                      <a:pPr algn="l">
                        <a:spcAft>
                          <a:spcPts val="0"/>
                        </a:spcAft>
                        <a:buNone/>
                      </a:pPr>
                      <a:r>
                        <a:rPr sz="1250" b="0">
                          <a:solidFill>
                            <a:srgbClr val="202B38"/>
                          </a:solidFill>
                          <a:latin typeface="Arial"/>
                        </a:rPr>
                        <a:t>Decision Tree</a:t>
                      </a:r>
                    </a:p>
                  </a:txBody>
                  <a:tcPr>
                    <a:solidFill>
                      <a:srgbClr val="EEF3FD"/>
                    </a:solidFill>
                  </a:tcPr>
                </a:tc>
                <a:tc>
                  <a:txBody>
                    <a:bodyPr wrap="square"/>
                    <a:lstStyle/>
                    <a:p>
                      <a:pPr algn="l">
                        <a:spcAft>
                          <a:spcPts val="0"/>
                        </a:spcAft>
                        <a:buNone/>
                      </a:pPr>
                      <a:r>
                        <a:rPr sz="1250" b="0">
                          <a:solidFill>
                            <a:srgbClr val="202B38"/>
                          </a:solidFill>
                          <a:latin typeface="Arial"/>
                        </a:rPr>
                        <a:t>A flowchart of yes/no questions</a:t>
                      </a:r>
                    </a:p>
                  </a:txBody>
                  <a:tcPr>
                    <a:solidFill>
                      <a:srgbClr val="EEF3FD"/>
                    </a:solidFill>
                  </a:tcPr>
                </a:tc>
                <a:tc>
                  <a:txBody>
                    <a:bodyPr wrap="square"/>
                    <a:lstStyle/>
                    <a:p>
                      <a:pPr algn="l">
                        <a:spcAft>
                          <a:spcPts val="0"/>
                        </a:spcAft>
                        <a:buNone/>
                      </a:pPr>
                      <a:r>
                        <a:rPr sz="1250" b="0">
                          <a:solidFill>
                            <a:srgbClr val="202B38"/>
                          </a:solidFill>
                          <a:latin typeface="Arial"/>
                        </a:rPr>
                        <a:t>No</a:t>
                      </a:r>
                    </a:p>
                  </a:txBody>
                  <a:tcPr>
                    <a:solidFill>
                      <a:srgbClr val="EEF3FD"/>
                    </a:solidFill>
                  </a:tcPr>
                </a:tc>
                <a:tc>
                  <a:txBody>
                    <a:bodyPr wrap="square"/>
                    <a:lstStyle/>
                    <a:p>
                      <a:pPr algn="l">
                        <a:spcAft>
                          <a:spcPts val="0"/>
                        </a:spcAft>
                        <a:buNone/>
                      </a:pPr>
                      <a:r>
                        <a:rPr sz="1250" b="0">
                          <a:solidFill>
                            <a:srgbClr val="202B38"/>
                          </a:solidFill>
                          <a:latin typeface="Arial"/>
                        </a:rPr>
                        <a:t>High - read the flowchart</a:t>
                      </a:r>
                    </a:p>
                  </a:txBody>
                  <a:tcPr>
                    <a:solidFill>
                      <a:srgbClr val="EEF3FD"/>
                    </a:solidFill>
                  </a:tcPr>
                </a:tc>
              </a:tr>
              <a:tr h="457200">
                <a:tc>
                  <a:txBody>
                    <a:bodyPr wrap="square"/>
                    <a:lstStyle/>
                    <a:p>
                      <a:pPr algn="l">
                        <a:spcAft>
                          <a:spcPts val="0"/>
                        </a:spcAft>
                        <a:buNone/>
                      </a:pPr>
                      <a:r>
                        <a:rPr sz="1250" b="0">
                          <a:solidFill>
                            <a:srgbClr val="202B38"/>
                          </a:solidFill>
                          <a:latin typeface="Arial"/>
                        </a:rPr>
                        <a:t>Random Forest</a:t>
                      </a:r>
                    </a:p>
                  </a:txBody>
                  <a:tcPr>
                    <a:solidFill>
                      <a:srgbClr val="FFFFFF"/>
                    </a:solidFill>
                  </a:tcPr>
                </a:tc>
                <a:tc>
                  <a:txBody>
                    <a:bodyPr wrap="square"/>
                    <a:lstStyle/>
                    <a:p>
                      <a:pPr algn="l">
                        <a:spcAft>
                          <a:spcPts val="0"/>
                        </a:spcAft>
                        <a:buNone/>
                      </a:pPr>
                      <a:r>
                        <a:rPr sz="1250" b="0">
                          <a:solidFill>
                            <a:srgbClr val="202B38"/>
                          </a:solidFill>
                          <a:latin typeface="Arial"/>
                        </a:rPr>
                        <a:t>Hundreds of trees voting; the vote averages mistakes away</a:t>
                      </a:r>
                    </a:p>
                  </a:txBody>
                  <a:tcPr>
                    <a:solidFill>
                      <a:srgbClr val="FFFFFF"/>
                    </a:solidFill>
                  </a:tcPr>
                </a:tc>
                <a:tc>
                  <a:txBody>
                    <a:bodyPr wrap="square"/>
                    <a:lstStyle/>
                    <a:p>
                      <a:pPr algn="l">
                        <a:spcAft>
                          <a:spcPts val="0"/>
                        </a:spcAft>
                        <a:buNone/>
                      </a:pPr>
                      <a:r>
                        <a:rPr sz="1250" b="0">
                          <a:solidFill>
                            <a:srgbClr val="202B38"/>
                          </a:solidFill>
                          <a:latin typeface="Arial"/>
                        </a:rPr>
                        <a:t>No</a:t>
                      </a:r>
                    </a:p>
                  </a:txBody>
                  <a:tcPr>
                    <a:solidFill>
                      <a:srgbClr val="FFFFFF"/>
                    </a:solidFill>
                  </a:tcPr>
                </a:tc>
                <a:tc>
                  <a:txBody>
                    <a:bodyPr wrap="square"/>
                    <a:lstStyle/>
                    <a:p>
                      <a:pPr algn="l">
                        <a:spcAft>
                          <a:spcPts val="0"/>
                        </a:spcAft>
                        <a:buNone/>
                      </a:pPr>
                      <a:r>
                        <a:rPr sz="1250" b="0">
                          <a:solidFill>
                            <a:srgbClr val="202B38"/>
                          </a:solidFill>
                          <a:latin typeface="Arial"/>
                        </a:rPr>
                        <a:t>Low - too many trees to read</a:t>
                      </a:r>
                    </a:p>
                  </a:txBody>
                  <a:tcPr>
                    <a:solidFill>
                      <a:srgbClr val="FFFFFF"/>
                    </a:solidFill>
                  </a:tcPr>
                </a:tc>
              </a:tr>
              <a:tr h="457200">
                <a:tc>
                  <a:txBody>
                    <a:bodyPr wrap="square"/>
                    <a:lstStyle/>
                    <a:p>
                      <a:pPr algn="l">
                        <a:spcAft>
                          <a:spcPts val="0"/>
                        </a:spcAft>
                        <a:buNone/>
                      </a:pPr>
                      <a:r>
                        <a:rPr sz="1250" b="0">
                          <a:solidFill>
                            <a:srgbClr val="202B38"/>
                          </a:solidFill>
                          <a:latin typeface="Arial"/>
                        </a:rPr>
                        <a:t>Gradient Boosting</a:t>
                      </a:r>
                    </a:p>
                  </a:txBody>
                  <a:tcPr>
                    <a:solidFill>
                      <a:srgbClr val="EEF3FD"/>
                    </a:solidFill>
                  </a:tcPr>
                </a:tc>
                <a:tc>
                  <a:txBody>
                    <a:bodyPr wrap="square"/>
                    <a:lstStyle/>
                    <a:p>
                      <a:pPr algn="l">
                        <a:spcAft>
                          <a:spcPts val="0"/>
                        </a:spcAft>
                        <a:buNone/>
                      </a:pPr>
                      <a:r>
                        <a:rPr sz="1250" b="0">
                          <a:solidFill>
                            <a:srgbClr val="202B38"/>
                          </a:solidFill>
                          <a:latin typeface="Arial"/>
                        </a:rPr>
                        <a:t>Trees that learn from the previous tree's mistakes</a:t>
                      </a:r>
                    </a:p>
                  </a:txBody>
                  <a:tcPr>
                    <a:solidFill>
                      <a:srgbClr val="EEF3FD"/>
                    </a:solidFill>
                  </a:tcPr>
                </a:tc>
                <a:tc>
                  <a:txBody>
                    <a:bodyPr wrap="square"/>
                    <a:lstStyle/>
                    <a:p>
                      <a:pPr algn="l">
                        <a:spcAft>
                          <a:spcPts val="0"/>
                        </a:spcAft>
                        <a:buNone/>
                      </a:pPr>
                      <a:r>
                        <a:rPr sz="1250" b="0">
                          <a:solidFill>
                            <a:srgbClr val="202B38"/>
                          </a:solidFill>
                          <a:latin typeface="Arial"/>
                        </a:rPr>
                        <a:t>No</a:t>
                      </a:r>
                    </a:p>
                  </a:txBody>
                  <a:tcPr>
                    <a:solidFill>
                      <a:srgbClr val="EEF3FD"/>
                    </a:solidFill>
                  </a:tcPr>
                </a:tc>
                <a:tc>
                  <a:txBody>
                    <a:bodyPr wrap="square"/>
                    <a:lstStyle/>
                    <a:p>
                      <a:pPr algn="l">
                        <a:spcAft>
                          <a:spcPts val="0"/>
                        </a:spcAft>
                        <a:buNone/>
                      </a:pPr>
                      <a:r>
                        <a:rPr sz="1250" b="0">
                          <a:solidFill>
                            <a:srgbClr val="202B38"/>
                          </a:solidFill>
                          <a:latin typeface="Arial"/>
                        </a:rPr>
                        <a:t>Low</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A model = a function with adjustable knobs ("parameters"). "Needs scaling" = wants all features on one ruler first: Fare runs 0-512, Age 0-80 - Fare would shout, Age whisper.</a:t>
            </a:r>
          </a:p>
        </p:txBody>
      </p:sp>
      <p:sp>
        <p:nvSpPr>
          <p:cNvPr id="9" name="TextBox 8"/>
          <p:cNvSpPr txBox="1"/>
          <p:nvPr/>
        </p:nvSpPr>
        <p:spPr>
          <a:xfrm>
            <a:off x="548640" y="5440680"/>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One recipe, six fillings: only the MODEL changes - the data prep, the loss (mistake counter) and the referee stay identical for all six. (MIT 6.390, Appendix C)</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PART 1'S WARNING, LIVE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Training accuracy lies: an unlimited tree scores 0.985 on itself, 0.751 honestly</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Let a decision tree grow with no depth limit, then grade it twice.</a:t>
            </a:r>
          </a:p>
          <a:p>
            <a:pPr algn="l" indent="-228600" marL="228600">
              <a:spcAft>
                <a:spcPts val="800"/>
              </a:spcAft>
              <a:buClr>
                <a:srgbClr val="1E5EF3"/>
              </a:buClr>
              <a:buChar char="—"/>
            </a:pPr>
            <a:r>
              <a:rPr sz="1450" b="0">
                <a:solidFill>
                  <a:srgbClr val="202B38"/>
                </a:solidFill>
                <a:latin typeface="Arial"/>
              </a:rPr>
              <a:t>Graded on its own training data: 0.985. Graded on five honest practice tests: 0.751.</a:t>
            </a:r>
          </a:p>
          <a:p>
            <a:pPr algn="l" indent="-228600" marL="228600">
              <a:spcAft>
                <a:spcPts val="800"/>
              </a:spcAft>
              <a:buClr>
                <a:srgbClr val="1E5EF3"/>
              </a:buClr>
              <a:buChar char="—"/>
            </a:pPr>
            <a:r>
              <a:rPr sz="1450" b="0">
                <a:solidFill>
                  <a:srgbClr val="202B38"/>
                </a:solidFill>
                <a:latin typeface="Arial"/>
              </a:rPr>
              <a:t>It memorized the answers - like grading students on the exact questions they practiced at home.</a:t>
            </a:r>
          </a:p>
          <a:p>
            <a:pPr algn="l" indent="-228600" marL="228600">
              <a:spcAft>
                <a:spcPts val="800"/>
              </a:spcAft>
              <a:buClr>
                <a:srgbClr val="1E5EF3"/>
              </a:buClr>
              <a:buChar char="—"/>
            </a:pPr>
            <a:r>
              <a:rPr sz="1450" b="0">
                <a:solidFill>
                  <a:srgbClr val="202B38"/>
                </a:solidFill>
                <a:latin typeface="Arial"/>
              </a:rPr>
              <a:t>This is Rule D from the ERM table, caught in the act.</a:t>
            </a:r>
          </a:p>
          <a:p>
            <a:pPr algn="l" indent="-228600" marL="228600">
              <a:spcAft>
                <a:spcPts val="800"/>
              </a:spcAft>
              <a:buClr>
                <a:srgbClr val="1E5EF3"/>
              </a:buClr>
              <a:buChar char="—"/>
            </a:pPr>
            <a:r>
              <a:rPr sz="1450" b="0">
                <a:solidFill>
                  <a:srgbClr val="202B38"/>
                </a:solidFill>
                <a:latin typeface="Arial"/>
              </a:rPr>
              <a:t>On Ng's grid: training error low, gap 0.233 wide - the high-variance box.</a:t>
            </a:r>
          </a:p>
          <a:p>
            <a:pPr algn="l" indent="-228600" marL="228600">
              <a:spcAft>
                <a:spcPts val="800"/>
              </a:spcAft>
              <a:buClr>
                <a:srgbClr val="1E5EF3"/>
              </a:buClr>
              <a:buChar char="—"/>
            </a:pPr>
            <a:r>
              <a:rPr sz="1450" b="0">
                <a:solidFill>
                  <a:srgbClr val="202B38"/>
                </a:solidFill>
                <a:latin typeface="Arial"/>
              </a:rPr>
              <a:t>That is why the tournament's referee is cross-validation, never training accuracy.</a:t>
            </a:r>
          </a:p>
        </p:txBody>
      </p:sp>
      <p:pic>
        <p:nvPicPr>
          <p:cNvPr id="8" name="Picture 7" descr="train_vs_cv.png"/>
          <p:cNvPicPr>
            <a:picLocks noChangeAspect="1"/>
          </p:cNvPicPr>
          <p:nvPr/>
        </p:nvPicPr>
        <p:blipFill>
          <a:blip r:embed="rId2"/>
          <a:stretch>
            <a:fillRect/>
          </a:stretch>
        </p:blipFill>
        <p:spPr>
          <a:xfrm>
            <a:off x="5120640" y="1874519"/>
            <a:ext cx="6492240" cy="3951584"/>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Unlimited decision tree, training vs 5-fold CV accuracy. Module 2, notebook 2.</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BASELINE FIRST</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Beat the floor first: always saying "died" already scores 0.617</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286000"/>
            <a:ext cx="9418320" cy="2011680"/>
          </a:xfrm>
          <a:prstGeom prst="rect">
            <a:avLst/>
          </a:prstGeom>
          <a:noFill/>
        </p:spPr>
        <p:txBody>
          <a:bodyPr wrap="square">
            <a:spAutoFit/>
          </a:bodyPr>
          <a:lstStyle/>
          <a:p>
            <a:pPr algn="ctr">
              <a:spcAft>
                <a:spcPts val="600"/>
              </a:spcAft>
              <a:buNone/>
            </a:pPr>
            <a:r>
              <a:rPr sz="9600" b="1">
                <a:solidFill>
                  <a:srgbClr val="1E5EF3"/>
                </a:solidFill>
                <a:latin typeface="Arial"/>
              </a:rPr>
              <a:t>0.617</a:t>
            </a:r>
          </a:p>
        </p:txBody>
      </p:sp>
      <p:sp>
        <p:nvSpPr>
          <p:cNvPr id="8" name="TextBox 7"/>
          <p:cNvSpPr txBox="1"/>
          <p:nvPr/>
        </p:nvSpPr>
        <p:spPr>
          <a:xfrm>
            <a:off x="1371600" y="4434840"/>
            <a:ext cx="9418320" cy="731520"/>
          </a:xfrm>
          <a:prstGeom prst="rect">
            <a:avLst/>
          </a:prstGeom>
          <a:noFill/>
        </p:spPr>
        <p:txBody>
          <a:bodyPr wrap="square">
            <a:spAutoFit/>
          </a:bodyPr>
          <a:lstStyle/>
          <a:p>
            <a:pPr algn="ctr">
              <a:spcAft>
                <a:spcPts val="600"/>
              </a:spcAft>
              <a:buNone/>
            </a:pPr>
            <a:r>
              <a:rPr sz="1800" b="0">
                <a:solidFill>
                  <a:srgbClr val="0A2540"/>
                </a:solidFill>
                <a:latin typeface="Arial"/>
              </a:rPr>
              <a:t>Dummy baseline, 5-fold CV accuracy (+/- 0.003). It always predicts "died" - and 61.7% of training passengers did die, so it is right 61.7% of the time.</a:t>
            </a:r>
          </a:p>
        </p:txBody>
      </p:sp>
      <p:sp>
        <p:nvSpPr>
          <p:cNvPr id="9" name="TextBox 8"/>
          <p:cNvSpPr txBox="1"/>
          <p:nvPr/>
        </p:nvSpPr>
        <p:spPr>
          <a:xfrm>
            <a:off x="1371600" y="5257800"/>
            <a:ext cx="9418320" cy="640080"/>
          </a:xfrm>
          <a:prstGeom prst="rect">
            <a:avLst/>
          </a:prstGeom>
          <a:noFill/>
        </p:spPr>
        <p:txBody>
          <a:bodyPr wrap="square">
            <a:spAutoFit/>
          </a:bodyPr>
          <a:lstStyle/>
          <a:p>
            <a:pPr algn="ctr">
              <a:spcAft>
                <a:spcPts val="600"/>
              </a:spcAft>
              <a:buNone/>
            </a:pPr>
            <a:r>
              <a:rPr sz="1250" b="0">
                <a:solidFill>
                  <a:srgbClr val="5B6774"/>
                </a:solidFill>
                <a:latin typeface="Arial"/>
              </a:rPr>
              <a:t>Any model that cannot clearly beat this floor is useless, no matter how fancy its name. Andrew Ng's doctrine: build your first system quickly, then iterate (Machine Learning Yearning, ch. 13).</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SIX MODELS, ONE REFEREE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tournament verdict: the humble scorecard wins at 0.819</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each bar = one model's average score over the 5 practice tests.</a:t>
            </a:r>
          </a:p>
          <a:p>
            <a:pPr algn="l" indent="-228600" marL="228600">
              <a:spcAft>
                <a:spcPts val="800"/>
              </a:spcAft>
              <a:buClr>
                <a:srgbClr val="1E5EF3"/>
              </a:buClr>
              <a:buChar char="—"/>
            </a:pPr>
            <a:r>
              <a:rPr sz="1450" b="0">
                <a:solidFill>
                  <a:srgbClr val="202B38"/>
                </a:solidFill>
                <a:latin typeface="Arial"/>
              </a:rPr>
              <a:t>The whisker = the wobble across those 5 tests. Dashed line = the Dummy floor.</a:t>
            </a:r>
          </a:p>
          <a:p>
            <a:pPr algn="l" indent="-228600" marL="228600">
              <a:spcAft>
                <a:spcPts val="800"/>
              </a:spcAft>
              <a:buClr>
                <a:srgbClr val="1E5EF3"/>
              </a:buClr>
              <a:buChar char="—"/>
            </a:pPr>
            <a:r>
              <a:rPr sz="1450" b="0">
                <a:solidFill>
                  <a:srgbClr val="202B38"/>
                </a:solidFill>
                <a:latin typeface="Arial"/>
              </a:rPr>
              <a:t>Fair referee: preprocessing re-fit inside every fold, so no fold can leak.</a:t>
            </a:r>
          </a:p>
          <a:p>
            <a:pPr algn="l" indent="-228600" marL="228600">
              <a:spcAft>
                <a:spcPts val="800"/>
              </a:spcAft>
              <a:buClr>
                <a:srgbClr val="1E5EF3"/>
              </a:buClr>
              <a:buChar char="—"/>
            </a:pPr>
            <a:r>
              <a:rPr sz="1450" b="0">
                <a:solidFill>
                  <a:srgbClr val="202B38"/>
                </a:solidFill>
                <a:latin typeface="Arial"/>
              </a:rPr>
              <a:t>Logistic Regression leads at 0.819; Gradient Boosting is a close second at 0.816.</a:t>
            </a:r>
          </a:p>
          <a:p>
            <a:pPr algn="l" indent="-228600" marL="228600">
              <a:spcAft>
                <a:spcPts val="800"/>
              </a:spcAft>
              <a:buClr>
                <a:srgbClr val="1E5EF3"/>
              </a:buClr>
              <a:buChar char="—"/>
            </a:pPr>
            <a:r>
              <a:rPr sz="1450" b="0">
                <a:solidFill>
                  <a:srgbClr val="202B38"/>
                </a:solidFill>
                <a:latin typeface="Arial"/>
              </a:rPr>
              <a:t>Whiskers are Part 1's spaghetti, measured: Random Forest wobbles most (+/- 0.054), the scorecard least (+/- 0.020).</a:t>
            </a:r>
          </a:p>
          <a:p>
            <a:pPr algn="l" indent="-228600" marL="228600">
              <a:spcAft>
                <a:spcPts val="800"/>
              </a:spcAft>
              <a:buClr>
                <a:srgbClr val="1E5EF3"/>
              </a:buClr>
              <a:buChar char="—"/>
            </a:pPr>
            <a:r>
              <a:rPr sz="1450" b="0">
                <a:solidFill>
                  <a:srgbClr val="202B38"/>
                </a:solidFill>
                <a:latin typeface="Arial"/>
              </a:rPr>
              <a:t>All five real models clear the floor. The Dummy's F1 (a stricter metric, two slides on) is 0.000: it never says "survived".</a:t>
            </a:r>
          </a:p>
          <a:p>
            <a:pPr algn="l" indent="-228600" marL="228600">
              <a:spcAft>
                <a:spcPts val="800"/>
              </a:spcAft>
              <a:buClr>
                <a:srgbClr val="1E5EF3"/>
              </a:buClr>
              <a:buChar char="—"/>
            </a:pPr>
            <a:r>
              <a:rPr sz="1450" b="0">
                <a:solidFill>
                  <a:srgbClr val="202B38"/>
                </a:solidFill>
                <a:latin typeface="Arial"/>
              </a:rPr>
              <a:t>The surprise: the humble scorecard wins - fancy does not automatically mean better.</a:t>
            </a:r>
          </a:p>
        </p:txBody>
      </p:sp>
      <p:pic>
        <p:nvPicPr>
          <p:cNvPr id="8" name="Picture 7" descr="tournament.png"/>
          <p:cNvPicPr>
            <a:picLocks noChangeAspect="1"/>
          </p:cNvPicPr>
          <p:nvPr/>
        </p:nvPicPr>
        <p:blipFill>
          <a:blip r:embed="rId2"/>
          <a:stretch>
            <a:fillRect/>
          </a:stretch>
        </p:blipFill>
        <p:spPr>
          <a:xfrm>
            <a:off x="5120640" y="1874519"/>
            <a:ext cx="6492240" cy="3339938"/>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Mean 5-fold CV accuracy, +/- 1 std; axis starts at 0.55 to magnify the differences. Module 2, notebook 2.</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99% TRAP</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Accuracy can hide the mistakes that matter - the confusion matrix shows all four</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The trap: a disease hits 1 in 100. "Always say no disease" is 99% accurate - and worthless.</a:t>
            </a:r>
          </a:p>
          <a:p>
            <a:pPr algn="l" indent="-228600" marL="228600">
              <a:spcAft>
                <a:spcPts val="800"/>
              </a:spcAft>
              <a:buClr>
                <a:srgbClr val="1E5EF3"/>
              </a:buClr>
              <a:buChar char="—"/>
            </a:pPr>
            <a:r>
              <a:rPr sz="1450" b="0">
                <a:solidFill>
                  <a:srgbClr val="202B38"/>
                </a:solidFill>
                <a:latin typeface="Arial"/>
              </a:rPr>
              <a:t>Confusion matrix = the four ways a prediction can go right or wrong, counted.</a:t>
            </a:r>
          </a:p>
          <a:p>
            <a:pPr algn="l" indent="-228600" marL="228600">
              <a:spcAft>
                <a:spcPts val="800"/>
              </a:spcAft>
              <a:buClr>
                <a:srgbClr val="1E5EF3"/>
              </a:buClr>
              <a:buChar char="—"/>
            </a:pPr>
            <a:r>
              <a:rPr sz="1450" b="0">
                <a:solidFill>
                  <a:srgbClr val="202B38"/>
                </a:solidFill>
                <a:latin typeface="Arial"/>
              </a:rPr>
              <a:t>How to read it: rows = what really happened, columns = the model's call. Dark cells = correct.</a:t>
            </a:r>
          </a:p>
          <a:p>
            <a:pPr algn="l" indent="-228600" marL="228600">
              <a:spcAft>
                <a:spcPts val="800"/>
              </a:spcAft>
              <a:buClr>
                <a:srgbClr val="1E5EF3"/>
              </a:buClr>
              <a:buChar char="—"/>
            </a:pPr>
            <a:r>
              <a:rPr sz="1450" b="0">
                <a:solidFill>
                  <a:srgbClr val="202B38"/>
                </a:solidFill>
                <a:latin typeface="Arial"/>
              </a:rPr>
              <a:t>Champion on the 179 test passengers: 99 correct "died" (TN), 51 correct "survived" (TP).</a:t>
            </a:r>
          </a:p>
          <a:p>
            <a:pPr algn="l" indent="-228600" marL="228600">
              <a:spcAft>
                <a:spcPts val="800"/>
              </a:spcAft>
              <a:buClr>
                <a:srgbClr val="1E5EF3"/>
              </a:buClr>
              <a:buChar char="—"/>
            </a:pPr>
            <a:r>
              <a:rPr sz="1450" b="0">
                <a:solidFill>
                  <a:srgbClr val="202B38"/>
                </a:solidFill>
                <a:latin typeface="Arial"/>
              </a:rPr>
              <a:t>The mistakes: 11 false alarms (said survived, died) and 18 missed survivors (said died, survived).</a:t>
            </a:r>
          </a:p>
          <a:p>
            <a:pPr algn="l" indent="-228600" marL="228600">
              <a:spcAft>
                <a:spcPts val="800"/>
              </a:spcAft>
              <a:buClr>
                <a:srgbClr val="1E5EF3"/>
              </a:buClr>
              <a:buChar char="—"/>
            </a:pPr>
            <a:r>
              <a:rPr sz="1450" b="0">
                <a:solidFill>
                  <a:srgbClr val="202B38"/>
                </a:solidFill>
                <a:latin typeface="Arial"/>
              </a:rPr>
              <a:t>One number became four. Every metric you will ever meet is arithmetic on these four counts.</a:t>
            </a:r>
          </a:p>
        </p:txBody>
      </p:sp>
      <p:pic>
        <p:nvPicPr>
          <p:cNvPr id="8" name="Picture 7" descr="confusion.png"/>
          <p:cNvPicPr>
            <a:picLocks noChangeAspect="1"/>
          </p:cNvPicPr>
          <p:nvPr/>
        </p:nvPicPr>
        <p:blipFill>
          <a:blip r:embed="rId2"/>
          <a:stretch>
            <a:fillRect/>
          </a:stretch>
        </p:blipFill>
        <p:spPr>
          <a:xfrm>
            <a:off x="5587654" y="1874519"/>
            <a:ext cx="5558211"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Logistic Regression, confusion matrix on the test set. Module 2, notebook 2. Harvard CS109A, Classification Metrics lecture.</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TWO KINDS OF MISTAKES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Precision and recall answer different questions - pick the one your problem asks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Precision 0.823 - trust our alarms</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"Of everyone we said survives, how many actually did?"</a:t>
            </a:r>
          </a:p>
          <a:p>
            <a:pPr algn="l" indent="-228600" marL="228600">
              <a:spcAft>
                <a:spcPts val="600"/>
              </a:spcAft>
              <a:buClr>
                <a:srgbClr val="1E5EF3"/>
              </a:buClr>
              <a:buChar char="—"/>
            </a:pPr>
            <a:r>
              <a:rPr sz="1300" b="0">
                <a:solidFill>
                  <a:srgbClr val="202B38"/>
                </a:solidFill>
                <a:latin typeface="Arial"/>
              </a:rPr>
              <a:t>TP / (TP + FP) = 51 / (51 + 11) = 0.823</a:t>
            </a:r>
          </a:p>
          <a:p>
            <a:pPr algn="l" indent="-228600" marL="228600">
              <a:spcAft>
                <a:spcPts val="600"/>
              </a:spcAft>
              <a:buClr>
                <a:srgbClr val="1E5EF3"/>
              </a:buClr>
              <a:buChar char="—"/>
            </a:pPr>
            <a:r>
              <a:rPr sz="1300" b="0">
                <a:solidFill>
                  <a:srgbClr val="202B38"/>
                </a:solidFill>
                <a:latin typeface="Arial"/>
              </a:rPr>
              <a:t>High precision = few false alarms.</a:t>
            </a:r>
          </a:p>
          <a:p>
            <a:pPr algn="l" indent="-228600" marL="228600">
              <a:spcAft>
                <a:spcPts val="600"/>
              </a:spcAft>
              <a:buClr>
                <a:srgbClr val="1E5EF3"/>
              </a:buClr>
              <a:buChar char="—"/>
            </a:pPr>
            <a:r>
              <a:rPr sz="1300" b="0">
                <a:solidFill>
                  <a:srgbClr val="202B38"/>
                </a:solidFill>
                <a:latin typeface="Arial"/>
              </a:rPr>
              <a:t>Spam filter: a false alarm buries real mail. Precision first.</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Recall 0.739 - catch them all</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"Of everyone who actually survived, how many did we catch?"</a:t>
            </a:r>
          </a:p>
          <a:p>
            <a:pPr algn="l" indent="-228600" marL="228600">
              <a:spcAft>
                <a:spcPts val="600"/>
              </a:spcAft>
              <a:buClr>
                <a:srgbClr val="1E5EF3"/>
              </a:buClr>
              <a:buChar char="—"/>
            </a:pPr>
            <a:r>
              <a:rPr sz="1300" b="0">
                <a:solidFill>
                  <a:srgbClr val="202B38"/>
                </a:solidFill>
                <a:latin typeface="Arial"/>
              </a:rPr>
              <a:t>TP / (TP + FN) = 51 / (51 + 18) = 0.739</a:t>
            </a:r>
          </a:p>
          <a:p>
            <a:pPr algn="l" indent="-228600" marL="228600">
              <a:spcAft>
                <a:spcPts val="600"/>
              </a:spcAft>
              <a:buClr>
                <a:srgbClr val="1E5EF3"/>
              </a:buClr>
              <a:buChar char="—"/>
            </a:pPr>
            <a:r>
              <a:rPr sz="1300" b="0">
                <a:solidFill>
                  <a:srgbClr val="202B38"/>
                </a:solidFill>
                <a:latin typeface="Arial"/>
              </a:rPr>
              <a:t>High recall = few missed cases.</a:t>
            </a:r>
          </a:p>
          <a:p>
            <a:pPr algn="l" indent="-228600" marL="228600">
              <a:spcAft>
                <a:spcPts val="600"/>
              </a:spcAft>
              <a:buClr>
                <a:srgbClr val="1E5EF3"/>
              </a:buClr>
              <a:buChar char="—"/>
            </a:pPr>
            <a:r>
              <a:rPr sz="1300" b="0">
                <a:solidFill>
                  <a:srgbClr val="202B38"/>
                </a:solidFill>
                <a:latin typeface="Arial"/>
              </a:rPr>
              <a:t>Cancer screening: a missed case is the disaster. Recall first.</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TP, FP, FN are the confusion-matrix cells from the last slide. F1 = a strict average (harmonic mean) of precision and recall = 0.779 - high only when both are decent. Metric pairing after Ng's ML Specialization (C2, W3).</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U-CURVE, FOR REAL</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Overfitting made visible: past depth 3, the tree memorizes instead of learning</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x = tree depth (deeper = more flexible); y = accuracy, so HIGHER is better.</a:t>
            </a:r>
          </a:p>
          <a:p>
            <a:pPr algn="l" indent="-228600" marL="228600">
              <a:spcAft>
                <a:spcPts val="800"/>
              </a:spcAft>
              <a:buClr>
                <a:srgbClr val="1E5EF3"/>
              </a:buClr>
              <a:buChar char="—"/>
            </a:pPr>
            <a:r>
              <a:rPr sz="1450" b="0">
                <a:solidFill>
                  <a:srgbClr val="202B38"/>
                </a:solidFill>
                <a:latin typeface="Arial"/>
              </a:rPr>
              <a:t>Grey = score on its own training data: climbs to 0.985 and never looks back.</a:t>
            </a:r>
          </a:p>
          <a:p>
            <a:pPr algn="l" indent="-228600" marL="228600">
              <a:spcAft>
                <a:spcPts val="800"/>
              </a:spcAft>
              <a:buClr>
                <a:srgbClr val="1E5EF3"/>
              </a:buClr>
              <a:buChar char="—"/>
            </a:pPr>
            <a:r>
              <a:rPr sz="1450" b="0">
                <a:solidFill>
                  <a:srgbClr val="202B38"/>
                </a:solidFill>
                <a:latin typeface="Arial"/>
              </a:rPr>
              <a:t>Blue = the honest CV score: peaks at 0.815 at depth 3, then slides.</a:t>
            </a:r>
          </a:p>
          <a:p>
            <a:pPr algn="l" indent="-228600" marL="228600">
              <a:spcAft>
                <a:spcPts val="800"/>
              </a:spcAft>
              <a:buClr>
                <a:srgbClr val="1E5EF3"/>
              </a:buClr>
              <a:buChar char="—"/>
            </a:pPr>
            <a:r>
              <a:rPr sz="1450" b="0">
                <a:solidFill>
                  <a:srgbClr val="202B38"/>
                </a:solidFill>
                <a:latin typeface="Arial"/>
              </a:rPr>
              <a:t>The gap between the curves is memorization. At depth 20 it is 0.236.</a:t>
            </a:r>
          </a:p>
          <a:p>
            <a:pPr algn="l" indent="-228600" marL="228600">
              <a:spcAft>
                <a:spcPts val="800"/>
              </a:spcAft>
              <a:buClr>
                <a:srgbClr val="1E5EF3"/>
              </a:buClr>
              <a:buChar char="—"/>
            </a:pPr>
            <a:r>
              <a:rPr sz="1450" b="0">
                <a:solidFill>
                  <a:srgbClr val="202B38"/>
                </a:solidFill>
                <a:latin typeface="Arial"/>
              </a:rPr>
              <a:t>This is Part 1's U on real data, flipped: y is accuracy, so the sweet spot is a PEAK.</a:t>
            </a:r>
          </a:p>
          <a:p>
            <a:pPr algn="l" indent="-228600" marL="228600">
              <a:spcAft>
                <a:spcPts val="800"/>
              </a:spcAft>
              <a:buClr>
                <a:srgbClr val="1E5EF3"/>
              </a:buClr>
              <a:buChar char="—"/>
            </a:pPr>
            <a:r>
              <a:rPr sz="1450" b="0">
                <a:solidFill>
                  <a:srgbClr val="202B38"/>
                </a:solidFill>
                <a:latin typeface="Arial"/>
              </a:rPr>
              <a:t>Left of depth 3: too rigid (structural error). Right of it: memorizing (estimation error).</a:t>
            </a:r>
          </a:p>
          <a:p>
            <a:pPr algn="l" indent="-228600" marL="228600">
              <a:spcAft>
                <a:spcPts val="800"/>
              </a:spcAft>
              <a:buClr>
                <a:srgbClr val="1E5EF3"/>
              </a:buClr>
              <a:buChar char="—"/>
            </a:pPr>
            <a:r>
              <a:rPr sz="1450" b="0">
                <a:solidFill>
                  <a:srgbClr val="202B38"/>
                </a:solidFill>
                <a:latin typeface="Arial"/>
              </a:rPr>
              <a:t>Why peak at 0.815, not 1.00? The outcome is rule plus noise, Y = f(X) + ε - and nothing can predict ε.</a:t>
            </a:r>
          </a:p>
        </p:txBody>
      </p:sp>
      <p:pic>
        <p:nvPicPr>
          <p:cNvPr id="8" name="Picture 7" descr="depth_sweep.png"/>
          <p:cNvPicPr>
            <a:picLocks noChangeAspect="1"/>
          </p:cNvPicPr>
          <p:nvPr/>
        </p:nvPicPr>
        <p:blipFill>
          <a:blip r:embed="rId2"/>
          <a:stretch>
            <a:fillRect/>
          </a:stretch>
        </p:blipFill>
        <p:spPr>
          <a:xfrm>
            <a:off x="5120640" y="1874519"/>
            <a:ext cx="6492240" cy="3559401"/>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Decision tree, max_depth 1-20, train vs 5-fold CV accuracy. Module 2, notebook 2. MIT 6.390, ch. 2 &amp; ch. 5; Harvard CS109A / ISLR ch. 2.</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WOULD MORE DATA HELP?</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learning curve answers "would more data help?" - for us: no</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x = how many rows we trained on; y = accuracy; shaded band = wobble across folds.</a:t>
            </a:r>
          </a:p>
          <a:p>
            <a:pPr algn="l" indent="-228600" marL="228600">
              <a:spcAft>
                <a:spcPts val="800"/>
              </a:spcAft>
              <a:buClr>
                <a:srgbClr val="1E5EF3"/>
              </a:buClr>
              <a:buChar char="—"/>
            </a:pPr>
            <a:r>
              <a:rPr sz="1450" b="0">
                <a:solidFill>
                  <a:srgbClr val="202B38"/>
                </a:solidFill>
                <a:latin typeface="Arial"/>
              </a:rPr>
              <a:t>Grey = score on its own training data; blue = the honest CV score.</a:t>
            </a:r>
          </a:p>
          <a:p>
            <a:pPr algn="l" indent="-228600" marL="228600">
              <a:spcAft>
                <a:spcPts val="800"/>
              </a:spcAft>
              <a:buClr>
                <a:srgbClr val="1E5EF3"/>
              </a:buClr>
              <a:buChar char="—"/>
            </a:pPr>
            <a:r>
              <a:rPr sz="1450" b="0">
                <a:solidFill>
                  <a:srgbClr val="202B38"/>
                </a:solidFill>
                <a:latin typeface="Arial"/>
              </a:rPr>
              <a:t>Ours climbs from 0.758 (56 rows) to 0.819 (569 rows) - then goes flat.</a:t>
            </a:r>
          </a:p>
          <a:p>
            <a:pPr algn="l" indent="-228600" marL="228600">
              <a:spcAft>
                <a:spcPts val="800"/>
              </a:spcAft>
              <a:buClr>
                <a:srgbClr val="1E5EF3"/>
              </a:buClr>
              <a:buChar char="—"/>
            </a:pPr>
            <a:r>
              <a:rPr sz="1450" b="0">
                <a:solidFill>
                  <a:srgbClr val="202B38"/>
                </a:solidFill>
                <a:latin typeface="Arial"/>
              </a:rPr>
              <a:t>Insets, high bias: the two curves meet BELOW the score you need - more rows cannot fix that.</a:t>
            </a:r>
          </a:p>
          <a:p>
            <a:pPr algn="l" indent="-228600" marL="228600">
              <a:spcAft>
                <a:spcPts val="800"/>
              </a:spcAft>
              <a:buClr>
                <a:srgbClr val="1E5EF3"/>
              </a:buClr>
              <a:buChar char="—"/>
            </a:pPr>
            <a:r>
              <a:rPr sz="1450" b="0">
                <a:solidFill>
                  <a:srgbClr val="202B38"/>
                </a:solidFill>
                <a:latin typeface="Arial"/>
              </a:rPr>
              <a:t>Insets, high variance: a wide gap still separates the curves - more data plausibly helps.</a:t>
            </a:r>
          </a:p>
          <a:p>
            <a:pPr algn="l" indent="-228600" marL="228600">
              <a:spcAft>
                <a:spcPts val="800"/>
              </a:spcAft>
              <a:buClr>
                <a:srgbClr val="1E5EF3"/>
              </a:buClr>
              <a:buChar char="—"/>
            </a:pPr>
            <a:r>
              <a:rPr sz="1450" b="0">
                <a:solidFill>
                  <a:srgbClr val="202B38"/>
                </a:solidFill>
                <a:latin typeface="Arial"/>
              </a:rPr>
              <a:t>Our verdict: flat and close, so more passengers buy little. Better settings are the lever - Session 4's job.</a:t>
            </a:r>
          </a:p>
        </p:txBody>
      </p:sp>
      <p:pic>
        <p:nvPicPr>
          <p:cNvPr id="8" name="Picture 7" descr="learning_curve.png"/>
          <p:cNvPicPr>
            <a:picLocks noChangeAspect="1"/>
          </p:cNvPicPr>
          <p:nvPr/>
        </p:nvPicPr>
        <p:blipFill>
          <a:blip r:embed="rId2"/>
          <a:stretch>
            <a:fillRect/>
          </a:stretch>
        </p:blipFill>
        <p:spPr>
          <a:xfrm>
            <a:off x="5120640" y="1874519"/>
            <a:ext cx="6492240" cy="3766389"/>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Main panel: real curve, Module 2, notebook 2. Insets: regime sketches - illustration. Ng, Machine Learning Yearning chs. 28-32.</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DECISION AND NEXT STEP</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verdict: the simplest model that beats the floor on the right metric - the scorecard</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The checklist</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Beats the baseline clearly? The floor is 0.617 - if not, stop.</a:t>
            </a:r>
          </a:p>
          <a:p>
            <a:pPr algn="l" indent="-228600" marL="228600">
              <a:spcAft>
                <a:spcPts val="600"/>
              </a:spcAft>
              <a:buClr>
                <a:srgbClr val="1E5EF3"/>
              </a:buClr>
              <a:buChar char="—"/>
            </a:pPr>
            <a:r>
              <a:rPr sz="1300" b="0">
                <a:solidFill>
                  <a:srgbClr val="202B38"/>
                </a:solidFill>
                <a:latin typeface="Arial"/>
              </a:rPr>
              <a:t>Metric matches the problem? Accuracy, precision, recall, or F1 - decide before you rank.</a:t>
            </a:r>
          </a:p>
          <a:p>
            <a:pPr algn="l" indent="-228600" marL="228600">
              <a:spcAft>
                <a:spcPts val="600"/>
              </a:spcAft>
              <a:buClr>
                <a:srgbClr val="1E5EF3"/>
              </a:buClr>
              <a:buChar char="—"/>
            </a:pPr>
            <a:r>
              <a:rPr sz="1300" b="0">
                <a:solidFill>
                  <a:srgbClr val="202B38"/>
                </a:solidFill>
                <a:latin typeface="Arial"/>
              </a:rPr>
              <a:t>Simple first: if the scorecard is within a hair of the forest, ship the scorecard.</a:t>
            </a:r>
          </a:p>
          <a:p>
            <a:pPr algn="l" indent="-228600" marL="228600">
              <a:spcAft>
                <a:spcPts val="600"/>
              </a:spcAft>
              <a:buClr>
                <a:srgbClr val="1E5EF3"/>
              </a:buClr>
              <a:buChar char="—"/>
            </a:pPr>
            <a:r>
              <a:rPr sz="1300" b="0">
                <a:solidFill>
                  <a:srgbClr val="202B38"/>
                </a:solidFill>
                <a:latin typeface="Arial"/>
              </a:rPr>
              <a:t>Stable across folds? A model that wobbles (Random Forest: +/- 0.054) is harder to trust.</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Verdict &amp; handoff</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Champion by CV: Logistic Regression, 0.819 (+/- 0.020).</a:t>
            </a:r>
          </a:p>
          <a:p>
            <a:pPr algn="l" indent="-228600" marL="228600">
              <a:spcAft>
                <a:spcPts val="600"/>
              </a:spcAft>
              <a:buClr>
                <a:srgbClr val="1E5EF3"/>
              </a:buClr>
              <a:buChar char="—"/>
            </a:pPr>
            <a:r>
              <a:rPr sz="1300" b="0">
                <a:solidFill>
                  <a:srgbClr val="202B38"/>
                </a:solidFill>
                <a:latin typeface="Arial"/>
              </a:rPr>
              <a:t>One look at the locked test set: accuracy 0.838.</a:t>
            </a:r>
          </a:p>
          <a:p>
            <a:pPr algn="l" indent="-228600" marL="228600">
              <a:spcAft>
                <a:spcPts val="600"/>
              </a:spcAft>
              <a:buClr>
                <a:srgbClr val="1E5EF3"/>
              </a:buClr>
              <a:buChar char="—"/>
            </a:pPr>
            <a:r>
              <a:rPr sz="1300" b="0">
                <a:solidFill>
                  <a:srgbClr val="202B38"/>
                </a:solidFill>
                <a:latin typeface="Arial"/>
              </a:rPr>
              <a:t>Precision 0.823, recall 0.739, F1 0.779 on "survived".</a:t>
            </a:r>
          </a:p>
          <a:p>
            <a:pPr algn="l" indent="-228600" marL="228600">
              <a:spcAft>
                <a:spcPts val="600"/>
              </a:spcAft>
              <a:buClr>
                <a:srgbClr val="1E5EF3"/>
              </a:buClr>
              <a:buChar char="—"/>
            </a:pPr>
            <a:r>
              <a:rPr sz="1300" b="0">
                <a:solidFill>
                  <a:srgbClr val="202B38"/>
                </a:solidFill>
                <a:latin typeface="Arial"/>
              </a:rPr>
              <a:t>AUC 0.878 = chance a random survivor ranks above a random non-survivor.</a:t>
            </a:r>
          </a:p>
          <a:p>
            <a:pPr algn="l" indent="-228600" marL="228600">
              <a:spcAft>
                <a:spcPts val="600"/>
              </a:spcAft>
              <a:buClr>
                <a:srgbClr val="1E5EF3"/>
              </a:buClr>
              <a:buChar char="—"/>
            </a:pPr>
            <a:r>
              <a:rPr sz="1300" b="0">
                <a:solidFill>
                  <a:srgbClr val="202B38"/>
                </a:solidFill>
                <a:latin typeface="Arial"/>
              </a:rPr>
              <a:t>Random Forest finished 0.797 but has the most knobs - Session 4 tunes it, then ships it.</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Why interpretability is on the checklist: a real pneumonia model learned "asthma lowers risk" - true in the data (asthmatics were rushed to intensive care), fatal if acted on; caught only because the model was readable. Source: Caruana et al., KDD 2015.</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M2 Session 3 - Model Selection and Evaluation</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32720" cy="1097280"/>
          </a:xfrm>
          <a:prstGeom prst="rect">
            <a:avLst/>
          </a:prstGeom>
          <a:noFill/>
        </p:spPr>
        <p:txBody>
          <a:bodyPr wrap="square">
            <a:spAutoFit/>
          </a:bodyPr>
          <a:lstStyle/>
          <a:p>
            <a:pPr algn="l">
              <a:spcAft>
                <a:spcPts val="600"/>
              </a:spcAft>
              <a:buNone/>
            </a:pPr>
            <a:r>
              <a:rPr sz="3400" b="1">
                <a:solidFill>
                  <a:srgbClr val="FFFFFF"/>
                </a:solidFill>
                <a:latin typeface="Arial"/>
              </a:rPr>
              <a:t>The referee, the floor, and the right question</a:t>
            </a:r>
          </a:p>
        </p:txBody>
      </p:sp>
      <p:sp>
        <p:nvSpPr>
          <p:cNvPr id="4" name="TextBox 3"/>
          <p:cNvSpPr txBox="1"/>
          <p:nvPr/>
        </p:nvSpPr>
        <p:spPr>
          <a:xfrm>
            <a:off x="914400" y="2651760"/>
            <a:ext cx="10058400" cy="2926080"/>
          </a:xfrm>
          <a:prstGeom prst="rect">
            <a:avLst/>
          </a:prstGeom>
          <a:noFill/>
        </p:spPr>
        <p:txBody>
          <a:bodyPr wrap="square">
            <a:spAutoFit/>
          </a:bodyPr>
          <a:lstStyle/>
          <a:p>
            <a:pPr algn="l" indent="-228600" marL="228600">
              <a:spcAft>
                <a:spcPts val="1000"/>
              </a:spcAft>
              <a:buClr>
                <a:srgbClr val="1E5EF3"/>
              </a:buClr>
              <a:buChar char="—"/>
            </a:pPr>
            <a:r>
              <a:rPr sz="1600" b="0">
                <a:solidFill>
                  <a:srgbClr val="B9D0FA"/>
                </a:solidFill>
                <a:latin typeface="Arial"/>
              </a:rPr>
              <a:t>Part 1: training only minimizes loss on the past (ERM) - never trust the training score alone.</a:t>
            </a:r>
          </a:p>
          <a:p>
            <a:pPr algn="l" indent="-228600" marL="228600">
              <a:spcAft>
                <a:spcPts val="1000"/>
              </a:spcAft>
              <a:buClr>
                <a:srgbClr val="1E5EF3"/>
              </a:buClr>
              <a:buChar char="—"/>
            </a:pPr>
            <a:r>
              <a:rPr sz="1600" b="0">
                <a:solidFill>
                  <a:srgbClr val="B9D0FA"/>
                </a:solidFill>
                <a:latin typeface="Arial"/>
              </a:rPr>
              <a:t>Read two numbers: high training error = bias; a wide gap to the honest score = variance.</a:t>
            </a:r>
          </a:p>
          <a:p>
            <a:pPr algn="l" indent="-228600" marL="228600">
              <a:spcAft>
                <a:spcPts val="1000"/>
              </a:spcAft>
              <a:buClr>
                <a:srgbClr val="1E5EF3"/>
              </a:buClr>
              <a:buChar char="—"/>
            </a:pPr>
            <a:r>
              <a:rPr sz="1600" b="0">
                <a:solidFill>
                  <a:srgbClr val="B9D0FA"/>
                </a:solidFill>
                <a:latin typeface="Arial"/>
              </a:rPr>
              <a:t>Too rigid (structural error) vs too flexible (estimation error) trade off - that is the U-curve.</a:t>
            </a:r>
          </a:p>
          <a:p>
            <a:pPr algn="l" indent="-228600" marL="228600">
              <a:spcAft>
                <a:spcPts val="1000"/>
              </a:spcAft>
              <a:buClr>
                <a:srgbClr val="1E5EF3"/>
              </a:buClr>
              <a:buChar char="—"/>
            </a:pPr>
            <a:r>
              <a:rPr sz="1600" b="0">
                <a:solidFill>
                  <a:srgbClr val="B9D0FA"/>
                </a:solidFill>
                <a:latin typeface="Arial"/>
              </a:rPr>
              <a:t>Regularization is the leash, cross-validation the honest referee - and readability is a feature, not a bonus.</a:t>
            </a:r>
          </a:p>
          <a:p>
            <a:pPr algn="l" indent="-228600" marL="228600">
              <a:spcAft>
                <a:spcPts val="1000"/>
              </a:spcAft>
              <a:buClr>
                <a:srgbClr val="1E5EF3"/>
              </a:buClr>
              <a:buChar char="—"/>
            </a:pPr>
            <a:r>
              <a:rPr sz="1600" b="0">
                <a:solidFill>
                  <a:srgbClr val="B9D0FA"/>
                </a:solidFill>
                <a:latin typeface="Arial"/>
              </a:rPr>
              <a:t>Part 2: the floor was 0.617, the humble scorecard won at 0.819, the sealed test set was opened once: 0.838.</a:t>
            </a:r>
          </a:p>
          <a:p>
            <a:pPr algn="l" indent="-228600" marL="228600">
              <a:spcAft>
                <a:spcPts val="1000"/>
              </a:spcAft>
              <a:buClr>
                <a:srgbClr val="1E5EF3"/>
              </a:buClr>
              <a:buChar char="—"/>
            </a:pPr>
            <a:r>
              <a:rPr sz="1600" b="0">
                <a:solidFill>
                  <a:srgbClr val="B9D0FA"/>
                </a:solidFill>
                <a:latin typeface="Arial"/>
              </a:rPr>
              <a:t>The real U peaked at depth 3; the learning curve said more rows won't save us - better settings might (Session 4).</a:t>
            </a:r>
          </a:p>
          <a:p>
            <a:pPr algn="l" indent="-228600" marL="228600">
              <a:spcAft>
                <a:spcPts val="1000"/>
              </a:spcAft>
              <a:buClr>
                <a:srgbClr val="1E5EF3"/>
              </a:buClr>
              <a:buChar char="—"/>
            </a:pPr>
            <a:r>
              <a:rPr sz="1600" b="0">
                <a:solidFill>
                  <a:srgbClr val="B9D0FA"/>
                </a:solidFill>
                <a:latin typeface="Arial"/>
              </a:rPr>
              <a:t>Accuracy is one question of many. Precision, recall, and F1 ask sharper ones.</a:t>
            </a:r>
          </a:p>
          <a:p>
            <a:pPr algn="l" indent="-228600" marL="228600">
              <a:spcAft>
                <a:spcPts val="1000"/>
              </a:spcAft>
              <a:buClr>
                <a:srgbClr val="1E5EF3"/>
              </a:buClr>
              <a:buChar char="—"/>
            </a:pPr>
            <a:r>
              <a:rPr sz="1600" b="0">
                <a:solidFill>
                  <a:srgbClr val="B9D0FA"/>
                </a:solidFill>
                <a:latin typeface="Arial"/>
              </a:rPr>
              <a:t>Practice now: notebook 02-model-selection in Colab.</a:t>
            </a:r>
          </a:p>
        </p:txBody>
      </p:sp>
      <p:sp>
        <p:nvSpPr>
          <p:cNvPr id="5" name="TextBox 4"/>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B9D0FA"/>
                </a:solidFill>
                <a:latin typeface="Arial"/>
              </a:rPr>
              <a:t>Machine Learning - Module 2</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M2 Session 3 - Model Selection and Evaluation</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M2 Session 3 - Model Selection and Evaluation</dc:title>
  <dc:subject/>
  <dc:creator>M2 Machine Learning course</dc:creator>
  <cp:keywords/>
  <dc:description/>
  <cp:lastModifiedBy>M2 Machine Learning course</cp:lastModifiedBy>
  <cp:revision>1</cp:revision>
  <dcterms:created xsi:type="dcterms:W3CDTF">2013-01-27T09:14:16Z</dcterms:created>
  <dcterms:modified xsi:type="dcterms:W3CDTF">2013-01-27T09:15:58Z</dcterms:modified>
  <cp:category/>
</cp:coreProperties>
</file>