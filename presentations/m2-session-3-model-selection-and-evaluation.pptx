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Choosing a Model You Can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Six ways to guess who lives on the manifest, one fair referee to keep them honest - and a floor every contestant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MAP FOR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Today we live in the CHOOSE band: selection and assessment are different 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Session 2 left a model-ready table: 712 training rows, 179 test rows, 18 features.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Six algorithms could predict who survived - picking by name or fashion is guessing.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SELECTION = choosing among models and settings. Done many times, in the CHOOSE band, by cross-validation.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ASSESSMENT = grading the final choice. Done once, in the REPORT band. Select on the test set and its score stops being a forecast.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Today in two parts: Part 1 is theory - how to judge a learner honestly. Part 2 is practice - the tournament that puts every idea to work.</a:t>
            </a:r>
          </a:p>
        </p:txBody>
      </p:sp>
      <p:pic>
        <p:nvPicPr>
          <p:cNvPr id="8" name="Picture 7" descr="frame_c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16689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One bar rules the module, re-shown from Session 2. Harvard CS109A / ISLR ch. 5 (model selection vs model assessment).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1 - The theory: how to judge a learner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Seven ideas that explain every chart you will see in Part 2: what training really does, why it flatters itself, and how to measure without fooling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EMPIRICAL RISK MINIMIZATION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just minimizes average loss on the past - and a flexible rule can always ace the past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Almost every learning algorithm does the same thing: among all candidate rules in its family, return the one with the lowest average loss on the training rows.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average is the empirical risk - measured on the sample you have, not on the future you care about. Training loss is only a stand-in for real-world error.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catch: make the family flexible enough and some rule always scores perfectly on the past - it simply memorizes every row.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So a perfect training score proves nothing about tomorrow. The rest of Part 1 is about closing that gap honestly.</a:t>
            </a:r>
          </a:p>
        </p:txBody>
      </p:sp>
      <p:pic>
        <p:nvPicPr>
          <p:cNvPr id="8" name="Picture 7" descr="erm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37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invented rules and loss values. MIT 6.390, ch. 1 and appendix C (empirical risk minimization).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GENERALIZATION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Two numbers diagnose any model: the training error and the gap to the honest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Generalization = doing well on rows the model has never seen. Only that is the report card: training error can always be driven down by memorizing.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diagnostic: read TWO numbers. The training error itself is the bias signal - too high means the model is too simple even for the past.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gap between training and validation error is the variance signal - too wide means it memorized quirks that do not travel.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Ng's labeled teaching examples: train 1% / dev 11% = variance problem; train 15% / dev 16% = bias problem.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Diagnose first - the cures are different and often opposite.</a:t>
            </a:r>
          </a:p>
        </p:txBody>
      </p:sp>
      <p:pic>
        <p:nvPicPr>
          <p:cNvPr id="8" name="Picture 7" descr="ng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387" y="1874519"/>
            <a:ext cx="6350746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Grid cards: Ng's teaching examples, not course numbers. Ng, Machine Learning Yearning chs. 20-21.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BIAS-VARIANCE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Refit on fresh samples and watch: simple models miss together, flexible models scatter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Thought experiment: refit the same model on many different samples from the same population - parallel universes - and watch the fits scatter.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Simple families form a tight bundle: they miss the same way every time. That systematic miss is bias.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Flexible families form spaghetti: right on average, but every sample yields a wildly different fit. That instability is variance.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Total error = bias² + variance + noise. The noise floor ε is irreducible - your work lives in the other two terms.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Hold this image: in Part 2, five cross-validation folds act as five mini-universes and make the wobble measurable.</a:t>
            </a:r>
          </a:p>
        </p:txBody>
      </p:sp>
      <p:pic>
        <p:nvPicPr>
          <p:cNvPr id="8" name="Picture 7" descr="models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825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data, 60 refits per panel. Device from Harvard CS109A L6 / ISLR §2.2.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STRUCTURAL VS ESTIMATION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Name the two errors: a family too rigid, or too little data to find its best member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Structural error: the family is too rigid - the true rule is not in your space, so even its best member misses. Underfitting has a surname.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Estimation error: the family is so flexible that limited data cannot reliably point at its best member - the search lands on a memorizer. That is overfitting.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Grow flexibility and the two trade places: structural error falls, estimation error rises - their sum is U-shaped.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is the grammar of the U-curve. In Part 2 you will watch a real one, drawn by a decision tree growing one level at a time.</a:t>
            </a:r>
          </a:p>
        </p:txBody>
      </p:sp>
      <p:pic>
        <p:nvPicPr>
          <p:cNvPr id="8" name="Picture 7" descr="structural_esti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5918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schematic curves, no real data. MIT 6.390, ch. 2 and ch. 5 (structural vs estimation error).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COMPLEXITY ON A LEASH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Don't choose simple-or-flexible once: take the flexible family and make complexity pay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Regularization adds a price tag to the training objective: minimize (average loss + λ × complexity). One dial trades fit against simplicity.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λ near zero trusts the data completely - memorizing is allowed. Huge λ ignores the data. The right λ follows the trend and lets the noise go.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Ridge regression is exactly this idea for linear models: a penalty on large weights that buys a little bias to remove a lot of variance.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Foreshadow: Session 4 tunes max_depth and min_samples_leaf on a tree - those knobs ARE this dial. A shallow tree is a short leash.</a:t>
            </a:r>
          </a:p>
        </p:txBody>
      </p:sp>
      <p:pic>
        <p:nvPicPr>
          <p:cNvPr id="8" name="Picture 7" descr="regularization_le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13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points, same data in all panels. MIT 6.390 ch. 2 (penalty framing); Harvard CS109A / ISLR ch. 6 (ridge).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TRADE-OFF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Flexibility costs readability - and a bank or hospital may choose the explainable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Model families live on a spectrum: as the range of shapes they can fit grows, the ease of reading the fitted rule falls.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six contestants sit along that diagonal: the scorecard and the single tree are readable; committees of hundreds of trees are not.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Flexible is not automatically better: flexible families need more data and overfit more easily - the estimation-error trap from two slides ago.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When a bank must explain a rejected loan, or a hospital must justify a triage call, the explainable point wins - even at some cost in raw accuracy.</a:t>
            </a:r>
          </a:p>
        </p:txBody>
      </p:sp>
      <p:pic>
        <p:nvPicPr>
          <p:cNvPr id="8" name="Picture 7" descr="flex_inte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871" y="1874519"/>
            <a:ext cx="6235778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Schematic - our six models placed as a teaching judgment. Device from ISLR fig. 2.7.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ESTIMATING THE TRUE 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Cross-validation gives every row a turn at being the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Training error flatters, so hold data out and measure there. One split can be lucky or unlucky - so rotate it: 5 folds, 5 rounds, each fold sits out once as the judge.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Five honest scores instead of one: we see the mean AND the wobble (std). One lucky split can flatter a model; five cannot.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Subtle but crucial: CV evaluates the recipe (algorithm + settings), not one fitted model - CV scores the recipe, not the cake.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Why 5 folds? Fewer folds starve training; leave-one-out folds are nearly identical and their average gets noisy - 5 or 10 is the empirical sweet spot.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real test set is never touched - CV lives entirely inside the CHOOSE band.</a:t>
            </a:r>
          </a:p>
        </p:txBody>
      </p:sp>
      <p:pic>
        <p:nvPicPr>
          <p:cNvPr id="8" name="Picture 7" descr="cv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6541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5-fold cross-validation, the referee used throughout Part 2. MIT 6.390, Appendix C; Harvard CS109A / ISLR §5.1.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0" b="1">
                <a:solidFill>
                  <a:srgbClr val="1E5EF3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Part 2 - Practice: the tournament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091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600" b="0">
                <a:solidFill>
                  <a:srgbClr val="B9D0FA"/>
                </a:solidFill>
                <a:latin typeface="Arial"/>
              </a:rPr>
              <a:t>Six contestants, one fair referee, one locked test set - Part 1's theory, run for real on the Titanic manifest.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MODEL ZOO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Six contestants enter, from a deliberately dumb floor to committees of trees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3473"/>
                <a:gridCol w="4806391"/>
                <a:gridCol w="1294028"/>
                <a:gridCol w="2957779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Intuition in one line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Needs scaling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Interpretability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Dummy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Ignores the data, always predicts "died" - our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Nothing to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weighted scorecard summed into a probability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High - read the weights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K-Nearest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Ask the 5 passengers most similar to Frankie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Medium - show the neighbors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Decision Tree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 flowchart of yes/no questions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High - read the flowchart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Hundreds of trees voting; the vote averages mistakes away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Low - too many trees to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Gradient Boosting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Trees that learn from the previous tree's mistakes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A model is a function with adjustable knobs ("parameters"); training turns the knobs until predictions match the examples.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4068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Session 1's recipe, refilled six times: each contestant is a different filling of the MODEL slot - the loss and the referee stay the same for everyone. (MIT 6.390, Appendix 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PART 1'S WARNING,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accuracy lies: an unlimited tree scores 0.985 on itself, 0.751 honestly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Let a decision tree grow without limits, then grade it on its own training data: 0.985. Grade it honestly with cross-validation: 0.751.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It memorized the answers instead of learning the subject - like grading students on the exact questions they practiced at home.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is Rule D from the ERM slide, caught in the act: the flexible candidate aces the past and stumbles on fresh rows.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Read it with the two-number grid: training error low, gap 0.233 wide - the high-variance box.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That is why the tournament's referee is cross-validation, never training accuracy.</a:t>
            </a:r>
          </a:p>
        </p:txBody>
      </p:sp>
      <p:pic>
        <p:nvPicPr>
          <p:cNvPr id="8" name="Picture 7" descr="train_v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51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Unlimited decision tree, training vs 5-fold CV accuracy.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BASELINE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Beat the floor first: always saying "died" already scores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Dummy baseline, 5-fold CV accuracy (+/- 0.003). It ignores the data and always predicts "died".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Any model that cannot clearly beat this floor is useless, no matter how fancy its name. Andrew Ng's doctrine: build your first system quickly, then iterate (Machine Learning Yearning, ch. 13).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SIX MODELS, ONE REFEREE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tournament verdict: the humble scorecard wins at 0.819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Same referee for all six: 5-fold CV, preprocessing re-fit inside every fold - no leaks.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Logistic Regression leads at 0.819. Gradient Boosting is a close second at 0.816.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Those error bars are Part 1's spaghetti, measured: the 5 folds are 5 mini-universes, and Random Forest wobbles most (+/- 0.054) while the scorecard barely moves (+/- 0.020).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real model clears the floor. The Dummy's F1 is 0.000 - it never predicts "survived".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surprise: fancy does not automatically mean better.</a:t>
            </a:r>
          </a:p>
        </p:txBody>
      </p:sp>
      <p:pic>
        <p:nvPicPr>
          <p:cNvPr id="8" name="Picture 7" descr="tourna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339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Mean 5-fold CV accuracy, +/- 1 std. Module 2, notebook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99%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Accuracy can hide the mistakes that matter - the confusion matrix shows all four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disease hits 1 in 100 people. A model that always says "no disease" is 99% accurate - and worthless.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Confusion matrix = a count of the four ways a prediction can go right or wrong - and every metric you will ever meet is just arithmetic on these four counts.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Our champion on the 179 test passengers: 99 correct "died" (TN), 51 correct "survived" (TP).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11 false alarms (predicted survived, did not) and 18 missed survivors.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number became four. Now we can ask sharper questions.</a:t>
            </a:r>
          </a:p>
        </p:txBody>
      </p:sp>
      <p:pic>
        <p:nvPicPr>
          <p:cNvPr id="8" name="Picture 7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7654" y="1874519"/>
            <a:ext cx="5558211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Logistic Regression, confusion matrix on the test set. Module 2, notebook 2. Harvard CS109A, Classification Metrics lecture.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TWO KINDS OF MISTAKES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Precision and recall answer different questions - pick the one your problem asks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Precision 0.823 - trust our alarms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"Of everyone we said survives, how many actually did?"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TP / (TP + FP) = 51 / (51 + 11) = 0.823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High precision = few false alarms.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Spam filter: a false alarm buries real mail. Precision first.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Recall 0.739 - catch them 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"Of everyone who actually survived, how many did we catch?"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TP / (TP + FN) = 51 / (51 + 18) = 0.739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High recall = few missed cases.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Cancer screening: a missed case is the disaster. Recall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F1 = harmonic mean of both = 0.779, high only when both are decent. Metric pairing after Andrew Ng's Machine Learning Specialization (C2, W3).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U-CURVE, FOR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Overfitting made visible: past depth 3, the tree memorizes instead of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Grow the tree one level at a time. Training accuracy climbs to 0.985 and never looks back.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honest CV score peaks at 0.815 at depth 3, then slides. At depth 20 the gap is 0.236 - memorizing, not learning.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is Part 1's two-zone diagram drawn by real data: left of the peak, structural error dominates (family too rigid); right of it, estimation error takes over. Every dial Session 4 turns moves along this axis.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Why does the honest curve peak at 0.815, not 1.00? The irreducible floor: the outcome is a hidden rule plus noise, Y = f(X) + ε, and nothing can predict the ε.</a:t>
            </a:r>
          </a:p>
        </p:txBody>
      </p:sp>
      <p:pic>
        <p:nvPicPr>
          <p:cNvPr id="8" name="Picture 7" descr="depth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951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Decision tree, max_depth 1-20, train vs 5-fold CV accuracy. Module 2, notebook 2. MIT 6.390, ch. 2 &amp; ch. 5; Harvard CS109A / ISLR ch.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WOULD MORE DATA HELP?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learning curve answers "would more data help?" - for us: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Plot the honest score against training-set size: our CV accuracy climbs from 0.758 at 56 rows to 0.819 at 569 rows - then flattens.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Regime 1, high bias: train and CV converge close together but below the score you need. The curve has flattened - more rows cannot get you there; change the model or features, not the dataset.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Regime 2, high variance: training score is fine but a wide gap separates it from CV - the curves haven't converged; more data plausibly helps.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Read ours: flat and close - more passengers would buy little. Better features or settings are the lever. That is exactly Session 4's job.</a:t>
            </a:r>
          </a:p>
        </p:txBody>
      </p:sp>
      <p:pic>
        <p:nvPicPr>
          <p:cNvPr id="8" name="Picture 7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663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Main panel: real curve, Module 2, notebook 2. Insets: regime sketches - illustration. Ng, Machine Learning Yearning chs. 28-32.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DECISION AND NEXT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verdict: the simplest model that beats the floor on the right metric - the scorecard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The checklist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Beats the baseline clearly? The floor is 0.617 - if not, stop.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Metric matches the problem? Accuracy, precision, recall, or F1 - decide before you rank.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Simple first: if the scorecard is within a hair of the forest, ship the scorecard.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Stable across folds? A model that wobbles (Random Forest: +/- 0.054) is harder to trust.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Verdict &amp; handoff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Champion by CV: Logistic Regression, 0.819 (+/- 0.020).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look at the locked test set: accuracy 0.838.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Precision 0.823, recall 0.739, F1 0.779 on "survived".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AUC 0.878 = chance a random survivor ranks above a random non-survivor.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Random Forest finished 0.797 but has the most knobs - Session 4 tunes it, then ships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Why interpretability is on the checklist: a real pneumonia model learned "asthma lowers risk" - true in the data (asthmatics were rushed to intensive care), fatal if acted on; caught only because the model was readable. Source: Caruana et al., KDD 2015.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The referee, the floor, and the right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1, the theory: training only minimizes loss on the past (ERM) - so read two numbers, and let the gap name your problem: bias or variance.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Structural vs estimation error is the U-curve's grammar; regularization is the leash, cross-validation the honest referee - and readability is a feature, not a bonus.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Part 2, the practice: the floor was 0.617, the humble scorecard won at 0.819, and the locked test set was opened once: 0.838.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The real U-curve peaked at depth 3; the learning curve said more rows won't save us - better settings might (Session 4).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Accuracy is one question of many. Precision, recall, and F1 ask sharper ones.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now: notebook 02-model-selection in Colab.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3 - Model Selection and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3 - Model Selection and Evaluation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