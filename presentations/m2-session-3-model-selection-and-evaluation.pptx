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659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400" b="1">
                <a:solidFill>
                  <a:srgbClr val="1E5EF3"/>
                </a:solidFill>
                <a:latin typeface="Arial"/>
              </a:rPr>
              <a:t>SESSION 3 OF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37744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4400" b="1">
                <a:solidFill>
                  <a:srgbClr val="0A2540"/>
                </a:solidFill>
                <a:latin typeface="Arial"/>
              </a:rPr>
              <a:t>Choosing a Model You Can Trust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800" b="0">
                <a:solidFill>
                  <a:srgbClr val="5B6774"/>
                </a:solidFill>
                <a:latin typeface="Arial"/>
              </a:rPr>
              <a:t>Six ways to guess who lives on the manifest, one fair referee to keep them honest - and a floor every contestant must beat.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035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200" b="0">
                <a:solidFill>
                  <a:srgbClr val="5B6774"/>
                </a:solidFill>
                <a:latin typeface="Arial"/>
              </a:rPr>
              <a:t>Machine Learning - Module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THE MAP FOR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Today we live in the CHOOSE band: selection and assessment are different jobs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Session 2 left a model-ready table: 712 training rows, 179 test rows, 18 features.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Six algorithms could predict who survived - picking by name or fashion is guessing.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Model SELECTION = choosing among models and settings. Done many times, in the CHOOSE band, by cross-validation.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Model ASSESSMENT = grading the final choice. Done once, in the REPORT band. Select on the test set and its score stops being a forecast.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The plan: a floor, a fair referee, the right metric - then one look at the test set.</a:t>
            </a:r>
          </a:p>
        </p:txBody>
      </p:sp>
      <p:pic>
        <p:nvPicPr>
          <p:cNvPr id="8" name="Picture 7" descr="frame_c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166897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One bar rules the module, re-shown from Session 2. Harvard CS109A / ISLR ch. 5 (model selection vs model assessment).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3 - Model Selection and Evaluation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THE MODEL ZOO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Six contestants enter, from a deliberately dumb floor to committees of trees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874519"/>
          <a:ext cx="11091671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3473"/>
                <a:gridCol w="4806391"/>
                <a:gridCol w="1294028"/>
                <a:gridCol w="2957779"/>
              </a:tblGrid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Intuition in one line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Needs scaling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Interpretability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Dummy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Ignores the data, always predicts "died" - our floor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Nothing to read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Logistic Regression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A weighted scorecard summed into a probability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High - read the weights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K-Nearest Neighbors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Ask the 5 passengers most similar to Frankie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Medium - show the neighbors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Decision Tree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A flowchart of yes/no questions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High - read the flowchart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Random Forest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Hundreds of trees voting; the vote averages mistakes away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Low - too many trees to read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Gradient Boosting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Trees that learn from the previous tree's mistakes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Low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605332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200" b="0">
                <a:solidFill>
                  <a:srgbClr val="1E5EF3"/>
                </a:solidFill>
                <a:latin typeface="Arial"/>
              </a:rPr>
              <a:t>A model is a function with adjustable knobs ("parameters"); training turns the knobs until predictions match the examples.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440680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200" b="0">
                <a:solidFill>
                  <a:srgbClr val="1E5EF3"/>
                </a:solidFill>
                <a:latin typeface="Arial"/>
              </a:rPr>
              <a:t>Session 1's recipe, refilled six times: each contestant is a different filling of the MODEL slot — the loss and the referee stay the same for everyone. (MIT 6.390, Appendix 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3 - Model Selection and Evaluation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WHY WE NEED A REFEREE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Training accuracy lies: an unlimited tree scores 0.985 on itself, 0.751 honestly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Let a decision tree grow without limits, then grade it on its own training data: 0.985. Grade it honestly with cross-validation: 0.751.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It memorized the answers instead of learning the subject - like grading students on the exact questions they practiced at home.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Ng's diagnostic: always read TWO numbers - training score and honest score. Poor training score = bias (too simple). Big gap = variance (memorizing). Our tree: gap 0.233 = variance.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Ng's drill: train error 1% / dev error 11% = variance problem; train 15% / dev 16% = bias problem. (Ng's teaching examples, not course numbers.)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Diagnose first - the cures are different and often opposite.</a:t>
            </a:r>
          </a:p>
        </p:txBody>
      </p:sp>
      <p:pic>
        <p:nvPicPr>
          <p:cNvPr id="8" name="Picture 7" descr="train_vs_c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39515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Unlimited decision tree, training vs 5-fold CV accuracy. Module 2, notebook 2. Diagnostic: Ng, Machine Learning Yearning chs. 20-21.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3 - Model Selection and Evaluation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THE FAIR REFEREE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Cross-validation gives every row a turn at being the test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Split the 712 training rows into 5 equal folds; run 5 rounds - each fold sits out once as the judge.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Five honest scores instead of one: we see the mean AND the wobble (std). One lucky split can flatter a model; five cannot.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Subtle but crucial: CV evaluates the recipe (algorithm + settings), not one fitted model - CV scores the recipe, not the cake.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Why 5 folds? Fewer folds starve training; leave-one-out folds are nearly identical and their average gets noisy - 5 or 10 is the empirical sweet spot.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The real test set is never touched - CV lives entirely inside the CHOOSE band.</a:t>
            </a:r>
          </a:p>
        </p:txBody>
      </p:sp>
      <p:pic>
        <p:nvPicPr>
          <p:cNvPr id="8" name="Picture 7" descr="cv_fol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365415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5-fold cross-validation. Module 2, notebook 2. MIT 6.390, Appendix C; Harvard CS109A / ISLR §5.1.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3 - Model Selection and Evaluation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BASELINE FIRST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Beat the floor first: always saying "died" already scores 0.617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286000"/>
            <a:ext cx="9418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9600" b="1">
                <a:solidFill>
                  <a:srgbClr val="1E5EF3"/>
                </a:solidFill>
                <a:latin typeface="Arial"/>
              </a:rPr>
              <a:t>0.617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43484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800" b="0">
                <a:solidFill>
                  <a:srgbClr val="0A2540"/>
                </a:solidFill>
                <a:latin typeface="Arial"/>
              </a:rPr>
              <a:t>Dummy baseline, 5-fold CV accuracy (+/- 0.003). It ignores the data and always predicts "died".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5257800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250" b="0">
                <a:solidFill>
                  <a:srgbClr val="5B6774"/>
                </a:solidFill>
                <a:latin typeface="Arial"/>
              </a:rPr>
              <a:t>Any model that cannot clearly beat this floor is useless, no matter how fancy its name. Andrew Ng's doctrine: build your first system quickly, then iterate (Machine Learning Yearning, ch. 13).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3 - Model Selection and Evaluation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SIX MODELS, ONE REFEREE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The tournament verdict: the humble scorecard wins at 0.819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Same referee for all six: 5-fold CV, preprocessing re-fit inside every fold - no leaks.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Logistic Regression leads at 0.819. Gradient Boosting is a close second at 0.816.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Those error bars are information: Random Forest wobbles most (+/- 0.054) - the same model refit on slightly different data gives noticeably different answers. Next slide shows why.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Every real model clears the floor. The Dummy's F1 is 0.000 - it never predicts "survived".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The surprise: fancy does not automatically mean better.</a:t>
            </a:r>
          </a:p>
        </p:txBody>
      </p:sp>
      <p:pic>
        <p:nvPicPr>
          <p:cNvPr id="8" name="Picture 7" descr="tourna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33399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Mean 5-fold CV accuracy, +/- 1 std. Module 2, notebook 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3 - Model Selection and Evaluation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PARALLEL UNIVERSES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Why the forest wobbles: flexible models change with every sample they see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Thought experiment: refit the same model on many different samples from the same population - parallel universes - and watch the fits scatter.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Simple models (a straight line) form a tight bundle: they miss the same way every time. Biased, but stable.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Very flexible models form spaghetti: unbiased on average, but each sample yields a wildly different fit. That is variance.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Our tournament ran a small version of this: the 5 folds are 5 mini-universes, and the fold-to-fold std is the wobble made visible - RF +/- 0.054 vs LogReg +/- 0.020.</a:t>
            </a:r>
          </a:p>
        </p:txBody>
      </p:sp>
      <p:pic>
        <p:nvPicPr>
          <p:cNvPr id="8" name="Picture 7" descr="models_2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398259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Illustration - synthetic data, 60 refits per panel. Device from Harvard CS109A L6 / ISLR §2.2.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3 - Model Selection and Evaluation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3657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0" b="1">
                <a:solidFill>
                  <a:srgbClr val="1E5EF3"/>
                </a:solidFill>
                <a:latin typeface="Arial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566160"/>
            <a:ext cx="10424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3400" b="1">
                <a:solidFill>
                  <a:srgbClr val="FFFFFF"/>
                </a:solidFill>
                <a:latin typeface="Arial"/>
              </a:rPr>
              <a:t>Beyond accuracy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47091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600" b="0">
                <a:solidFill>
                  <a:srgbClr val="B9D0FA"/>
                </a:solidFill>
                <a:latin typeface="Arial"/>
              </a:rPr>
              <a:t>When 99% right is 100% useless: the mistakes have names, so count all four kinds before you trust a score.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B9D0FA"/>
                </a:solidFill>
                <a:latin typeface="Arial"/>
              </a:rPr>
              <a:t>M2 Session 3 - Model Selection and Evaluation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B9D0FA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THE 99% TRAP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Accuracy can hide the mistakes that matter - the confusion matrix shows all four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A disease hits 1 in 100 people. A model that always says "no disease" is 99% accurate - and worthless.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Confusion matrix = a count of the four ways a prediction can go right or wrong - and every metric you will ever meet is just arithmetic on these four counts.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Our champion on the 179 test passengers: 99 correct "died" (TN), 51 correct "survived" (TP).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11 false alarms (predicted survived, did not) and 18 missed survivors.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One number became four. Now we can ask sharper questions.</a:t>
            </a:r>
          </a:p>
        </p:txBody>
      </p:sp>
      <p:pic>
        <p:nvPicPr>
          <p:cNvPr id="8" name="Picture 7" descr="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7654" y="1874519"/>
            <a:ext cx="5558211" cy="411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Logistic Regression, confusion matrix on the test set. Module 2, notebook 2. Harvard CS109A, Classification Metrics lecture.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3 - Model Selection and Evaluation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TWO KINDS OF MISTAKES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Precision and recall answer different questions - pick the one your problem asks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874519"/>
            <a:ext cx="5394960" cy="3977639"/>
          </a:xfrm>
          <a:prstGeom prst="rect">
            <a:avLst/>
          </a:prstGeom>
          <a:solidFill>
            <a:srgbClr val="EE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039111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500" b="1">
                <a:solidFill>
                  <a:srgbClr val="0A2540"/>
                </a:solidFill>
                <a:latin typeface="Arial"/>
              </a:rPr>
              <a:t>Precision 0.823 - trust our alarms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41447"/>
            <a:ext cx="4937760" cy="3246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"Of everyone we said survives, how many actually did?"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TP / (TP + FP) = 51 / (51 + 11) = 0.823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High precision = few false alarms.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Spam filter: a false alarm buries real mail. Precision first.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5352" y="1874519"/>
            <a:ext cx="5394960" cy="3977639"/>
          </a:xfrm>
          <a:prstGeom prst="rect">
            <a:avLst/>
          </a:prstGeom>
          <a:solidFill>
            <a:srgbClr val="EE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2" y="2039111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500" b="1">
                <a:solidFill>
                  <a:srgbClr val="0A2540"/>
                </a:solidFill>
                <a:latin typeface="Arial"/>
              </a:rPr>
              <a:t>Recall 0.739 - catch them all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3952" y="2441447"/>
            <a:ext cx="4937760" cy="3246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"Of everyone who actually survived, how many did we catch?"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TP / (TP + FN) = 51 / (51 + 18) = 0.739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High recall = few missed cases.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Cancer screening: a missed case is the disaster. Recall first.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05332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200" b="0">
                <a:solidFill>
                  <a:srgbClr val="1E5EF3"/>
                </a:solidFill>
                <a:latin typeface="Arial"/>
              </a:rPr>
              <a:t>F1 = harmonic mean of both = 0.779, high only when both are decent. Metric pairing after Andrew Ng's Machine Learning Specialization (C2, W3).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3 - Model Selection and Evaluation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BIAS AND VARIANCE, NAMED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Overfitting made visible: past depth 3, the tree memorizes instead of learning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Grow the tree one level at a time. Training accuracy climbs to 0.985 and never looks back.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The honest CV score peaks at 0.815 at depth 3, then slides. At depth 20 the gap is 0.236 - memorizing, not learning.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MIT's names make the tradeoff mechanical: more flexibility lowers structural error and raises estimation error - every dial in Session 4 moves this dial.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The outcome is a hidden rule plus noise: Y = f(X) + ε. Learning estimates the rule; nothing can predict the noise. Error you can shrink is reducible; the noise floor is irreducible.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Why does the honest curve peak at 0.815, not 1.00? Session 1's grey bar: ε. The rest is noise nobody can predict.</a:t>
            </a:r>
          </a:p>
        </p:txBody>
      </p:sp>
      <p:pic>
        <p:nvPicPr>
          <p:cNvPr id="8" name="Picture 7" descr="depth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39515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Decision tree, max_depth 1-20, train vs 5-fold CV accuracy. Module 2, notebook 2. MIT 6.390, ch. 2 &amp; ch. 5; Harvard CS109A / ISLR ch. 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3 - Model Selection and Evaluation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WOULD MORE DATA HELP?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The learning curve answers "would more data help?" - for us: no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Plot the honest score against training-set size: our CV accuracy climbs from 0.758 at 56 rows to 0.819 at 569 rows - then flattens.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Regime 1, high bias: train and CV converge close together but below the score you need. The curve has flattened - more rows cannot get you there; change the model or features, not the dataset.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Regime 2, high variance: training score is fine but a wide gap separates it from CV - the curves haven't converged; more data plausibly helps.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Read ours: flat and close - more passengers would buy little. Better features or settings are the lever. That is exactly Session 4's job.</a:t>
            </a:r>
          </a:p>
        </p:txBody>
      </p:sp>
      <p:pic>
        <p:nvPicPr>
          <p:cNvPr id="8" name="Picture 7" descr="learnin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376638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Main panel: real curve, Module 2, notebook 2. Insets: regime sketches - illustration. Ng, Machine Learning Yearning chs. 28-32.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3 - Model Selection and Evaluation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DECISION AND NEXT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The verdict: the simplest model that beats the floor on the right metric - the scorecard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874519"/>
            <a:ext cx="5394960" cy="3977639"/>
          </a:xfrm>
          <a:prstGeom prst="rect">
            <a:avLst/>
          </a:prstGeom>
          <a:solidFill>
            <a:srgbClr val="EE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039111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500" b="1">
                <a:solidFill>
                  <a:srgbClr val="0A2540"/>
                </a:solidFill>
                <a:latin typeface="Arial"/>
              </a:rPr>
              <a:t>The checklist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41447"/>
            <a:ext cx="4937760" cy="3246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Beats the baseline clearly? The floor is 0.617 - if not, stop.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Metric matches the problem? Accuracy, precision, recall, or F1 - decide before you rank.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Simple first: if the scorecard is within a hair of the forest, ship the scorecard.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Stable across folds? A model that wobbles (Random Forest: +/- 0.054) is harder to trust.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5352" y="1874519"/>
            <a:ext cx="5394960" cy="3977639"/>
          </a:xfrm>
          <a:prstGeom prst="rect">
            <a:avLst/>
          </a:prstGeom>
          <a:solidFill>
            <a:srgbClr val="EE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2" y="2039111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500" b="1">
                <a:solidFill>
                  <a:srgbClr val="0A2540"/>
                </a:solidFill>
                <a:latin typeface="Arial"/>
              </a:rPr>
              <a:t>Verdict &amp; handoff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3952" y="2441447"/>
            <a:ext cx="4937760" cy="3246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Champion by CV: Logistic Regression, 0.819 (+/- 0.020).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One look at the locked test set: accuracy 0.838.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Precision 0.823, recall 0.739, F1 0.779 on "survived".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AUC 0.878 = chance a random survivor ranks above a random non-survivor.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Random Forest finished 0.797 but has the most knobs - Session 4 tunes it, then ships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05332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200" b="0">
                <a:solidFill>
                  <a:srgbClr val="1E5EF3"/>
                </a:solidFill>
                <a:latin typeface="Arial"/>
              </a:rPr>
              <a:t>Why interpretability is on the checklist: a real pneumonia model learned "asthma lowers risk" - true in the data (asthmatics were rushed to intensive care), fatal if acted on; caught only because the model was readable. Source: Caruana et al., KDD 2015.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3 - Model Selection and Evaluation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28016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3400" b="1">
                <a:solidFill>
                  <a:srgbClr val="FFFFFF"/>
                </a:solidFill>
                <a:latin typeface="Arial"/>
              </a:rPr>
              <a:t>The referee, the floor, and the right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651760"/>
            <a:ext cx="10058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10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B9D0FA"/>
                </a:solidFill>
                <a:latin typeface="Arial"/>
              </a:rPr>
              <a:t>Two numbers, always: the training score lies, CV is honest - and the gap is variance.</a:t>
            </a:r>
          </a:p>
          <a:p>
            <a:pPr algn="l" indent="-228600" marL="228600">
              <a:spcAft>
                <a:spcPts val="10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B9D0FA"/>
                </a:solidFill>
                <a:latin typeface="Arial"/>
              </a:rPr>
              <a:t>Baseline first: the floor is 0.617. Beat it clearly, or go home.</a:t>
            </a:r>
          </a:p>
          <a:p>
            <a:pPr algn="l" indent="-228600" marL="228600">
              <a:spcAft>
                <a:spcPts val="10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B9D0FA"/>
                </a:solidFill>
                <a:latin typeface="Arial"/>
              </a:rPr>
              <a:t>Underfit = structural error, overfit = estimation error - the sweet spot is where the honest curve peaks, and ε keeps it under 1.00.</a:t>
            </a:r>
          </a:p>
          <a:p>
            <a:pPr algn="l" indent="-228600" marL="228600">
              <a:spcAft>
                <a:spcPts val="10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B9D0FA"/>
                </a:solidFill>
                <a:latin typeface="Arial"/>
              </a:rPr>
              <a:t>The learning curve says more rows won't save us - better settings might (Session 4).</a:t>
            </a:r>
          </a:p>
          <a:p>
            <a:pPr algn="l" indent="-228600" marL="228600">
              <a:spcAft>
                <a:spcPts val="10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B9D0FA"/>
                </a:solidFill>
                <a:latin typeface="Arial"/>
              </a:rPr>
              <a:t>Accuracy is one question of many. Precision, recall, and F1 ask sharper ones.</a:t>
            </a:r>
          </a:p>
          <a:p>
            <a:pPr algn="l" indent="-228600" marL="228600">
              <a:spcAft>
                <a:spcPts val="10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B9D0FA"/>
                </a:solidFill>
                <a:latin typeface="Arial"/>
              </a:rPr>
              <a:t>Practice now: notebook 02-model-selection in Colab.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035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200" b="0">
                <a:solidFill>
                  <a:srgbClr val="B9D0FA"/>
                </a:solidFill>
                <a:latin typeface="Arial"/>
              </a:rPr>
              <a:t>Machine Learning - Module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B9D0FA"/>
                </a:solidFill>
                <a:latin typeface="Arial"/>
              </a:rPr>
              <a:t>M2 Session 3 - Model Selection and Evaluation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B9D0FA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M2 Session 3 - Model Selection and Evaluation</dc:title>
  <dc:subject/>
  <dc:creator>M2 Machine Learning course</dc:creator>
  <cp:keywords/>
  <dc:description/>
  <cp:lastModifiedBy>M2 Machine Learning course</cp:lastModifiedBy>
  <cp:revision>1</cp:revision>
  <dcterms:created xsi:type="dcterms:W3CDTF">2013-01-27T09:14:16Z</dcterms:created>
  <dcterms:modified xsi:type="dcterms:W3CDTF">2013-01-27T09:15:58Z</dcterms:modified>
  <cp:category/>
</cp:coreProperties>
</file>